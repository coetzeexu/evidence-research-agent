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3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GLD</c:v>
                </c:pt>
              </c:strCache>
            </c:strRef>
          </c:tx>
          <c:spPr>
            <a:ln w="27940">
              <a:solidFill>
                <a:srgbClr val="2B6CB0"/>
              </a:solidFill>
            </a:ln>
          </c:spPr>
          <c:marker>
            <c:symbol val="none"/>
          </c:marker>
          <c:cat>
            <c:strRef>
              <c:f>Sheet1!$A$2:$A$61</c:f>
              <c:strCache>
                <c:ptCount val="60"/>
                <c:pt idx="0">
                  <c:v>2021-09</c:v>
                </c:pt>
                <c:pt idx="1">
                  <c:v>2021-10</c:v>
                </c:pt>
                <c:pt idx="2">
                  <c:v>2021-11</c:v>
                </c:pt>
                <c:pt idx="3">
                  <c:v>2021-12</c:v>
                </c:pt>
                <c:pt idx="4">
                  <c:v>2022-01</c:v>
                </c:pt>
                <c:pt idx="5">
                  <c:v>2022-02</c:v>
                </c:pt>
                <c:pt idx="6">
                  <c:v>2022-03</c:v>
                </c:pt>
                <c:pt idx="7">
                  <c:v>2022-04</c:v>
                </c:pt>
                <c:pt idx="8">
                  <c:v>2022-05</c:v>
                </c:pt>
                <c:pt idx="9">
                  <c:v>2022-06</c:v>
                </c:pt>
                <c:pt idx="10">
                  <c:v>2022-07</c:v>
                </c:pt>
                <c:pt idx="11">
                  <c:v>2022-08</c:v>
                </c:pt>
                <c:pt idx="12">
                  <c:v>2022-09</c:v>
                </c:pt>
                <c:pt idx="13">
                  <c:v>2022-10</c:v>
                </c:pt>
                <c:pt idx="14">
                  <c:v>2022-11</c:v>
                </c:pt>
                <c:pt idx="15">
                  <c:v>2022-12</c:v>
                </c:pt>
                <c:pt idx="16">
                  <c:v>2023-01</c:v>
                </c:pt>
                <c:pt idx="17">
                  <c:v>2023-02</c:v>
                </c:pt>
                <c:pt idx="18">
                  <c:v>2023-03</c:v>
                </c:pt>
                <c:pt idx="19">
                  <c:v>2023-04</c:v>
                </c:pt>
                <c:pt idx="20">
                  <c:v>2023-05</c:v>
                </c:pt>
                <c:pt idx="21">
                  <c:v>2023-06</c:v>
                </c:pt>
                <c:pt idx="22">
                  <c:v>2023-07</c:v>
                </c:pt>
                <c:pt idx="23">
                  <c:v>2023-08</c:v>
                </c:pt>
                <c:pt idx="24">
                  <c:v>2023-09</c:v>
                </c:pt>
                <c:pt idx="25">
                  <c:v>2023-10</c:v>
                </c:pt>
                <c:pt idx="26">
                  <c:v>2023-11</c:v>
                </c:pt>
                <c:pt idx="27">
                  <c:v>2023-12</c:v>
                </c:pt>
                <c:pt idx="28">
                  <c:v>2024-01</c:v>
                </c:pt>
                <c:pt idx="29">
                  <c:v>2024-02</c:v>
                </c:pt>
                <c:pt idx="30">
                  <c:v>2024-03</c:v>
                </c:pt>
                <c:pt idx="31">
                  <c:v>2024-04</c:v>
                </c:pt>
                <c:pt idx="32">
                  <c:v>2024-05</c:v>
                </c:pt>
                <c:pt idx="33">
                  <c:v>2024-06</c:v>
                </c:pt>
                <c:pt idx="34">
                  <c:v>2024-07</c:v>
                </c:pt>
                <c:pt idx="35">
                  <c:v>2024-08</c:v>
                </c:pt>
                <c:pt idx="36">
                  <c:v>2024-09</c:v>
                </c:pt>
                <c:pt idx="37">
                  <c:v>2024-10</c:v>
                </c:pt>
                <c:pt idx="38">
                  <c:v>2024-11</c:v>
                </c:pt>
                <c:pt idx="39">
                  <c:v>2024-12</c:v>
                </c:pt>
                <c:pt idx="40">
                  <c:v>2025-01</c:v>
                </c:pt>
                <c:pt idx="41">
                  <c:v>2025-02</c:v>
                </c:pt>
                <c:pt idx="42">
                  <c:v>2025-03</c:v>
                </c:pt>
                <c:pt idx="43">
                  <c:v>2025-04</c:v>
                </c:pt>
                <c:pt idx="44">
                  <c:v>2025-05</c:v>
                </c:pt>
                <c:pt idx="45">
                  <c:v>2025-06</c:v>
                </c:pt>
                <c:pt idx="46">
                  <c:v>2025-07</c:v>
                </c:pt>
                <c:pt idx="47">
                  <c:v>2025-08</c:v>
                </c:pt>
                <c:pt idx="48">
                  <c:v>2025-09</c:v>
                </c:pt>
                <c:pt idx="49">
                  <c:v>2025-10</c:v>
                </c:pt>
                <c:pt idx="50">
                  <c:v>2025-11</c:v>
                </c:pt>
                <c:pt idx="51">
                  <c:v>2025-12</c:v>
                </c:pt>
                <c:pt idx="52">
                  <c:v>2026-01</c:v>
                </c:pt>
                <c:pt idx="53">
                  <c:v>2026-02</c:v>
                </c:pt>
                <c:pt idx="54">
                  <c:v>2026-03</c:v>
                </c:pt>
                <c:pt idx="55">
                  <c:v>2026-04</c:v>
                </c:pt>
                <c:pt idx="56">
                  <c:v>2026-05</c:v>
                </c:pt>
                <c:pt idx="57">
                  <c:v>2026-06</c:v>
                </c:pt>
                <c:pt idx="58">
                  <c:v>2026-07</c:v>
                </c:pt>
                <c:pt idx="59">
                  <c:v>2026-08</c:v>
                </c:pt>
              </c:strCache>
            </c:strRef>
          </c:cat>
          <c:val>
            <c:numRef>
              <c:f>Sheet1!$B$2:$B$61</c:f>
              <c:numCache>
                <c:formatCode>General</c:formatCode>
                <c:ptCount val="60"/>
                <c:pt idx="0">
                  <c:v>100.0</c:v>
                </c:pt>
                <c:pt idx="1">
                  <c:v>101.47971785270873</c:v>
                </c:pt>
                <c:pt idx="2">
                  <c:v>100.77944146253941</c:v>
                </c:pt>
                <c:pt idx="3">
                  <c:v>104.10425371030527</c:v>
                </c:pt>
                <c:pt idx="4">
                  <c:v>102.35659182098435</c:v>
                </c:pt>
                <c:pt idx="5">
                  <c:v>108.62258163247671</c:v>
                </c:pt>
                <c:pt idx="6">
                  <c:v>110.00486697944922</c:v>
                </c:pt>
                <c:pt idx="7">
                  <c:v>107.72744023083493</c:v>
                </c:pt>
                <c:pt idx="8">
                  <c:v>104.21385831050213</c:v>
                </c:pt>
                <c:pt idx="9">
                  <c:v>102.58190565195875</c:v>
                </c:pt>
                <c:pt idx="10">
                  <c:v>99.92693026653542</c:v>
                </c:pt>
                <c:pt idx="11">
                  <c:v>96.98575270280892</c:v>
                </c:pt>
                <c:pt idx="12">
                  <c:v>94.18462855878127</c:v>
                </c:pt>
                <c:pt idx="13">
                  <c:v>92.50395964736978</c:v>
                </c:pt>
                <c:pt idx="14">
                  <c:v>100.35927191176775</c:v>
                </c:pt>
                <c:pt idx="15">
                  <c:v>103.30044947549423</c:v>
                </c:pt>
                <c:pt idx="16">
                  <c:v>109.24978828918145</c:v>
                </c:pt>
                <c:pt idx="17">
                  <c:v>103.38570059509462</c:v>
                </c:pt>
                <c:pt idx="18">
                  <c:v>111.56984524343352</c:v>
                </c:pt>
                <c:pt idx="19">
                  <c:v>112.53197033130955</c:v>
                </c:pt>
                <c:pt idx="20">
                  <c:v>111.02180365909884</c:v>
                </c:pt>
                <c:pt idx="21">
                  <c:v>108.55559794624246</c:v>
                </c:pt>
                <c:pt idx="22">
                  <c:v>111.04007109246498</c:v>
                </c:pt>
                <c:pt idx="23">
                  <c:v>109.62124158708502</c:v>
                </c:pt>
                <c:pt idx="24">
                  <c:v>104.40262798306907</c:v>
                </c:pt>
                <c:pt idx="25">
                  <c:v>112.09961939440207</c:v>
                </c:pt>
                <c:pt idx="26">
                  <c:v>114.93727840516202</c:v>
                </c:pt>
                <c:pt idx="27">
                  <c:v>116.41091021064042</c:v>
                </c:pt>
                <c:pt idx="28">
                  <c:v>114.7545947798254</c:v>
                </c:pt>
                <c:pt idx="29">
                  <c:v>115.2782828835636</c:v>
                </c:pt>
                <c:pt idx="30">
                  <c:v>125.27097776855219</c:v>
                </c:pt>
                <c:pt idx="31">
                  <c:v>129.01595027541455</c:v>
                </c:pt>
                <c:pt idx="32">
                  <c:v>131.10461664313704</c:v>
                </c:pt>
                <c:pt idx="33">
                  <c:v>130.92801906503075</c:v>
                </c:pt>
                <c:pt idx="34">
                  <c:v>137.95518290569638</c:v>
                </c:pt>
                <c:pt idx="35">
                  <c:v>140.84154887764925</c:v>
                </c:pt>
                <c:pt idx="36">
                  <c:v>148.0087661380137</c:v>
                </c:pt>
                <c:pt idx="37">
                  <c:v>154.37217916356713</c:v>
                </c:pt>
                <c:pt idx="38">
                  <c:v>149.54938162972638</c:v>
                </c:pt>
                <c:pt idx="39">
                  <c:v>147.44245712031287</c:v>
                </c:pt>
                <c:pt idx="40">
                  <c:v>157.4473240997621</c:v>
                </c:pt>
                <c:pt idx="41">
                  <c:v>160.31542263834885</c:v>
                </c:pt>
                <c:pt idx="42">
                  <c:v>175.4597567327943</c:v>
                </c:pt>
                <c:pt idx="43">
                  <c:v>184.97746118356244</c:v>
                </c:pt>
                <c:pt idx="44">
                  <c:v>184.87395192227106</c:v>
                </c:pt>
                <c:pt idx="45">
                  <c:v>185.62293527363335</c:v>
                </c:pt>
                <c:pt idx="46">
                  <c:v>184.48422189932617</c:v>
                </c:pt>
                <c:pt idx="47">
                  <c:v>193.6853032273147</c:v>
                </c:pt>
                <c:pt idx="48">
                  <c:v>216.45962646350853</c:v>
                </c:pt>
                <c:pt idx="49">
                  <c:v>224.16270392207184</c:v>
                </c:pt>
                <c:pt idx="50">
                  <c:v>236.1953489219148</c:v>
                </c:pt>
                <c:pt idx="51">
                  <c:v>241.32870211465521</c:v>
                </c:pt>
                <c:pt idx="52">
                  <c:v>270.94751485785315</c:v>
                </c:pt>
                <c:pt idx="53">
                  <c:v>294.574349290051</c:v>
                </c:pt>
                <c:pt idx="54">
                  <c:v>262.0204636137072</c:v>
                </c:pt>
                <c:pt idx="55">
                  <c:v>257.98319358963613</c:v>
                </c:pt>
                <c:pt idx="56">
                  <c:v>254.00072586566358</c:v>
                </c:pt>
                <c:pt idx="57">
                  <c:v>224.321034066812</c:v>
                </c:pt>
                <c:pt idx="58">
                  <c:v>226.245284242564</c:v>
                </c:pt>
                <c:pt idx="59">
                  <c:v>248.7029657726279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BTC-USD</c:v>
                </c:pt>
              </c:strCache>
            </c:strRef>
          </c:tx>
          <c:spPr>
            <a:ln w="27940">
              <a:solidFill>
                <a:srgbClr val="2E7D5B"/>
              </a:solidFill>
            </a:ln>
          </c:spPr>
          <c:marker>
            <c:symbol val="none"/>
          </c:marker>
          <c:cat>
            <c:strRef>
              <c:f>Sheet1!$A$2:$A$61</c:f>
              <c:strCache>
                <c:ptCount val="60"/>
                <c:pt idx="0">
                  <c:v>2021-09</c:v>
                </c:pt>
                <c:pt idx="1">
                  <c:v>2021-10</c:v>
                </c:pt>
                <c:pt idx="2">
                  <c:v>2021-11</c:v>
                </c:pt>
                <c:pt idx="3">
                  <c:v>2021-12</c:v>
                </c:pt>
                <c:pt idx="4">
                  <c:v>2022-01</c:v>
                </c:pt>
                <c:pt idx="5">
                  <c:v>2022-02</c:v>
                </c:pt>
                <c:pt idx="6">
                  <c:v>2022-03</c:v>
                </c:pt>
                <c:pt idx="7">
                  <c:v>2022-04</c:v>
                </c:pt>
                <c:pt idx="8">
                  <c:v>2022-05</c:v>
                </c:pt>
                <c:pt idx="9">
                  <c:v>2022-06</c:v>
                </c:pt>
                <c:pt idx="10">
                  <c:v>2022-07</c:v>
                </c:pt>
                <c:pt idx="11">
                  <c:v>2022-08</c:v>
                </c:pt>
                <c:pt idx="12">
                  <c:v>2022-09</c:v>
                </c:pt>
                <c:pt idx="13">
                  <c:v>2022-10</c:v>
                </c:pt>
                <c:pt idx="14">
                  <c:v>2022-11</c:v>
                </c:pt>
                <c:pt idx="15">
                  <c:v>2022-12</c:v>
                </c:pt>
                <c:pt idx="16">
                  <c:v>2023-01</c:v>
                </c:pt>
                <c:pt idx="17">
                  <c:v>2023-02</c:v>
                </c:pt>
                <c:pt idx="18">
                  <c:v>2023-03</c:v>
                </c:pt>
                <c:pt idx="19">
                  <c:v>2023-04</c:v>
                </c:pt>
                <c:pt idx="20">
                  <c:v>2023-05</c:v>
                </c:pt>
                <c:pt idx="21">
                  <c:v>2023-06</c:v>
                </c:pt>
                <c:pt idx="22">
                  <c:v>2023-07</c:v>
                </c:pt>
                <c:pt idx="23">
                  <c:v>2023-08</c:v>
                </c:pt>
                <c:pt idx="24">
                  <c:v>2023-09</c:v>
                </c:pt>
                <c:pt idx="25">
                  <c:v>2023-10</c:v>
                </c:pt>
                <c:pt idx="26">
                  <c:v>2023-11</c:v>
                </c:pt>
                <c:pt idx="27">
                  <c:v>2023-12</c:v>
                </c:pt>
                <c:pt idx="28">
                  <c:v>2024-01</c:v>
                </c:pt>
                <c:pt idx="29">
                  <c:v>2024-02</c:v>
                </c:pt>
                <c:pt idx="30">
                  <c:v>2024-03</c:v>
                </c:pt>
                <c:pt idx="31">
                  <c:v>2024-04</c:v>
                </c:pt>
                <c:pt idx="32">
                  <c:v>2024-05</c:v>
                </c:pt>
                <c:pt idx="33">
                  <c:v>2024-06</c:v>
                </c:pt>
                <c:pt idx="34">
                  <c:v>2024-07</c:v>
                </c:pt>
                <c:pt idx="35">
                  <c:v>2024-08</c:v>
                </c:pt>
                <c:pt idx="36">
                  <c:v>2024-09</c:v>
                </c:pt>
                <c:pt idx="37">
                  <c:v>2024-10</c:v>
                </c:pt>
                <c:pt idx="38">
                  <c:v>2024-11</c:v>
                </c:pt>
                <c:pt idx="39">
                  <c:v>2024-12</c:v>
                </c:pt>
                <c:pt idx="40">
                  <c:v>2025-01</c:v>
                </c:pt>
                <c:pt idx="41">
                  <c:v>2025-02</c:v>
                </c:pt>
                <c:pt idx="42">
                  <c:v>2025-03</c:v>
                </c:pt>
                <c:pt idx="43">
                  <c:v>2025-04</c:v>
                </c:pt>
                <c:pt idx="44">
                  <c:v>2025-05</c:v>
                </c:pt>
                <c:pt idx="45">
                  <c:v>2025-06</c:v>
                </c:pt>
                <c:pt idx="46">
                  <c:v>2025-07</c:v>
                </c:pt>
                <c:pt idx="47">
                  <c:v>2025-08</c:v>
                </c:pt>
                <c:pt idx="48">
                  <c:v>2025-09</c:v>
                </c:pt>
                <c:pt idx="49">
                  <c:v>2025-10</c:v>
                </c:pt>
                <c:pt idx="50">
                  <c:v>2025-11</c:v>
                </c:pt>
                <c:pt idx="51">
                  <c:v>2025-12</c:v>
                </c:pt>
                <c:pt idx="52">
                  <c:v>2026-01</c:v>
                </c:pt>
                <c:pt idx="53">
                  <c:v>2026-02</c:v>
                </c:pt>
                <c:pt idx="54">
                  <c:v>2026-03</c:v>
                </c:pt>
                <c:pt idx="55">
                  <c:v>2026-04</c:v>
                </c:pt>
                <c:pt idx="56">
                  <c:v>2026-05</c:v>
                </c:pt>
                <c:pt idx="57">
                  <c:v>2026-06</c:v>
                </c:pt>
                <c:pt idx="58">
                  <c:v>2026-07</c:v>
                </c:pt>
                <c:pt idx="59">
                  <c:v>2026-08</c:v>
                </c:pt>
              </c:strCache>
            </c:strRef>
          </c:cat>
          <c:val>
            <c:numRef>
              <c:f>Sheet1!$C$2:$C$61</c:f>
              <c:numCache>
                <c:formatCode>General</c:formatCode>
                <c:ptCount val="60"/>
                <c:pt idx="0">
                  <c:v>100.0</c:v>
                </c:pt>
                <c:pt idx="1">
                  <c:v>145.8512339249453</c:v>
                </c:pt>
                <c:pt idx="2">
                  <c:v>139.07723309772672</c:v>
                </c:pt>
                <c:pt idx="3">
                  <c:v>113.5061896191308</c:v>
                </c:pt>
                <c:pt idx="4">
                  <c:v>91.22622980153992</c:v>
                </c:pt>
                <c:pt idx="5">
                  <c:v>90.72624281787367</c:v>
                </c:pt>
                <c:pt idx="6">
                  <c:v>113.22840132073027</c:v>
                </c:pt>
                <c:pt idx="7">
                  <c:v>95.69213861371064</c:v>
                </c:pt>
                <c:pt idx="8">
                  <c:v>76.33075096163452</c:v>
                </c:pt>
                <c:pt idx="9">
                  <c:v>48.368414310749415</c:v>
                </c:pt>
                <c:pt idx="10">
                  <c:v>57.366178226784385</c:v>
                </c:pt>
                <c:pt idx="11">
                  <c:v>47.62928391274188</c:v>
                </c:pt>
                <c:pt idx="12">
                  <c:v>47.09094338533883</c:v>
                </c:pt>
                <c:pt idx="13">
                  <c:v>49.64734663680961</c:v>
                </c:pt>
                <c:pt idx="14">
                  <c:v>39.56510126378733</c:v>
                </c:pt>
                <c:pt idx="15">
                  <c:v>40.03992960090041</c:v>
                </c:pt>
                <c:pt idx="16">
                  <c:v>54.95125359511608</c:v>
                </c:pt>
                <c:pt idx="17">
                  <c:v>56.593844430094634</c:v>
                </c:pt>
                <c:pt idx="18">
                  <c:v>67.44614926567671</c:v>
                </c:pt>
                <c:pt idx="19">
                  <c:v>70.91119599243531</c:v>
                </c:pt>
                <c:pt idx="20">
                  <c:v>66.6492817944158</c:v>
                </c:pt>
                <c:pt idx="21">
                  <c:v>73.24868988486136</c:v>
                </c:pt>
                <c:pt idx="22">
                  <c:v>70.43367510685846</c:v>
                </c:pt>
                <c:pt idx="23">
                  <c:v>65.67468732839703</c:v>
                </c:pt>
                <c:pt idx="24">
                  <c:v>65.01133360844631</c:v>
                </c:pt>
                <c:pt idx="25">
                  <c:v>83.00948350341812</c:v>
                </c:pt>
                <c:pt idx="26">
                  <c:v>91.0840181318939</c:v>
                </c:pt>
                <c:pt idx="27">
                  <c:v>102.55866348848835</c:v>
                </c:pt>
                <c:pt idx="28">
                  <c:v>103.33999124287378</c:v>
                </c:pt>
                <c:pt idx="29">
                  <c:v>150.3807207139304</c:v>
                </c:pt>
                <c:pt idx="30">
                  <c:v>167.10311013312656</c:v>
                </c:pt>
                <c:pt idx="31">
                  <c:v>153.59581154115554</c:v>
                </c:pt>
                <c:pt idx="32">
                  <c:v>164.47982548150802</c:v>
                </c:pt>
                <c:pt idx="33">
                  <c:v>148.21543244724836</c:v>
                </c:pt>
                <c:pt idx="34">
                  <c:v>159.2734987350661</c:v>
                </c:pt>
                <c:pt idx="35">
                  <c:v>142.8824478451483</c:v>
                </c:pt>
                <c:pt idx="36">
                  <c:v>157.9124507294175</c:v>
                </c:pt>
                <c:pt idx="37">
                  <c:v>174.04221634048923</c:v>
                </c:pt>
                <c:pt idx="38">
                  <c:v>230.1309612341627</c:v>
                </c:pt>
                <c:pt idx="39">
                  <c:v>222.89096626025318</c:v>
                </c:pt>
                <c:pt idx="40">
                  <c:v>251.98342141992322</c:v>
                </c:pt>
                <c:pt idx="41">
                  <c:v>203.79050676017627</c:v>
                </c:pt>
                <c:pt idx="42">
                  <c:v>198.08922100014877</c:v>
                </c:pt>
                <c:pt idx="43">
                  <c:v>226.84045085572762</c:v>
                </c:pt>
                <c:pt idx="44">
                  <c:v>254.16426350059305</c:v>
                </c:pt>
                <c:pt idx="45">
                  <c:v>260.76562169158393</c:v>
                </c:pt>
                <c:pt idx="46">
                  <c:v>283.4908998910481</c:v>
                </c:pt>
                <c:pt idx="47">
                  <c:v>270.77235353264706</c:v>
                </c:pt>
                <c:pt idx="48">
                  <c:v>275.23670226438156</c:v>
                </c:pt>
                <c:pt idx="49">
                  <c:v>260.5730927288316</c:v>
                </c:pt>
                <c:pt idx="50">
                  <c:v>219.62413903060926</c:v>
                </c:pt>
                <c:pt idx="51">
                  <c:v>212.7546913545323</c:v>
                </c:pt>
                <c:pt idx="52">
                  <c:v>203.44732665650233</c:v>
                </c:pt>
                <c:pt idx="53">
                  <c:v>162.28751774943925</c:v>
                </c:pt>
                <c:pt idx="54">
                  <c:v>160.45342704091178</c:v>
                </c:pt>
                <c:pt idx="55">
                  <c:v>182.31034191418297</c:v>
                </c:pt>
                <c:pt idx="56">
                  <c:v>176.92212482579492</c:v>
                </c:pt>
                <c:pt idx="57">
                  <c:v>144.68735753105807</c:v>
                </c:pt>
                <c:pt idx="58">
                  <c:v>155.72308459479777</c:v>
                </c:pt>
                <c:pt idx="59">
                  <c:v>186.8609649736567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8EDF2"/>
              </a:solidFill>
            </a:ln>
          </c:spPr>
        </c:majorGridlines>
        <c:numFmt formatCode="0" sourceLinked="0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200">
              <a:latin typeface="Microsoft YaHe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研究区间：2021-09-28 至 2026-09-29</a:t>
            </a:r>
          </a:p>
          <a:p>
            <a:r>
              <a:t>数据字段：comparison.asset_metrics / metrics.performance-*</a:t>
            </a:r>
          </a:p>
          <a:p>
            <a:r>
              <a:t>本页来源：</a:t>
            </a:r>
          </a:p>
          <a:p>
            <a:r>
              <a:t>GLD: https://query1.finance.yahoo.com/v8/finance/chart/GLD?period1=1598227200&amp;period2=1790726400&amp;interval=1d&amp;events=div%2Csplits&amp;includeAdjustedClose=true</a:t>
            </a:r>
          </a:p>
          <a:p>
            <a:r>
              <a:t>BTC-USD: https://query1.finance.yahoo.com/v8/finance/chart/BTC-USD?period1=1598227200&amp;period2=1790726400&amp;interval=1d&amp;events=div%2Csplits&amp;includeAdjustedClose=true</a:t>
            </a:r>
          </a:p>
          <a:p>
            <a:r>
              <a:t>SPY: https://query1.finance.yahoo.com/v8/finance/chart/SPY?period1=1598227200&amp;period2=1790726400&amp;interval=1d&amp;events=div%2Csplits&amp;includeAdjustedClose=true</a:t>
            </a:r>
          </a:p>
          <a:p>
            <a:r>
              <a:t>数据快照 prices-GLD-1a8f833cf4e3: SHA-256 1a8f833cf4e3345f8e66ff7fa8261860dfede09eb2082a7061e28c6e7e3799b8; 提取时间 2026-09-29T02:33:26.161687+00:00; https://query1.finance.yahoo.com/v8/finance/chart/GLD?period1=1598227200&amp;period2=1790726400&amp;interval=1d&amp;events=div%2Csplits&amp;includeAdjustedClose=true</a:t>
            </a:r>
          </a:p>
          <a:p>
            <a:r>
              <a:t>数据快照 prices-BTC-USD-f3226c91d62b: SHA-256 f3226c91d62b515ef9227d5bb113b945e45cf7e18dbb6d3f8ce726a63f3512b0; 提取时间 2026-09-29T02:33:25.815223+00:00; https://query1.finance.yahoo.com/v8/finance/chart/BTC-USD?period1=1598227200&amp;period2=1790726400&amp;interval=1d&amp;events=div%2Csplits&amp;includeAdjustedClose=true</a:t>
            </a:r>
          </a:p>
          <a:p>
            <a:r>
              <a:t>数据快照 prices-SPY-ba0266b147e1: SHA-256 ba0266b147e1210651f9991e41f1ed135bc89c7cc3faa0088be1865d09d2bbb6; 提取时间 2026-09-29T02:33:25.620138+00:00; https://query1.finance.yahoo.com/v8/finance/chart/SPY?period1=1598227200&amp;period2=1790726400&amp;interval=1d&amp;events=div%2Csplits&amp;includeAdjustedClose=true</a:t>
            </a:r>
          </a:p>
          <a:p>
            <a:r>
              <a:t>反应等级为描述性关联，不证明因果；历史表现不保证未来结果。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研究区间：2021-09-28 至 2026-09-29</a:t>
            </a:r>
          </a:p>
          <a:p>
            <a:r>
              <a:t>数据字段：</a:t>
            </a:r>
          </a:p>
          <a:p>
            <a:r>
              <a:t>本页来源：</a:t>
            </a:r>
          </a:p>
          <a:p>
            <a:r>
              <a:t>GLD: https://query1.finance.yahoo.com/v8/finance/chart/GLD?period1=1598227200&amp;period2=1790726400&amp;interval=1d&amp;events=div%2Csplits&amp;includeAdjustedClose=true</a:t>
            </a:r>
          </a:p>
          <a:p>
            <a:r>
              <a:t>BTC-USD: https://query1.finance.yahoo.com/v8/finance/chart/BTC-USD?period1=1598227200&amp;period2=1790726400&amp;interval=1d&amp;events=div%2Csplits&amp;includeAdjustedClose=true</a:t>
            </a:r>
          </a:p>
          <a:p>
            <a:r>
              <a:t>SPY: https://query1.finance.yahoo.com/v8/finance/chart/SPY?period1=1598227200&amp;period2=1790726400&amp;interval=1d&amp;events=div%2Csplits&amp;includeAdjustedClose=true</a:t>
            </a:r>
          </a:p>
          <a:p>
            <a:r>
              <a:t>数据快照 prices-GLD-1a8f833cf4e3: SHA-256 1a8f833cf4e3345f8e66ff7fa8261860dfede09eb2082a7061e28c6e7e3799b8; 提取时间 2026-09-29T02:33:26.161687+00:00; https://query1.finance.yahoo.com/v8/finance/chart/GLD?period1=1598227200&amp;period2=1790726400&amp;interval=1d&amp;events=div%2Csplits&amp;includeAdjustedClose=true</a:t>
            </a:r>
          </a:p>
          <a:p>
            <a:r>
              <a:t>数据快照 prices-BTC-USD-f3226c91d62b: SHA-256 f3226c91d62b515ef9227d5bb113b945e45cf7e18dbb6d3f8ce726a63f3512b0; 提取时间 2026-09-29T02:33:25.815223+00:00; https://query1.finance.yahoo.com/v8/finance/chart/BTC-USD?period1=1598227200&amp;period2=1790726400&amp;interval=1d&amp;events=div%2Csplits&amp;includeAdjustedClose=true</a:t>
            </a:r>
          </a:p>
          <a:p>
            <a:r>
              <a:t>数据快照 prices-SPY-ba0266b147e1: SHA-256 ba0266b147e1210651f9991e41f1ed135bc89c7cc3faa0088be1865d09d2bbb6; 提取时间 2026-09-29T02:33:25.620138+00:00; https://query1.finance.yahoo.com/v8/finance/chart/SPY?period1=1598227200&amp;period2=1790726400&amp;interval=1d&amp;events=div%2Csplits&amp;includeAdjustedClose=true</a:t>
            </a:r>
          </a:p>
          <a:p>
            <a:r>
              <a:t>反应等级为描述性关联，不证明因果；历史表现不保证未来结果。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研究区间：2021-09-28 至 2026-09-29</a:t>
            </a:r>
          </a:p>
          <a:p>
            <a:r>
              <a:t>数据字段：comparison.asset_metrics / metrics.performance-*</a:t>
            </a:r>
          </a:p>
          <a:p>
            <a:r>
              <a:t>本页来源：</a:t>
            </a:r>
          </a:p>
          <a:p>
            <a:r>
              <a:t>GLD: https://query1.finance.yahoo.com/v8/finance/chart/GLD?period1=1598227200&amp;period2=1790726400&amp;interval=1d&amp;events=div%2Csplits&amp;includeAdjustedClose=true</a:t>
            </a:r>
          </a:p>
          <a:p>
            <a:r>
              <a:t>BTC-USD: https://query1.finance.yahoo.com/v8/finance/chart/BTC-USD?period1=1598227200&amp;period2=1790726400&amp;interval=1d&amp;events=div%2Csplits&amp;includeAdjustedClose=true</a:t>
            </a:r>
          </a:p>
          <a:p>
            <a:r>
              <a:t>SPY: https://query1.finance.yahoo.com/v8/finance/chart/SPY?period1=1598227200&amp;period2=1790726400&amp;interval=1d&amp;events=div%2Csplits&amp;includeAdjustedClose=true</a:t>
            </a:r>
          </a:p>
          <a:p>
            <a:r>
              <a:t>数据快照 prices-GLD-1a8f833cf4e3: SHA-256 1a8f833cf4e3345f8e66ff7fa8261860dfede09eb2082a7061e28c6e7e3799b8; 提取时间 2026-09-29T02:33:26.161687+00:00; https://query1.finance.yahoo.com/v8/finance/chart/GLD?period1=1598227200&amp;period2=1790726400&amp;interval=1d&amp;events=div%2Csplits&amp;includeAdjustedClose=true</a:t>
            </a:r>
          </a:p>
          <a:p>
            <a:r>
              <a:t>数据快照 prices-BTC-USD-f3226c91d62b: SHA-256 f3226c91d62b515ef9227d5bb113b945e45cf7e18dbb6d3f8ce726a63f3512b0; 提取时间 2026-09-29T02:33:25.815223+00:00; https://query1.finance.yahoo.com/v8/finance/chart/BTC-USD?period1=1598227200&amp;period2=1790726400&amp;interval=1d&amp;events=div%2Csplits&amp;includeAdjustedClose=true</a:t>
            </a:r>
          </a:p>
          <a:p>
            <a:r>
              <a:t>数据快照 prices-SPY-ba0266b147e1: SHA-256 ba0266b147e1210651f9991e41f1ed135bc89c7cc3faa0088be1865d09d2bbb6; 提取时间 2026-09-29T02:33:25.620138+00:00; https://query1.finance.yahoo.com/v8/finance/chart/SPY?period1=1598227200&amp;period2=1790726400&amp;interval=1d&amp;events=div%2Csplits&amp;includeAdjustedClose=true</a:t>
            </a:r>
          </a:p>
          <a:p>
            <a:r>
              <a:t>反应等级为描述性关联，不证明因果；历史表现不保证未来结果。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研究区间：2021-09-28 至 2026-09-29</a:t>
            </a:r>
          </a:p>
          <a:p>
            <a:r>
              <a:t>数据字段：comparison.asset_metrics; difference = asset − first asset</a:t>
            </a:r>
          </a:p>
          <a:p>
            <a:r>
              <a:t>本页来源：</a:t>
            </a:r>
          </a:p>
          <a:p>
            <a:r>
              <a:t>GLD: https://query1.finance.yahoo.com/v8/finance/chart/GLD?period1=1598227200&amp;period2=1790726400&amp;interval=1d&amp;events=div%2Csplits&amp;includeAdjustedClose=true</a:t>
            </a:r>
          </a:p>
          <a:p>
            <a:r>
              <a:t>BTC-USD: https://query1.finance.yahoo.com/v8/finance/chart/BTC-USD?period1=1598227200&amp;period2=1790726400&amp;interval=1d&amp;events=div%2Csplits&amp;includeAdjustedClose=true</a:t>
            </a:r>
          </a:p>
          <a:p>
            <a:r>
              <a:t>SPY: https://query1.finance.yahoo.com/v8/finance/chart/SPY?period1=1598227200&amp;period2=1790726400&amp;interval=1d&amp;events=div%2Csplits&amp;includeAdjustedClose=true</a:t>
            </a:r>
          </a:p>
          <a:p>
            <a:r>
              <a:t>数据快照 prices-GLD-1a8f833cf4e3: SHA-256 1a8f833cf4e3345f8e66ff7fa8261860dfede09eb2082a7061e28c6e7e3799b8; 提取时间 2026-09-29T02:33:26.161687+00:00; https://query1.finance.yahoo.com/v8/finance/chart/GLD?period1=1598227200&amp;period2=1790726400&amp;interval=1d&amp;events=div%2Csplits&amp;includeAdjustedClose=true</a:t>
            </a:r>
          </a:p>
          <a:p>
            <a:r>
              <a:t>数据快照 prices-BTC-USD-f3226c91d62b: SHA-256 f3226c91d62b515ef9227d5bb113b945e45cf7e18dbb6d3f8ce726a63f3512b0; 提取时间 2026-09-29T02:33:25.815223+00:00; https://query1.finance.yahoo.com/v8/finance/chart/BTC-USD?period1=1598227200&amp;period2=1790726400&amp;interval=1d&amp;events=div%2Csplits&amp;includeAdjustedClose=true</a:t>
            </a:r>
          </a:p>
          <a:p>
            <a:r>
              <a:t>数据快照 prices-SPY-ba0266b147e1: SHA-256 ba0266b147e1210651f9991e41f1ed135bc89c7cc3faa0088be1865d09d2bbb6; 提取时间 2026-09-29T02:33:25.620138+00:00; https://query1.finance.yahoo.com/v8/finance/chart/SPY?period1=1598227200&amp;period2=1790726400&amp;interval=1d&amp;events=div%2Csplits&amp;includeAdjustedClose=true</a:t>
            </a:r>
          </a:p>
          <a:p>
            <a:r>
              <a:t>反应等级为描述性关联，不证明因果；历史表现不保证未来结果。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研究区间：2021-09-28 至 2026-09-29</a:t>
            </a:r>
          </a:p>
          <a:p>
            <a:r>
              <a:t>数据字段：comparison / annotations / causal limitations</a:t>
            </a:r>
          </a:p>
          <a:p>
            <a:r>
              <a:t>本页来源：</a:t>
            </a:r>
          </a:p>
          <a:p>
            <a:r>
              <a:t>GLD: https://query1.finance.yahoo.com/v8/finance/chart/GLD?period1=1598227200&amp;period2=1790726400&amp;interval=1d&amp;events=div%2Csplits&amp;includeAdjustedClose=true</a:t>
            </a:r>
          </a:p>
          <a:p>
            <a:r>
              <a:t>BTC-USD: https://query1.finance.yahoo.com/v8/finance/chart/BTC-USD?period1=1598227200&amp;period2=1790726400&amp;interval=1d&amp;events=div%2Csplits&amp;includeAdjustedClose=true</a:t>
            </a:r>
          </a:p>
          <a:p>
            <a:r>
              <a:t>SPY: https://query1.finance.yahoo.com/v8/finance/chart/SPY?period1=1598227200&amp;period2=1790726400&amp;interval=1d&amp;events=div%2Csplits&amp;includeAdjustedClose=true</a:t>
            </a:r>
          </a:p>
          <a:p>
            <a:r>
              <a:t>数据快照 prices-GLD-1a8f833cf4e3: SHA-256 1a8f833cf4e3345f8e66ff7fa8261860dfede09eb2082a7061e28c6e7e3799b8; 提取时间 2026-09-29T02:33:26.161687+00:00; https://query1.finance.yahoo.com/v8/finance/chart/GLD?period1=1598227200&amp;period2=1790726400&amp;interval=1d&amp;events=div%2Csplits&amp;includeAdjustedClose=true</a:t>
            </a:r>
          </a:p>
          <a:p>
            <a:r>
              <a:t>数据快照 prices-BTC-USD-f3226c91d62b: SHA-256 f3226c91d62b515ef9227d5bb113b945e45cf7e18dbb6d3f8ce726a63f3512b0; 提取时间 2026-09-29T02:33:25.815223+00:00; https://query1.finance.yahoo.com/v8/finance/chart/BTC-USD?period1=1598227200&amp;period2=1790726400&amp;interval=1d&amp;events=div%2Csplits&amp;includeAdjustedClose=true</a:t>
            </a:r>
          </a:p>
          <a:p>
            <a:r>
              <a:t>数据快照 prices-SPY-ba0266b147e1: SHA-256 ba0266b147e1210651f9991e41f1ed135bc89c7cc3faa0088be1865d09d2bbb6; 提取时间 2026-09-29T02:33:25.620138+00:00; https://query1.finance.yahoo.com/v8/finance/chart/SPY?period1=1598227200&amp;period2=1790726400&amp;interval=1d&amp;events=div%2Csplits&amp;includeAdjustedClose=true</a:t>
            </a:r>
          </a:p>
          <a:p>
            <a:r>
              <a:t>反应等级为描述性关联，不证明因果；历史表现不保证未来结果。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研究区间：2021-09-28 至 2026-09-29</a:t>
            </a:r>
          </a:p>
          <a:p>
            <a:r>
              <a:t>数据字段：claims / comparison.asset_metrics / inflation_summary</a:t>
            </a:r>
          </a:p>
          <a:p>
            <a:r>
              <a:t>本页来源：</a:t>
            </a:r>
          </a:p>
          <a:p>
            <a:r>
              <a:t>GLD: https://query1.finance.yahoo.com/v8/finance/chart/GLD?period1=1598227200&amp;period2=1790726400&amp;interval=1d&amp;events=div%2Csplits&amp;includeAdjustedClose=true</a:t>
            </a:r>
          </a:p>
          <a:p>
            <a:r>
              <a:t>BTC-USD: https://query1.finance.yahoo.com/v8/finance/chart/BTC-USD?period1=1598227200&amp;period2=1790726400&amp;interval=1d&amp;events=div%2Csplits&amp;includeAdjustedClose=true</a:t>
            </a:r>
          </a:p>
          <a:p>
            <a:r>
              <a:t>SPY: https://query1.finance.yahoo.com/v8/finance/chart/SPY?period1=1598227200&amp;period2=1790726400&amp;interval=1d&amp;events=div%2Csplits&amp;includeAdjustedClose=true</a:t>
            </a:r>
          </a:p>
          <a:p>
            <a:r>
              <a:t>数据快照 prices-GLD-1a8f833cf4e3: SHA-256 1a8f833cf4e3345f8e66ff7fa8261860dfede09eb2082a7061e28c6e7e3799b8; 提取时间 2026-09-29T02:33:26.161687+00:00; https://query1.finance.yahoo.com/v8/finance/chart/GLD?period1=1598227200&amp;period2=1790726400&amp;interval=1d&amp;events=div%2Csplits&amp;includeAdjustedClose=true</a:t>
            </a:r>
          </a:p>
          <a:p>
            <a:r>
              <a:t>数据快照 prices-BTC-USD-f3226c91d62b: SHA-256 f3226c91d62b515ef9227d5bb113b945e45cf7e18dbb6d3f8ce726a63f3512b0; 提取时间 2026-09-29T02:33:25.815223+00:00; https://query1.finance.yahoo.com/v8/finance/chart/BTC-USD?period1=1598227200&amp;period2=1790726400&amp;interval=1d&amp;events=div%2Csplits&amp;includeAdjustedClose=true</a:t>
            </a:r>
          </a:p>
          <a:p>
            <a:r>
              <a:t>数据快照 prices-SPY-ba0266b147e1: SHA-256 ba0266b147e1210651f9991e41f1ed135bc89c7cc3faa0088be1865d09d2bbb6; 提取时间 2026-09-29T02:33:25.620138+00:00; https://query1.finance.yahoo.com/v8/finance/chart/SPY?period1=1598227200&amp;period2=1790726400&amp;interval=1d&amp;events=div%2Csplits&amp;includeAdjustedClose=true</a:t>
            </a:r>
          </a:p>
          <a:p>
            <a:r>
              <a:t>反应等级为描述性关联，不证明因果；历史表现不保证未来结果。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研究区间：2021-09-28 至 2026-09-29</a:t>
            </a:r>
          </a:p>
          <a:p>
            <a:r>
              <a:t>数据字段：comparison.series.normalized / month_end_anchors</a:t>
            </a:r>
          </a:p>
          <a:p>
            <a:r>
              <a:t>本页来源：</a:t>
            </a:r>
          </a:p>
          <a:p>
            <a:r>
              <a:t>GLD: https://query1.finance.yahoo.com/v8/finance/chart/GLD?period1=1598227200&amp;period2=1790726400&amp;interval=1d&amp;events=div%2Csplits&amp;includeAdjustedClose=true</a:t>
            </a:r>
          </a:p>
          <a:p>
            <a:r>
              <a:t>BTC-USD: https://query1.finance.yahoo.com/v8/finance/chart/BTC-USD?period1=1598227200&amp;period2=1790726400&amp;interval=1d&amp;events=div%2Csplits&amp;includeAdjustedClose=true</a:t>
            </a:r>
          </a:p>
          <a:p>
            <a:r>
              <a:t>SPY: https://query1.finance.yahoo.com/v8/finance/chart/SPY?period1=1598227200&amp;period2=1790726400&amp;interval=1d&amp;events=div%2Csplits&amp;includeAdjustedClose=true</a:t>
            </a:r>
          </a:p>
          <a:p>
            <a:r>
              <a:t>数据快照 prices-GLD-1a8f833cf4e3: SHA-256 1a8f833cf4e3345f8e66ff7fa8261860dfede09eb2082a7061e28c6e7e3799b8; 提取时间 2026-09-29T02:33:26.161687+00:00; https://query1.finance.yahoo.com/v8/finance/chart/GLD?period1=1598227200&amp;period2=1790726400&amp;interval=1d&amp;events=div%2Csplits&amp;includeAdjustedClose=true</a:t>
            </a:r>
          </a:p>
          <a:p>
            <a:r>
              <a:t>数据快照 prices-BTC-USD-f3226c91d62b: SHA-256 f3226c91d62b515ef9227d5bb113b945e45cf7e18dbb6d3f8ce726a63f3512b0; 提取时间 2026-09-29T02:33:25.815223+00:00; https://query1.finance.yahoo.com/v8/finance/chart/BTC-USD?period1=1598227200&amp;period2=1790726400&amp;interval=1d&amp;events=div%2Csplits&amp;includeAdjustedClose=true</a:t>
            </a:r>
          </a:p>
          <a:p>
            <a:r>
              <a:t>数据快照 prices-SPY-ba0266b147e1: SHA-256 ba0266b147e1210651f9991e41f1ed135bc89c7cc3faa0088be1865d09d2bbb6; 提取时间 2026-09-29T02:33:25.620138+00:00; https://query1.finance.yahoo.com/v8/finance/chart/SPY?period1=1598227200&amp;period2=1790726400&amp;interval=1d&amp;events=div%2Csplits&amp;includeAdjustedClose=true</a:t>
            </a:r>
          </a:p>
          <a:p>
            <a:r>
              <a:t>反应等级为描述性关联，不证明因果；历史表现不保证未来结果。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研究区间：2021-09-28 至 2026-09-29</a:t>
            </a:r>
          </a:p>
          <a:p>
            <a:r>
              <a:t>数据字段：comparison.stress_periods</a:t>
            </a:r>
          </a:p>
          <a:p>
            <a:r>
              <a:t>本页来源：</a:t>
            </a:r>
          </a:p>
          <a:p>
            <a:r>
              <a:t>GLD: https://query1.finance.yahoo.com/v8/finance/chart/GLD?period1=1598227200&amp;period2=1790726400&amp;interval=1d&amp;events=div%2Csplits&amp;includeAdjustedClose=true</a:t>
            </a:r>
          </a:p>
          <a:p>
            <a:r>
              <a:t>BTC-USD: https://query1.finance.yahoo.com/v8/finance/chart/BTC-USD?period1=1598227200&amp;period2=1790726400&amp;interval=1d&amp;events=div%2Csplits&amp;includeAdjustedClose=true</a:t>
            </a:r>
          </a:p>
          <a:p>
            <a:r>
              <a:t>SPY: https://query1.finance.yahoo.com/v8/finance/chart/SPY?period1=1598227200&amp;period2=1790726400&amp;interval=1d&amp;events=div%2Csplits&amp;includeAdjustedClose=true</a:t>
            </a:r>
          </a:p>
          <a:p>
            <a:r>
              <a:t>数据快照 prices-GLD-1a8f833cf4e3: SHA-256 1a8f833cf4e3345f8e66ff7fa8261860dfede09eb2082a7061e28c6e7e3799b8; 提取时间 2026-09-29T02:33:26.161687+00:00; https://query1.finance.yahoo.com/v8/finance/chart/GLD?period1=1598227200&amp;period2=1790726400&amp;interval=1d&amp;events=div%2Csplits&amp;includeAdjustedClose=true</a:t>
            </a:r>
          </a:p>
          <a:p>
            <a:r>
              <a:t>数据快照 prices-BTC-USD-f3226c91d62b: SHA-256 f3226c91d62b515ef9227d5bb113b945e45cf7e18dbb6d3f8ce726a63f3512b0; 提取时间 2026-09-29T02:33:25.815223+00:00; https://query1.finance.yahoo.com/v8/finance/chart/BTC-USD?period1=1598227200&amp;period2=1790726400&amp;interval=1d&amp;events=div%2Csplits&amp;includeAdjustedClose=true</a:t>
            </a:r>
          </a:p>
          <a:p>
            <a:r>
              <a:t>数据快照 prices-SPY-ba0266b147e1: SHA-256 ba0266b147e1210651f9991e41f1ed135bc89c7cc3faa0088be1865d09d2bbb6; 提取时间 2026-09-29T02:33:25.620138+00:00; https://query1.finance.yahoo.com/v8/finance/chart/SPY?period1=1598227200&amp;period2=1790726400&amp;interval=1d&amp;events=div%2Csplits&amp;includeAdjustedClose=true</a:t>
            </a:r>
          </a:p>
          <a:p>
            <a:r>
              <a:t>反应等级为描述性关联，不证明因果；历史表现不保证未来结果。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研究区间：2021-09-28 至 2026-09-29</a:t>
            </a:r>
          </a:p>
          <a:p>
            <a:r>
              <a:t>数据字段：comparison.inflation_summary</a:t>
            </a:r>
          </a:p>
          <a:p>
            <a:r>
              <a:t>本页来源：</a:t>
            </a:r>
          </a:p>
          <a:p>
            <a:r>
              <a:t>FRED · CPIAUCNS: https://fred.stlouisfed.org/series/CPIAUCNS</a:t>
            </a:r>
          </a:p>
          <a:p>
            <a:r>
              <a:t>GLD: https://query1.finance.yahoo.com/v8/finance/chart/GLD?period1=1598227200&amp;period2=1790726400&amp;interval=1d&amp;events=div%2Csplits&amp;includeAdjustedClose=true</a:t>
            </a:r>
          </a:p>
          <a:p>
            <a:r>
              <a:t>BTC-USD: https://query1.finance.yahoo.com/v8/finance/chart/BTC-USD?period1=1598227200&amp;period2=1790726400&amp;interval=1d&amp;events=div%2Csplits&amp;includeAdjustedClose=true</a:t>
            </a:r>
          </a:p>
          <a:p>
            <a:r>
              <a:t>SPY: https://query1.finance.yahoo.com/v8/finance/chart/SPY?period1=1598227200&amp;period2=1790726400&amp;interval=1d&amp;events=div%2Csplits&amp;includeAdjustedClose=true</a:t>
            </a:r>
          </a:p>
          <a:p>
            <a:r>
              <a:t>数据快照 prices-GLD-1a8f833cf4e3: SHA-256 1a8f833cf4e3345f8e66ff7fa8261860dfede09eb2082a7061e28c6e7e3799b8; 提取时间 2026-09-29T02:33:26.161687+00:00; https://query1.finance.yahoo.com/v8/finance/chart/GLD?period1=1598227200&amp;period2=1790726400&amp;interval=1d&amp;events=div%2Csplits&amp;includeAdjustedClose=true</a:t>
            </a:r>
          </a:p>
          <a:p>
            <a:r>
              <a:t>数据快照 prices-BTC-USD-f3226c91d62b: SHA-256 f3226c91d62b515ef9227d5bb113b945e45cf7e18dbb6d3f8ce726a63f3512b0; 提取时间 2026-09-29T02:33:25.815223+00:00; https://query1.finance.yahoo.com/v8/finance/chart/BTC-USD?period1=1598227200&amp;period2=1790726400&amp;interval=1d&amp;events=div%2Csplits&amp;includeAdjustedClose=true</a:t>
            </a:r>
          </a:p>
          <a:p>
            <a:r>
              <a:t>数据快照 prices-SPY-ba0266b147e1: SHA-256 ba0266b147e1210651f9991e41f1ed135bc89c7cc3faa0088be1865d09d2bbb6; 提取时间 2026-09-29T02:33:25.620138+00:00; https://query1.finance.yahoo.com/v8/finance/chart/SPY?period1=1598227200&amp;period2=1790726400&amp;interval=1d&amp;events=div%2Csplits&amp;includeAdjustedClose=true</a:t>
            </a:r>
          </a:p>
          <a:p>
            <a:r>
              <a:t>反应等级为描述性关联，不证明因果；历史表现不保证未来结果。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研究区间：2021-09-28 至 2026-09-29</a:t>
            </a:r>
          </a:p>
          <a:p>
            <a:r>
              <a:t>数据字段：comparison.backtest.metrics</a:t>
            </a:r>
          </a:p>
          <a:p>
            <a:r>
              <a:t>本页来源：</a:t>
            </a:r>
          </a:p>
          <a:p>
            <a:r>
              <a:t>GLD: https://query1.finance.yahoo.com/v8/finance/chart/GLD?period1=1598227200&amp;period2=1790726400&amp;interval=1d&amp;events=div%2Csplits&amp;includeAdjustedClose=true</a:t>
            </a:r>
          </a:p>
          <a:p>
            <a:r>
              <a:t>BTC-USD: https://query1.finance.yahoo.com/v8/finance/chart/BTC-USD?period1=1598227200&amp;period2=1790726400&amp;interval=1d&amp;events=div%2Csplits&amp;includeAdjustedClose=true</a:t>
            </a:r>
          </a:p>
          <a:p>
            <a:r>
              <a:t>SPY: https://query1.finance.yahoo.com/v8/finance/chart/SPY?period1=1598227200&amp;period2=1790726400&amp;interval=1d&amp;events=div%2Csplits&amp;includeAdjustedClose=true</a:t>
            </a:r>
          </a:p>
          <a:p>
            <a:r>
              <a:t>数据快照 prices-GLD-1a8f833cf4e3: SHA-256 1a8f833cf4e3345f8e66ff7fa8261860dfede09eb2082a7061e28c6e7e3799b8; 提取时间 2026-09-29T02:33:26.161687+00:00; https://query1.finance.yahoo.com/v8/finance/chart/GLD?period1=1598227200&amp;period2=1790726400&amp;interval=1d&amp;events=div%2Csplits&amp;includeAdjustedClose=true</a:t>
            </a:r>
          </a:p>
          <a:p>
            <a:r>
              <a:t>数据快照 prices-BTC-USD-f3226c91d62b: SHA-256 f3226c91d62b515ef9227d5bb113b945e45cf7e18dbb6d3f8ce726a63f3512b0; 提取时间 2026-09-29T02:33:25.815223+00:00; https://query1.finance.yahoo.com/v8/finance/chart/BTC-USD?period1=1598227200&amp;period2=1790726400&amp;interval=1d&amp;events=div%2Csplits&amp;includeAdjustedClose=true</a:t>
            </a:r>
          </a:p>
          <a:p>
            <a:r>
              <a:t>数据快照 prices-SPY-ba0266b147e1: SHA-256 ba0266b147e1210651f9991e41f1ed135bc89c7cc3faa0088be1865d09d2bbb6; 提取时间 2026-09-29T02:33:25.620138+00:00; https://query1.finance.yahoo.com/v8/finance/chart/SPY?period1=1598227200&amp;period2=1790726400&amp;interval=1d&amp;events=div%2Csplits&amp;includeAdjustedClose=true</a:t>
            </a:r>
          </a:p>
          <a:p>
            <a:r>
              <a:t>反应等级为描述性关联，不证明因果；历史表现不保证未来结果。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研究区间：2021-09-28 至 2026-09-29</a:t>
            </a:r>
          </a:p>
          <a:p>
            <a:r>
              <a:t>数据字段：comparison.sensitivity.rows</a:t>
            </a:r>
          </a:p>
          <a:p>
            <a:r>
              <a:t>本页来源：</a:t>
            </a:r>
          </a:p>
          <a:p>
            <a:r>
              <a:t>GLD: https://query1.finance.yahoo.com/v8/finance/chart/GLD?period1=1598227200&amp;period2=1790726400&amp;interval=1d&amp;events=div%2Csplits&amp;includeAdjustedClose=true</a:t>
            </a:r>
          </a:p>
          <a:p>
            <a:r>
              <a:t>BTC-USD: https://query1.finance.yahoo.com/v8/finance/chart/BTC-USD?period1=1598227200&amp;period2=1790726400&amp;interval=1d&amp;events=div%2Csplits&amp;includeAdjustedClose=true</a:t>
            </a:r>
          </a:p>
          <a:p>
            <a:r>
              <a:t>SPY: https://query1.finance.yahoo.com/v8/finance/chart/SPY?period1=1598227200&amp;period2=1790726400&amp;interval=1d&amp;events=div%2Csplits&amp;includeAdjustedClose=true</a:t>
            </a:r>
          </a:p>
          <a:p>
            <a:r>
              <a:t>数据快照 prices-GLD-1a8f833cf4e3: SHA-256 1a8f833cf4e3345f8e66ff7fa8261860dfede09eb2082a7061e28c6e7e3799b8; 提取时间 2026-09-29T02:33:26.161687+00:00; https://query1.finance.yahoo.com/v8/finance/chart/GLD?period1=1598227200&amp;period2=1790726400&amp;interval=1d&amp;events=div%2Csplits&amp;includeAdjustedClose=true</a:t>
            </a:r>
          </a:p>
          <a:p>
            <a:r>
              <a:t>数据快照 prices-BTC-USD-f3226c91d62b: SHA-256 f3226c91d62b515ef9227d5bb113b945e45cf7e18dbb6d3f8ce726a63f3512b0; 提取时间 2026-09-29T02:33:25.815223+00:00; https://query1.finance.yahoo.com/v8/finance/chart/BTC-USD?period1=1598227200&amp;period2=1790726400&amp;interval=1d&amp;events=div%2Csplits&amp;includeAdjustedClose=true</a:t>
            </a:r>
          </a:p>
          <a:p>
            <a:r>
              <a:t>数据快照 prices-SPY-ba0266b147e1: SHA-256 ba0266b147e1210651f9991e41f1ed135bc89c7cc3faa0088be1865d09d2bbb6; 提取时间 2026-09-29T02:33:25.620138+00:00; https://query1.finance.yahoo.com/v8/finance/chart/SPY?period1=1598227200&amp;period2=1790726400&amp;interval=1d&amp;events=div%2Csplits&amp;includeAdjustedClose=true</a:t>
            </a:r>
          </a:p>
          <a:p>
            <a:r>
              <a:t>反应等级为描述性关联，不证明因果；历史表现不保证未来结果。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研究区间：2021-09-28 至 2026-09-29</a:t>
            </a:r>
          </a:p>
          <a:p>
            <a:r>
              <a:t>数据字段：comparison.sensitivity.rows</a:t>
            </a:r>
          </a:p>
          <a:p>
            <a:r>
              <a:t>本页来源：</a:t>
            </a:r>
          </a:p>
          <a:p>
            <a:r>
              <a:t>GLD: https://query1.finance.yahoo.com/v8/finance/chart/GLD?period1=1598227200&amp;period2=1790726400&amp;interval=1d&amp;events=div%2Csplits&amp;includeAdjustedClose=true</a:t>
            </a:r>
          </a:p>
          <a:p>
            <a:r>
              <a:t>BTC-USD: https://query1.finance.yahoo.com/v8/finance/chart/BTC-USD?period1=1598227200&amp;period2=1790726400&amp;interval=1d&amp;events=div%2Csplits&amp;includeAdjustedClose=true</a:t>
            </a:r>
          </a:p>
          <a:p>
            <a:r>
              <a:t>SPY: https://query1.finance.yahoo.com/v8/finance/chart/SPY?period1=1598227200&amp;period2=1790726400&amp;interval=1d&amp;events=div%2Csplits&amp;includeAdjustedClose=true</a:t>
            </a:r>
          </a:p>
          <a:p>
            <a:r>
              <a:t>数据快照 prices-GLD-1a8f833cf4e3: SHA-256 1a8f833cf4e3345f8e66ff7fa8261860dfede09eb2082a7061e28c6e7e3799b8; 提取时间 2026-09-29T02:33:26.161687+00:00; https://query1.finance.yahoo.com/v8/finance/chart/GLD?period1=1598227200&amp;period2=1790726400&amp;interval=1d&amp;events=div%2Csplits&amp;includeAdjustedClose=true</a:t>
            </a:r>
          </a:p>
          <a:p>
            <a:r>
              <a:t>数据快照 prices-BTC-USD-f3226c91d62b: SHA-256 f3226c91d62b515ef9227d5bb113b945e45cf7e18dbb6d3f8ce726a63f3512b0; 提取时间 2026-09-29T02:33:25.815223+00:00; https://query1.finance.yahoo.com/v8/finance/chart/BTC-USD?period1=1598227200&amp;period2=1790726400&amp;interval=1d&amp;events=div%2Csplits&amp;includeAdjustedClose=true</a:t>
            </a:r>
          </a:p>
          <a:p>
            <a:r>
              <a:t>数据快照 prices-SPY-ba0266b147e1: SHA-256 ba0266b147e1210651f9991e41f1ed135bc89c7cc3faa0088be1865d09d2bbb6; 提取时间 2026-09-29T02:33:25.620138+00:00; https://query1.finance.yahoo.com/v8/finance/chart/SPY?period1=1598227200&amp;period2=1790726400&amp;interval=1d&amp;events=div%2Csplits&amp;includeAdjustedClose=true</a:t>
            </a:r>
          </a:p>
          <a:p>
            <a:r>
              <a:t>反应等级为描述性关联，不证明因果；历史表现不保证未来结果。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研究区间：2021-09-28 至 2026-09-29</a:t>
            </a:r>
          </a:p>
          <a:p>
            <a:r>
              <a:t>数据字段：comparison.sensitivity.rows</a:t>
            </a:r>
          </a:p>
          <a:p>
            <a:r>
              <a:t>本页来源：</a:t>
            </a:r>
          </a:p>
          <a:p>
            <a:r>
              <a:t>GLD: https://query1.finance.yahoo.com/v8/finance/chart/GLD?period1=1598227200&amp;period2=1790726400&amp;interval=1d&amp;events=div%2Csplits&amp;includeAdjustedClose=true</a:t>
            </a:r>
          </a:p>
          <a:p>
            <a:r>
              <a:t>BTC-USD: https://query1.finance.yahoo.com/v8/finance/chart/BTC-USD?period1=1598227200&amp;period2=1790726400&amp;interval=1d&amp;events=div%2Csplits&amp;includeAdjustedClose=true</a:t>
            </a:r>
          </a:p>
          <a:p>
            <a:r>
              <a:t>SPY: https://query1.finance.yahoo.com/v8/finance/chart/SPY?period1=1598227200&amp;period2=1790726400&amp;interval=1d&amp;events=div%2Csplits&amp;includeAdjustedClose=true</a:t>
            </a:r>
          </a:p>
          <a:p>
            <a:r>
              <a:t>数据快照 prices-GLD-1a8f833cf4e3: SHA-256 1a8f833cf4e3345f8e66ff7fa8261860dfede09eb2082a7061e28c6e7e3799b8; 提取时间 2026-09-29T02:33:26.161687+00:00; https://query1.finance.yahoo.com/v8/finance/chart/GLD?period1=1598227200&amp;period2=1790726400&amp;interval=1d&amp;events=div%2Csplits&amp;includeAdjustedClose=true</a:t>
            </a:r>
          </a:p>
          <a:p>
            <a:r>
              <a:t>数据快照 prices-BTC-USD-f3226c91d62b: SHA-256 f3226c91d62b515ef9227d5bb113b945e45cf7e18dbb6d3f8ce726a63f3512b0; 提取时间 2026-09-29T02:33:25.815223+00:00; https://query1.finance.yahoo.com/v8/finance/chart/BTC-USD?period1=1598227200&amp;period2=1790726400&amp;interval=1d&amp;events=div%2Csplits&amp;includeAdjustedClose=true</a:t>
            </a:r>
          </a:p>
          <a:p>
            <a:r>
              <a:t>数据快照 prices-SPY-ba0266b147e1: SHA-256 ba0266b147e1210651f9991e41f1ed135bc89c7cc3faa0088be1865d09d2bbb6; 提取时间 2026-09-29T02:33:25.620138+00:00; https://query1.finance.yahoo.com/v8/finance/chart/SPY?period1=1598227200&amp;period2=1790726400&amp;interval=1d&amp;events=div%2Csplits&amp;includeAdjustedClose=true</a:t>
            </a:r>
          </a:p>
          <a:p>
            <a:r>
              <a:t>反应等级为描述性关联，不证明因果；历史表现不保证未来结果。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研究区间：2021-09-28 至 2026-09-29</a:t>
            </a:r>
          </a:p>
          <a:p>
            <a:r>
              <a:t>数据字段：comparison.sensitivity.rows</a:t>
            </a:r>
          </a:p>
          <a:p>
            <a:r>
              <a:t>本页来源：</a:t>
            </a:r>
          </a:p>
          <a:p>
            <a:r>
              <a:t>GLD: https://query1.finance.yahoo.com/v8/finance/chart/GLD?period1=1598227200&amp;period2=1790726400&amp;interval=1d&amp;events=div%2Csplits&amp;includeAdjustedClose=true</a:t>
            </a:r>
          </a:p>
          <a:p>
            <a:r>
              <a:t>BTC-USD: https://query1.finance.yahoo.com/v8/finance/chart/BTC-USD?period1=1598227200&amp;period2=1790726400&amp;interval=1d&amp;events=div%2Csplits&amp;includeAdjustedClose=true</a:t>
            </a:r>
          </a:p>
          <a:p>
            <a:r>
              <a:t>SPY: https://query1.finance.yahoo.com/v8/finance/chart/SPY?period1=1598227200&amp;period2=1790726400&amp;interval=1d&amp;events=div%2Csplits&amp;includeAdjustedClose=true</a:t>
            </a:r>
          </a:p>
          <a:p>
            <a:r>
              <a:t>数据快照 prices-GLD-1a8f833cf4e3: SHA-256 1a8f833cf4e3345f8e66ff7fa8261860dfede09eb2082a7061e28c6e7e3799b8; 提取时间 2026-09-29T02:33:26.161687+00:00; https://query1.finance.yahoo.com/v8/finance/chart/GLD?period1=1598227200&amp;period2=1790726400&amp;interval=1d&amp;events=div%2Csplits&amp;includeAdjustedClose=true</a:t>
            </a:r>
          </a:p>
          <a:p>
            <a:r>
              <a:t>数据快照 prices-BTC-USD-f3226c91d62b: SHA-256 f3226c91d62b515ef9227d5bb113b945e45cf7e18dbb6d3f8ce726a63f3512b0; 提取时间 2026-09-29T02:33:25.815223+00:00; https://query1.finance.yahoo.com/v8/finance/chart/BTC-USD?period1=1598227200&amp;period2=1790726400&amp;interval=1d&amp;events=div%2Csplits&amp;includeAdjustedClose=true</a:t>
            </a:r>
          </a:p>
          <a:p>
            <a:r>
              <a:t>数据快照 prices-SPY-ba0266b147e1: SHA-256 ba0266b147e1210651f9991e41f1ed135bc89c7cc3faa0088be1865d09d2bbb6; 提取时间 2026-09-29T02:33:25.620138+00:00; https://query1.finance.yahoo.com/v8/finance/chart/SPY?period1=1598227200&amp;period2=1790726400&amp;interval=1d&amp;events=div%2Csplits&amp;includeAdjustedClose=true</a:t>
            </a:r>
          </a:p>
          <a:p>
            <a:r>
              <a:t>反应等级为描述性关联，不证明因果；历史表现不保证未来结果。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研究区间：2021-09-28 至 2026-09-29</a:t>
            </a:r>
          </a:p>
          <a:p>
            <a:r>
              <a:t>数据字段：deterministic decision framework</a:t>
            </a:r>
          </a:p>
          <a:p>
            <a:r>
              <a:t>本页来源：</a:t>
            </a:r>
          </a:p>
          <a:p>
            <a:r>
              <a:t>GLD: https://query1.finance.yahoo.com/v8/finance/chart/GLD?period1=1598227200&amp;period2=1790726400&amp;interval=1d&amp;events=div%2Csplits&amp;includeAdjustedClose=true</a:t>
            </a:r>
          </a:p>
          <a:p>
            <a:r>
              <a:t>BTC-USD: https://query1.finance.yahoo.com/v8/finance/chart/BTC-USD?period1=1598227200&amp;period2=1790726400&amp;interval=1d&amp;events=div%2Csplits&amp;includeAdjustedClose=true</a:t>
            </a:r>
          </a:p>
          <a:p>
            <a:r>
              <a:t>SPY: https://query1.finance.yahoo.com/v8/finance/chart/SPY?period1=1598227200&amp;period2=1790726400&amp;interval=1d&amp;events=div%2Csplits&amp;includeAdjustedClose=true</a:t>
            </a:r>
          </a:p>
          <a:p>
            <a:r>
              <a:t>数据快照 prices-GLD-1a8f833cf4e3: SHA-256 1a8f833cf4e3345f8e66ff7fa8261860dfede09eb2082a7061e28c6e7e3799b8; 提取时间 2026-09-29T02:33:26.161687+00:00; https://query1.finance.yahoo.com/v8/finance/chart/GLD?period1=1598227200&amp;period2=1790726400&amp;interval=1d&amp;events=div%2Csplits&amp;includeAdjustedClose=true</a:t>
            </a:r>
          </a:p>
          <a:p>
            <a:r>
              <a:t>数据快照 prices-BTC-USD-f3226c91d62b: SHA-256 f3226c91d62b515ef9227d5bb113b945e45cf7e18dbb6d3f8ce726a63f3512b0; 提取时间 2026-09-29T02:33:25.815223+00:00; https://query1.finance.yahoo.com/v8/finance/chart/BTC-USD?period1=1598227200&amp;period2=1790726400&amp;interval=1d&amp;events=div%2Csplits&amp;includeAdjustedClose=true</a:t>
            </a:r>
          </a:p>
          <a:p>
            <a:r>
              <a:t>数据快照 prices-SPY-ba0266b147e1: SHA-256 ba0266b147e1210651f9991e41f1ed135bc89c7cc3faa0088be1865d09d2bbb6; 提取时间 2026-09-29T02:33:25.620138+00:00; https://query1.finance.yahoo.com/v8/finance/chart/SPY?period1=1598227200&amp;period2=1790726400&amp;interval=1d&amp;events=div%2Csplits&amp;includeAdjustedClose=true</a:t>
            </a:r>
          </a:p>
          <a:p>
            <a:r>
              <a:t>反应等级为描述性关联，不证明因果；历史表现不保证未来结果。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研究区间：2021-09-28 至 2026-09-29</a:t>
            </a:r>
          </a:p>
          <a:p>
            <a:r>
              <a:t>数据字段：deterministic decision framework</a:t>
            </a:r>
          </a:p>
          <a:p>
            <a:r>
              <a:t>本页来源：</a:t>
            </a:r>
          </a:p>
          <a:p>
            <a:r>
              <a:t>GLD: https://query1.finance.yahoo.com/v8/finance/chart/GLD?period1=1598227200&amp;period2=1790726400&amp;interval=1d&amp;events=div%2Csplits&amp;includeAdjustedClose=true</a:t>
            </a:r>
          </a:p>
          <a:p>
            <a:r>
              <a:t>BTC-USD: https://query1.finance.yahoo.com/v8/finance/chart/BTC-USD?period1=1598227200&amp;period2=1790726400&amp;interval=1d&amp;events=div%2Csplits&amp;includeAdjustedClose=true</a:t>
            </a:r>
          </a:p>
          <a:p>
            <a:r>
              <a:t>SPY: https://query1.finance.yahoo.com/v8/finance/chart/SPY?period1=1598227200&amp;period2=1790726400&amp;interval=1d&amp;events=div%2Csplits&amp;includeAdjustedClose=true</a:t>
            </a:r>
          </a:p>
          <a:p>
            <a:r>
              <a:t>数据快照 prices-GLD-1a8f833cf4e3: SHA-256 1a8f833cf4e3345f8e66ff7fa8261860dfede09eb2082a7061e28c6e7e3799b8; 提取时间 2026-09-29T02:33:26.161687+00:00; https://query1.finance.yahoo.com/v8/finance/chart/GLD?period1=1598227200&amp;period2=1790726400&amp;interval=1d&amp;events=div%2Csplits&amp;includeAdjustedClose=true</a:t>
            </a:r>
          </a:p>
          <a:p>
            <a:r>
              <a:t>数据快照 prices-BTC-USD-f3226c91d62b: SHA-256 f3226c91d62b515ef9227d5bb113b945e45cf7e18dbb6d3f8ce726a63f3512b0; 提取时间 2026-09-29T02:33:25.815223+00:00; https://query1.finance.yahoo.com/v8/finance/chart/BTC-USD?period1=1598227200&amp;period2=1790726400&amp;interval=1d&amp;events=div%2Csplits&amp;includeAdjustedClose=true</a:t>
            </a:r>
          </a:p>
          <a:p>
            <a:r>
              <a:t>数据快照 prices-SPY-ba0266b147e1: SHA-256 ba0266b147e1210651f9991e41f1ed135bc89c7cc3faa0088be1865d09d2bbb6; 提取时间 2026-09-29T02:33:25.620138+00:00; https://query1.finance.yahoo.com/v8/finance/chart/SPY?period1=1598227200&amp;period2=1790726400&amp;interval=1d&amp;events=div%2Csplits&amp;includeAdjustedClose=true</a:t>
            </a:r>
          </a:p>
          <a:p>
            <a:r>
              <a:t>反应等级为描述性关联，不证明因果；历史表现不保证未来结果。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研究区间：2021-09-28 至 2026-09-29</a:t>
            </a:r>
          </a:p>
          <a:p>
            <a:r>
              <a:t>数据字段：deterministic decision framework</a:t>
            </a:r>
          </a:p>
          <a:p>
            <a:r>
              <a:t>本页来源：</a:t>
            </a:r>
          </a:p>
          <a:p>
            <a:r>
              <a:t>GLD: https://query1.finance.yahoo.com/v8/finance/chart/GLD?period1=1598227200&amp;period2=1790726400&amp;interval=1d&amp;events=div%2Csplits&amp;includeAdjustedClose=true</a:t>
            </a:r>
          </a:p>
          <a:p>
            <a:r>
              <a:t>BTC-USD: https://query1.finance.yahoo.com/v8/finance/chart/BTC-USD?period1=1598227200&amp;period2=1790726400&amp;interval=1d&amp;events=div%2Csplits&amp;includeAdjustedClose=true</a:t>
            </a:r>
          </a:p>
          <a:p>
            <a:r>
              <a:t>SPY: https://query1.finance.yahoo.com/v8/finance/chart/SPY?period1=1598227200&amp;period2=1790726400&amp;interval=1d&amp;events=div%2Csplits&amp;includeAdjustedClose=true</a:t>
            </a:r>
          </a:p>
          <a:p>
            <a:r>
              <a:t>数据快照 prices-GLD-1a8f833cf4e3: SHA-256 1a8f833cf4e3345f8e66ff7fa8261860dfede09eb2082a7061e28c6e7e3799b8; 提取时间 2026-09-29T02:33:26.161687+00:00; https://query1.finance.yahoo.com/v8/finance/chart/GLD?period1=1598227200&amp;period2=1790726400&amp;interval=1d&amp;events=div%2Csplits&amp;includeAdjustedClose=true</a:t>
            </a:r>
          </a:p>
          <a:p>
            <a:r>
              <a:t>数据快照 prices-BTC-USD-f3226c91d62b: SHA-256 f3226c91d62b515ef9227d5bb113b945e45cf7e18dbb6d3f8ce726a63f3512b0; 提取时间 2026-09-29T02:33:25.815223+00:00; https://query1.finance.yahoo.com/v8/finance/chart/BTC-USD?period1=1598227200&amp;period2=1790726400&amp;interval=1d&amp;events=div%2Csplits&amp;includeAdjustedClose=true</a:t>
            </a:r>
          </a:p>
          <a:p>
            <a:r>
              <a:t>数据快照 prices-SPY-ba0266b147e1: SHA-256 ba0266b147e1210651f9991e41f1ed135bc89c7cc3faa0088be1865d09d2bbb6; 提取时间 2026-09-29T02:33:25.620138+00:00; https://query1.finance.yahoo.com/v8/finance/chart/SPY?period1=1598227200&amp;period2=1790726400&amp;interval=1d&amp;events=div%2Csplits&amp;includeAdjustedClose=true</a:t>
            </a:r>
          </a:p>
          <a:p>
            <a:r>
              <a:t>反应等级为描述性关联，不证明因果；历史表现不保证未来结果。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研究区间：2021-09-28 至 2026-09-29</a:t>
            </a:r>
          </a:p>
          <a:p>
            <a:r>
              <a:t>数据字段：deterministic decision framework</a:t>
            </a:r>
          </a:p>
          <a:p>
            <a:r>
              <a:t>本页来源：</a:t>
            </a:r>
          </a:p>
          <a:p>
            <a:r>
              <a:t>GLD: https://query1.finance.yahoo.com/v8/finance/chart/GLD?period1=1598227200&amp;period2=1790726400&amp;interval=1d&amp;events=div%2Csplits&amp;includeAdjustedClose=true</a:t>
            </a:r>
          </a:p>
          <a:p>
            <a:r>
              <a:t>BTC-USD: https://query1.finance.yahoo.com/v8/finance/chart/BTC-USD?period1=1598227200&amp;period2=1790726400&amp;interval=1d&amp;events=div%2Csplits&amp;includeAdjustedClose=true</a:t>
            </a:r>
          </a:p>
          <a:p>
            <a:r>
              <a:t>SPY: https://query1.finance.yahoo.com/v8/finance/chart/SPY?period1=1598227200&amp;period2=1790726400&amp;interval=1d&amp;events=div%2Csplits&amp;includeAdjustedClose=true</a:t>
            </a:r>
          </a:p>
          <a:p>
            <a:r>
              <a:t>数据快照 prices-GLD-1a8f833cf4e3: SHA-256 1a8f833cf4e3345f8e66ff7fa8261860dfede09eb2082a7061e28c6e7e3799b8; 提取时间 2026-09-29T02:33:26.161687+00:00; https://query1.finance.yahoo.com/v8/finance/chart/GLD?period1=1598227200&amp;period2=1790726400&amp;interval=1d&amp;events=div%2Csplits&amp;includeAdjustedClose=true</a:t>
            </a:r>
          </a:p>
          <a:p>
            <a:r>
              <a:t>数据快照 prices-BTC-USD-f3226c91d62b: SHA-256 f3226c91d62b515ef9227d5bb113b945e45cf7e18dbb6d3f8ce726a63f3512b0; 提取时间 2026-09-29T02:33:25.815223+00:00; https://query1.finance.yahoo.com/v8/finance/chart/BTC-USD?period1=1598227200&amp;period2=1790726400&amp;interval=1d&amp;events=div%2Csplits&amp;includeAdjustedClose=true</a:t>
            </a:r>
          </a:p>
          <a:p>
            <a:r>
              <a:t>数据快照 prices-SPY-ba0266b147e1: SHA-256 ba0266b147e1210651f9991e41f1ed135bc89c7cc3faa0088be1865d09d2bbb6; 提取时间 2026-09-29T02:33:25.620138+00:00; https://query1.finance.yahoo.com/v8/finance/chart/SPY?period1=1598227200&amp;period2=1790726400&amp;interval=1d&amp;events=div%2Csplits&amp;includeAdjustedClose=true</a:t>
            </a:r>
          </a:p>
          <a:p>
            <a:r>
              <a:t>反应等级为描述性关联，不证明因果；历史表现不保证未来结果。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研究区间：2021-09-28 至 2026-09-29</a:t>
            </a:r>
          </a:p>
          <a:p>
            <a:r>
              <a:t>数据字段：events.ev-1 / annotations.event_id=ev-1</a:t>
            </a:r>
          </a:p>
          <a:p>
            <a:r>
              <a:t>本页来源：</a:t>
            </a:r>
          </a:p>
          <a:p>
            <a:r>
              <a:t>www.federalreserve.gov: https://www.federalreserve.gov/newsevents/pressreleases/monetary20220615a.htm</a:t>
            </a:r>
          </a:p>
          <a:p>
            <a:r>
              <a:t>www.cnbc.com: https://www.cnbc.com/2022/06/15/fed-hikes-its-benchmark-interest-rate-by-three-quarters-of-a-point-the-biggest-increase-since-1994.html</a:t>
            </a:r>
          </a:p>
          <a:p>
            <a:r>
              <a:t>数据快照 prices-GLD-1a8f833cf4e3: SHA-256 1a8f833cf4e3345f8e66ff7fa8261860dfede09eb2082a7061e28c6e7e3799b8; 提取时间 2026-09-29T02:33:26.161687+00:00; https://query1.finance.yahoo.com/v8/finance/chart/GLD?period1=1598227200&amp;period2=1790726400&amp;interval=1d&amp;events=div%2Csplits&amp;includeAdjustedClose=true</a:t>
            </a:r>
          </a:p>
          <a:p>
            <a:r>
              <a:t>数据快照 prices-BTC-USD-f3226c91d62b: SHA-256 f3226c91d62b515ef9227d5bb113b945e45cf7e18dbb6d3f8ce726a63f3512b0; 提取时间 2026-09-29T02:33:25.815223+00:00; https://query1.finance.yahoo.com/v8/finance/chart/BTC-USD?period1=1598227200&amp;period2=1790726400&amp;interval=1d&amp;events=div%2Csplits&amp;includeAdjustedClose=true</a:t>
            </a:r>
          </a:p>
          <a:p>
            <a:r>
              <a:t>数据快照 prices-SPY-ba0266b147e1: SHA-256 ba0266b147e1210651f9991e41f1ed135bc89c7cc3faa0088be1865d09d2bbb6; 提取时间 2026-09-29T02:33:25.620138+00:00; https://query1.finance.yahoo.com/v8/finance/chart/SPY?period1=1598227200&amp;period2=1790726400&amp;interval=1d&amp;events=div%2Csplits&amp;includeAdjustedClose=true</a:t>
            </a:r>
          </a:p>
          <a:p>
            <a:r>
              <a:t>反应等级为描述性关联，不证明因果；历史表现不保证未来结果。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研究区间：2021-09-28 至 2026-09-29</a:t>
            </a:r>
          </a:p>
          <a:p>
            <a:r>
              <a:t>数据字段：events.ev-1 / annotations.event_id=ev-1</a:t>
            </a:r>
          </a:p>
          <a:p>
            <a:r>
              <a:t>本页来源：</a:t>
            </a:r>
          </a:p>
          <a:p>
            <a:r>
              <a:t>www.federalreserve.gov: https://www.federalreserve.gov/newsevents/pressreleases/monetary20220615a.htm</a:t>
            </a:r>
          </a:p>
          <a:p>
            <a:r>
              <a:t>www.cnbc.com: https://www.cnbc.com/2022/06/15/fed-hikes-its-benchmark-interest-rate-by-three-quarters-of-a-point-the-biggest-increase-since-1994.html</a:t>
            </a:r>
          </a:p>
          <a:p>
            <a:r>
              <a:t>数据快照 prices-GLD-1a8f833cf4e3: SHA-256 1a8f833cf4e3345f8e66ff7fa8261860dfede09eb2082a7061e28c6e7e3799b8; 提取时间 2026-09-29T02:33:26.161687+00:00; https://query1.finance.yahoo.com/v8/finance/chart/GLD?period1=1598227200&amp;period2=1790726400&amp;interval=1d&amp;events=div%2Csplits&amp;includeAdjustedClose=true</a:t>
            </a:r>
          </a:p>
          <a:p>
            <a:r>
              <a:t>数据快照 prices-BTC-USD-f3226c91d62b: SHA-256 f3226c91d62b515ef9227d5bb113b945e45cf7e18dbb6d3f8ce726a63f3512b0; 提取时间 2026-09-29T02:33:25.815223+00:00; https://query1.finance.yahoo.com/v8/finance/chart/BTC-USD?period1=1598227200&amp;period2=1790726400&amp;interval=1d&amp;events=div%2Csplits&amp;includeAdjustedClose=true</a:t>
            </a:r>
          </a:p>
          <a:p>
            <a:r>
              <a:t>数据快照 prices-SPY-ba0266b147e1: SHA-256 ba0266b147e1210651f9991e41f1ed135bc89c7cc3faa0088be1865d09d2bbb6; 提取时间 2026-09-29T02:33:25.620138+00:00; https://query1.finance.yahoo.com/v8/finance/chart/SPY?period1=1598227200&amp;period2=1790726400&amp;interval=1d&amp;events=div%2Csplits&amp;includeAdjustedClose=true</a:t>
            </a:r>
          </a:p>
          <a:p>
            <a:r>
              <a:t>反应等级为描述性关联，不证明因果；历史表现不保证未来结果。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研究区间：2021-09-28 至 2026-09-29</a:t>
            </a:r>
          </a:p>
          <a:p>
            <a:r>
              <a:t>数据字段：events.ev-2 / annotations.event_id=ev-2</a:t>
            </a:r>
          </a:p>
          <a:p>
            <a:r>
              <a:t>本页来源：</a:t>
            </a:r>
          </a:p>
          <a:p>
            <a:r>
              <a:t>www.cnbc.com: https://www.cnbc.com/2022/06/13/bitcoin-btc-falls-as-market-focuses-on-celsius-issue-fed-rate-hike.html</a:t>
            </a:r>
          </a:p>
          <a:p>
            <a:r>
              <a:t>数据快照 prices-GLD-1a8f833cf4e3: SHA-256 1a8f833cf4e3345f8e66ff7fa8261860dfede09eb2082a7061e28c6e7e3799b8; 提取时间 2026-09-29T02:33:26.161687+00:00; https://query1.finance.yahoo.com/v8/finance/chart/GLD?period1=1598227200&amp;period2=1790726400&amp;interval=1d&amp;events=div%2Csplits&amp;includeAdjustedClose=true</a:t>
            </a:r>
          </a:p>
          <a:p>
            <a:r>
              <a:t>数据快照 prices-BTC-USD-f3226c91d62b: SHA-256 f3226c91d62b515ef9227d5bb113b945e45cf7e18dbb6d3f8ce726a63f3512b0; 提取时间 2026-09-29T02:33:25.815223+00:00; https://query1.finance.yahoo.com/v8/finance/chart/BTC-USD?period1=1598227200&amp;period2=1790726400&amp;interval=1d&amp;events=div%2Csplits&amp;includeAdjustedClose=true</a:t>
            </a:r>
          </a:p>
          <a:p>
            <a:r>
              <a:t>数据快照 prices-SPY-ba0266b147e1: SHA-256 ba0266b147e1210651f9991e41f1ed135bc89c7cc3faa0088be1865d09d2bbb6; 提取时间 2026-09-29T02:33:25.620138+00:00; https://query1.finance.yahoo.com/v8/finance/chart/SPY?period1=1598227200&amp;period2=1790726400&amp;interval=1d&amp;events=div%2Csplits&amp;includeAdjustedClose=true</a:t>
            </a:r>
          </a:p>
          <a:p>
            <a:r>
              <a:t>反应等级为描述性关联，不证明因果；历史表现不保证未来结果。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研究区间：2021-09-28 至 2026-09-29</a:t>
            </a:r>
          </a:p>
          <a:p>
            <a:r>
              <a:t>数据字段：events.ev-3 / annotations.event_id=ev-3</a:t>
            </a:r>
          </a:p>
          <a:p>
            <a:r>
              <a:t>本页来源：</a:t>
            </a:r>
          </a:p>
          <a:p>
            <a:r>
              <a:t>www.cnbc.com: https://www.cnbc.com/2022/05/13/cryptocurrency-luna-crashes-to-0-as-ust-falls-from-peg-bitcoin-rises.html</a:t>
            </a:r>
          </a:p>
          <a:p>
            <a:r>
              <a:t>数据快照 prices-GLD-1a8f833cf4e3: SHA-256 1a8f833cf4e3345f8e66ff7fa8261860dfede09eb2082a7061e28c6e7e3799b8; 提取时间 2026-09-29T02:33:26.161687+00:00; https://query1.finance.yahoo.com/v8/finance/chart/GLD?period1=1598227200&amp;period2=1790726400&amp;interval=1d&amp;events=div%2Csplits&amp;includeAdjustedClose=true</a:t>
            </a:r>
          </a:p>
          <a:p>
            <a:r>
              <a:t>数据快照 prices-BTC-USD-f3226c91d62b: SHA-256 f3226c91d62b515ef9227d5bb113b945e45cf7e18dbb6d3f8ce726a63f3512b0; 提取时间 2026-09-29T02:33:25.815223+00:00; https://query1.finance.yahoo.com/v8/finance/chart/BTC-USD?period1=1598227200&amp;period2=1790726400&amp;interval=1d&amp;events=div%2Csplits&amp;includeAdjustedClose=true</a:t>
            </a:r>
          </a:p>
          <a:p>
            <a:r>
              <a:t>数据快照 prices-SPY-ba0266b147e1: SHA-256 ba0266b147e1210651f9991e41f1ed135bc89c7cc3faa0088be1865d09d2bbb6; 提取时间 2026-09-29T02:33:25.620138+00:00; https://query1.finance.yahoo.com/v8/finance/chart/SPY?period1=1598227200&amp;period2=1790726400&amp;interval=1d&amp;events=div%2Csplits&amp;includeAdjustedClose=true</a:t>
            </a:r>
          </a:p>
          <a:p>
            <a:r>
              <a:t>反应等级为描述性关联，不证明因果；历史表现不保证未来结果。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研究区间：2021-09-28 至 2026-09-29</a:t>
            </a:r>
          </a:p>
          <a:p>
            <a:r>
              <a:t>数据字段：events.ev-4 / annotations.event_id=ev-4</a:t>
            </a:r>
          </a:p>
          <a:p>
            <a:r>
              <a:t>本页来源：</a:t>
            </a:r>
          </a:p>
          <a:p>
            <a:r>
              <a:t>www.federalreserve.gov: https://www.federalreserve.gov/newsevents/pressreleases/monetary20220921a.htm</a:t>
            </a:r>
          </a:p>
          <a:p>
            <a:r>
              <a:t>数据快照 prices-GLD-1a8f833cf4e3: SHA-256 1a8f833cf4e3345f8e66ff7fa8261860dfede09eb2082a7061e28c6e7e3799b8; 提取时间 2026-09-29T02:33:26.161687+00:00; https://query1.finance.yahoo.com/v8/finance/chart/GLD?period1=1598227200&amp;period2=1790726400&amp;interval=1d&amp;events=div%2Csplits&amp;includeAdjustedClose=true</a:t>
            </a:r>
          </a:p>
          <a:p>
            <a:r>
              <a:t>数据快照 prices-BTC-USD-f3226c91d62b: SHA-256 f3226c91d62b515ef9227d5bb113b945e45cf7e18dbb6d3f8ce726a63f3512b0; 提取时间 2026-09-29T02:33:25.815223+00:00; https://query1.finance.yahoo.com/v8/finance/chart/BTC-USD?period1=1598227200&amp;period2=1790726400&amp;interval=1d&amp;events=div%2Csplits&amp;includeAdjustedClose=true</a:t>
            </a:r>
          </a:p>
          <a:p>
            <a:r>
              <a:t>数据快照 prices-SPY-ba0266b147e1: SHA-256 ba0266b147e1210651f9991e41f1ed135bc89c7cc3faa0088be1865d09d2bbb6; 提取时间 2026-09-29T02:33:25.620138+00:00; https://query1.finance.yahoo.com/v8/finance/chart/SPY?period1=1598227200&amp;period2=1790726400&amp;interval=1d&amp;events=div%2Csplits&amp;includeAdjustedClose=true</a:t>
            </a:r>
          </a:p>
          <a:p>
            <a:r>
              <a:t>反应等级为描述性关联，不证明因果；历史表现不保证未来结果。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研究区间：2021-09-28 至 2026-09-29</a:t>
            </a:r>
          </a:p>
          <a:p>
            <a:r>
              <a:t>数据字段：events.ev-4 / annotations.event_id=ev-4</a:t>
            </a:r>
          </a:p>
          <a:p>
            <a:r>
              <a:t>本页来源：</a:t>
            </a:r>
          </a:p>
          <a:p>
            <a:r>
              <a:t>www.federalreserve.gov: https://www.federalreserve.gov/newsevents/pressreleases/monetary20220921a.htm</a:t>
            </a:r>
          </a:p>
          <a:p>
            <a:r>
              <a:t>数据快照 prices-GLD-1a8f833cf4e3: SHA-256 1a8f833cf4e3345f8e66ff7fa8261860dfede09eb2082a7061e28c6e7e3799b8; 提取时间 2026-09-29T02:33:26.161687+00:00; https://query1.finance.yahoo.com/v8/finance/chart/GLD?period1=1598227200&amp;period2=1790726400&amp;interval=1d&amp;events=div%2Csplits&amp;includeAdjustedClose=true</a:t>
            </a:r>
          </a:p>
          <a:p>
            <a:r>
              <a:t>数据快照 prices-BTC-USD-f3226c91d62b: SHA-256 f3226c91d62b515ef9227d5bb113b945e45cf7e18dbb6d3f8ce726a63f3512b0; 提取时间 2026-09-29T02:33:25.815223+00:00; https://query1.finance.yahoo.com/v8/finance/chart/BTC-USD?period1=1598227200&amp;period2=1790726400&amp;interval=1d&amp;events=div%2Csplits&amp;includeAdjustedClose=true</a:t>
            </a:r>
          </a:p>
          <a:p>
            <a:r>
              <a:t>数据快照 prices-SPY-ba0266b147e1: SHA-256 ba0266b147e1210651f9991e41f1ed135bc89c7cc3faa0088be1865d09d2bbb6; 提取时间 2026-09-29T02:33:25.620138+00:00; https://query1.finance.yahoo.com/v8/finance/chart/SPY?period1=1598227200&amp;period2=1790726400&amp;interval=1d&amp;events=div%2Csplits&amp;includeAdjustedClose=true</a:t>
            </a:r>
          </a:p>
          <a:p>
            <a:r>
              <a:t>反应等级为描述性关联，不证明因果；历史表现不保证未来结果。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研究区间：2021-09-28 至 2026-09-29</a:t>
            </a:r>
          </a:p>
          <a:p>
            <a:r>
              <a:t>数据字段：events.ev-5 / annotations.event_id=ev-5</a:t>
            </a:r>
          </a:p>
          <a:p>
            <a:r>
              <a:t>本页来源：</a:t>
            </a:r>
          </a:p>
          <a:p>
            <a:r>
              <a:t>decrypt.co: https://decrypt.co/202840/bitcoin-31000-spot-btc-etf-optimism</a:t>
            </a:r>
          </a:p>
          <a:p>
            <a:r>
              <a:t>数据快照 prices-GLD-1a8f833cf4e3: SHA-256 1a8f833cf4e3345f8e66ff7fa8261860dfede09eb2082a7061e28c6e7e3799b8; 提取时间 2026-09-29T02:33:26.161687+00:00; https://query1.finance.yahoo.com/v8/finance/chart/GLD?period1=1598227200&amp;period2=1790726400&amp;interval=1d&amp;events=div%2Csplits&amp;includeAdjustedClose=true</a:t>
            </a:r>
          </a:p>
          <a:p>
            <a:r>
              <a:t>数据快照 prices-BTC-USD-f3226c91d62b: SHA-256 f3226c91d62b515ef9227d5bb113b945e45cf7e18dbb6d3f8ce726a63f3512b0; 提取时间 2026-09-29T02:33:25.815223+00:00; https://query1.finance.yahoo.com/v8/finance/chart/BTC-USD?period1=1598227200&amp;period2=1790726400&amp;interval=1d&amp;events=div%2Csplits&amp;includeAdjustedClose=true</a:t>
            </a:r>
          </a:p>
          <a:p>
            <a:r>
              <a:t>数据快照 prices-SPY-ba0266b147e1: SHA-256 ba0266b147e1210651f9991e41f1ed135bc89c7cc3faa0088be1865d09d2bbb6; 提取时间 2026-09-29T02:33:25.620138+00:00; https://query1.finance.yahoo.com/v8/finance/chart/SPY?period1=1598227200&amp;period2=1790726400&amp;interval=1d&amp;events=div%2Csplits&amp;includeAdjustedClose=true</a:t>
            </a:r>
          </a:p>
          <a:p>
            <a:r>
              <a:t>反应等级为描述性关联，不证明因果；历史表现不保证未来结果。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研究区间：2021-09-28 至 2026-09-29</a:t>
            </a:r>
          </a:p>
          <a:p>
            <a:r>
              <a:t>数据字段：events.ev-6 / annotations.event_id=ev-6</a:t>
            </a:r>
          </a:p>
          <a:p>
            <a:r>
              <a:t>本页来源：</a:t>
            </a:r>
          </a:p>
          <a:p>
            <a:r>
              <a:t>www.cnbc.com: https://www.cnbc.com/2024/01/10/sec-approves-rule-changes-that-pave-the-way-for-bitcoin-etfs.html</a:t>
            </a:r>
          </a:p>
          <a:p>
            <a:r>
              <a:t>数据快照 prices-GLD-1a8f833cf4e3: SHA-256 1a8f833cf4e3345f8e66ff7fa8261860dfede09eb2082a7061e28c6e7e3799b8; 提取时间 2026-09-29T02:33:26.161687+00:00; https://query1.finance.yahoo.com/v8/finance/chart/GLD?period1=1598227200&amp;period2=1790726400&amp;interval=1d&amp;events=div%2Csplits&amp;includeAdjustedClose=true</a:t>
            </a:r>
          </a:p>
          <a:p>
            <a:r>
              <a:t>数据快照 prices-BTC-USD-f3226c91d62b: SHA-256 f3226c91d62b515ef9227d5bb113b945e45cf7e18dbb6d3f8ce726a63f3512b0; 提取时间 2026-09-29T02:33:25.815223+00:00; https://query1.finance.yahoo.com/v8/finance/chart/BTC-USD?period1=1598227200&amp;period2=1790726400&amp;interval=1d&amp;events=div%2Csplits&amp;includeAdjustedClose=true</a:t>
            </a:r>
          </a:p>
          <a:p>
            <a:r>
              <a:t>数据快照 prices-SPY-ba0266b147e1: SHA-256 ba0266b147e1210651f9991e41f1ed135bc89c7cc3faa0088be1865d09d2bbb6; 提取时间 2026-09-29T02:33:25.620138+00:00; https://query1.finance.yahoo.com/v8/finance/chart/SPY?period1=1598227200&amp;period2=1790726400&amp;interval=1d&amp;events=div%2Csplits&amp;includeAdjustedClose=true</a:t>
            </a:r>
          </a:p>
          <a:p>
            <a:r>
              <a:t>反应等级为描述性关联，不证明因果；历史表现不保证未来结果。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研究区间：2021-09-28 至 2026-09-29</a:t>
            </a:r>
          </a:p>
          <a:p>
            <a:r>
              <a:t>数据字段：events.ev-7 / annotations.event_id=ev-7</a:t>
            </a:r>
          </a:p>
          <a:p>
            <a:r>
              <a:t>本页来源：</a:t>
            </a:r>
          </a:p>
          <a:p>
            <a:r>
              <a:t>www.cnbc.com: https://www.cnbc.com/2026/01/30/silver-gold-fall-price-usd-dollar-fed-warsh-chair-trump-metals.html</a:t>
            </a:r>
          </a:p>
          <a:p>
            <a:r>
              <a:t>数据快照 prices-GLD-1a8f833cf4e3: SHA-256 1a8f833cf4e3345f8e66ff7fa8261860dfede09eb2082a7061e28c6e7e3799b8; 提取时间 2026-09-29T02:33:26.161687+00:00; https://query1.finance.yahoo.com/v8/finance/chart/GLD?period1=1598227200&amp;period2=1790726400&amp;interval=1d&amp;events=div%2Csplits&amp;includeAdjustedClose=true</a:t>
            </a:r>
          </a:p>
          <a:p>
            <a:r>
              <a:t>数据快照 prices-BTC-USD-f3226c91d62b: SHA-256 f3226c91d62b515ef9227d5bb113b945e45cf7e18dbb6d3f8ce726a63f3512b0; 提取时间 2026-09-29T02:33:25.815223+00:00; https://query1.finance.yahoo.com/v8/finance/chart/BTC-USD?period1=1598227200&amp;period2=1790726400&amp;interval=1d&amp;events=div%2Csplits&amp;includeAdjustedClose=true</a:t>
            </a:r>
          </a:p>
          <a:p>
            <a:r>
              <a:t>数据快照 prices-SPY-ba0266b147e1: SHA-256 ba0266b147e1210651f9991e41f1ed135bc89c7cc3faa0088be1865d09d2bbb6; 提取时间 2026-09-29T02:33:25.620138+00:00; https://query1.finance.yahoo.com/v8/finance/chart/SPY?period1=1598227200&amp;period2=1790726400&amp;interval=1d&amp;events=div%2Csplits&amp;includeAdjustedClose=true</a:t>
            </a:r>
          </a:p>
          <a:p>
            <a:r>
              <a:t>反应等级为描述性关联，不证明因果；历史表现不保证未来结果。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研究区间：2021-09-28 至 2026-09-29</a:t>
            </a:r>
          </a:p>
          <a:p>
            <a:r>
              <a:t>数据字段：events.ev-8 / annotations.event_id=ev-8</a:t>
            </a:r>
          </a:p>
          <a:p>
            <a:r>
              <a:t>本页来源：</a:t>
            </a:r>
          </a:p>
          <a:p>
            <a:r>
              <a:t>www.cnbc.com: https://www.cnbc.com/2026/02/02/bitcoin-btc-price-today-cryptocurrency.html</a:t>
            </a:r>
          </a:p>
          <a:p>
            <a:r>
              <a:t>数据快照 prices-GLD-1a8f833cf4e3: SHA-256 1a8f833cf4e3345f8e66ff7fa8261860dfede09eb2082a7061e28c6e7e3799b8; 提取时间 2026-09-29T02:33:26.161687+00:00; https://query1.finance.yahoo.com/v8/finance/chart/GLD?period1=1598227200&amp;period2=1790726400&amp;interval=1d&amp;events=div%2Csplits&amp;includeAdjustedClose=true</a:t>
            </a:r>
          </a:p>
          <a:p>
            <a:r>
              <a:t>数据快照 prices-BTC-USD-f3226c91d62b: SHA-256 f3226c91d62b515ef9227d5bb113b945e45cf7e18dbb6d3f8ce726a63f3512b0; 提取时间 2026-09-29T02:33:25.815223+00:00; https://query1.finance.yahoo.com/v8/finance/chart/BTC-USD?period1=1598227200&amp;period2=1790726400&amp;interval=1d&amp;events=div%2Csplits&amp;includeAdjustedClose=true</a:t>
            </a:r>
          </a:p>
          <a:p>
            <a:r>
              <a:t>数据快照 prices-SPY-ba0266b147e1: SHA-256 ba0266b147e1210651f9991e41f1ed135bc89c7cc3faa0088be1865d09d2bbb6; 提取时间 2026-09-29T02:33:25.620138+00:00; https://query1.finance.yahoo.com/v8/finance/chart/SPY?period1=1598227200&amp;period2=1790726400&amp;interval=1d&amp;events=div%2Csplits&amp;includeAdjustedClose=true</a:t>
            </a:r>
          </a:p>
          <a:p>
            <a:r>
              <a:t>反应等级为描述性关联，不证明因果；历史表现不保证未来结果。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研究区间：2021-09-28 至 2026-09-29</a:t>
            </a:r>
          </a:p>
          <a:p>
            <a:r>
              <a:t>数据字段：events.ev-9 / annotations.event_id=ev-9</a:t>
            </a:r>
          </a:p>
          <a:p>
            <a:r>
              <a:t>本页来源：</a:t>
            </a:r>
          </a:p>
          <a:p>
            <a:r>
              <a:t>www.cnbc.com: https://www.cnbc.com/2026/02/05/bitcoin-price-today-70000-in-focus.html</a:t>
            </a:r>
          </a:p>
          <a:p>
            <a:r>
              <a:t>数据快照 prices-GLD-1a8f833cf4e3: SHA-256 1a8f833cf4e3345f8e66ff7fa8261860dfede09eb2082a7061e28c6e7e3799b8; 提取时间 2026-09-29T02:33:26.161687+00:00; https://query1.finance.yahoo.com/v8/finance/chart/GLD?period1=1598227200&amp;period2=1790726400&amp;interval=1d&amp;events=div%2Csplits&amp;includeAdjustedClose=true</a:t>
            </a:r>
          </a:p>
          <a:p>
            <a:r>
              <a:t>数据快照 prices-BTC-USD-f3226c91d62b: SHA-256 f3226c91d62b515ef9227d5bb113b945e45cf7e18dbb6d3f8ce726a63f3512b0; 提取时间 2026-09-29T02:33:25.815223+00:00; https://query1.finance.yahoo.com/v8/finance/chart/BTC-USD?period1=1598227200&amp;period2=1790726400&amp;interval=1d&amp;events=div%2Csplits&amp;includeAdjustedClose=true</a:t>
            </a:r>
          </a:p>
          <a:p>
            <a:r>
              <a:t>数据快照 prices-SPY-ba0266b147e1: SHA-256 ba0266b147e1210651f9991e41f1ed135bc89c7cc3faa0088be1865d09d2bbb6; 提取时间 2026-09-29T02:33:25.620138+00:00; https://query1.finance.yahoo.com/v8/finance/chart/SPY?period1=1598227200&amp;period2=1790726400&amp;interval=1d&amp;events=div%2Csplits&amp;includeAdjustedClose=true</a:t>
            </a:r>
          </a:p>
          <a:p>
            <a:r>
              <a:t>反应等级为描述性关联，不证明因果；历史表现不保证未来结果。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研究区间：2021-09-28 至 2026-09-29</a:t>
            </a:r>
          </a:p>
          <a:p>
            <a:r>
              <a:t>数据字段：events.ev-9 / annotations.event_id=ev-9</a:t>
            </a:r>
          </a:p>
          <a:p>
            <a:r>
              <a:t>本页来源：</a:t>
            </a:r>
          </a:p>
          <a:p>
            <a:r>
              <a:t>www.cnbc.com: https://www.cnbc.com/2026/02/05/bitcoin-price-today-70000-in-focus.html</a:t>
            </a:r>
          </a:p>
          <a:p>
            <a:r>
              <a:t>数据快照 prices-GLD-1a8f833cf4e3: SHA-256 1a8f833cf4e3345f8e66ff7fa8261860dfede09eb2082a7061e28c6e7e3799b8; 提取时间 2026-09-29T02:33:26.161687+00:00; https://query1.finance.yahoo.com/v8/finance/chart/GLD?period1=1598227200&amp;period2=1790726400&amp;interval=1d&amp;events=div%2Csplits&amp;includeAdjustedClose=true</a:t>
            </a:r>
          </a:p>
          <a:p>
            <a:r>
              <a:t>数据快照 prices-BTC-USD-f3226c91d62b: SHA-256 f3226c91d62b515ef9227d5bb113b945e45cf7e18dbb6d3f8ce726a63f3512b0; 提取时间 2026-09-29T02:33:25.815223+00:00; https://query1.finance.yahoo.com/v8/finance/chart/BTC-USD?period1=1598227200&amp;period2=1790726400&amp;interval=1d&amp;events=div%2Csplits&amp;includeAdjustedClose=true</a:t>
            </a:r>
          </a:p>
          <a:p>
            <a:r>
              <a:t>数据快照 prices-SPY-ba0266b147e1: SHA-256 ba0266b147e1210651f9991e41f1ed135bc89c7cc3faa0088be1865d09d2bbb6; 提取时间 2026-09-29T02:33:25.620138+00:00; https://query1.finance.yahoo.com/v8/finance/chart/SPY?period1=1598227200&amp;period2=1790726400&amp;interval=1d&amp;events=div%2Csplits&amp;includeAdjustedClose=true</a:t>
            </a:r>
          </a:p>
          <a:p>
            <a:r>
              <a:t>反应等级为描述性关联，不证明因果；历史表现不保证未来结果。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研究区间：2021-09-28 至 2026-09-29</a:t>
            </a:r>
          </a:p>
          <a:p>
            <a:r>
              <a:t>数据字段：events.ev-10 / annotations.event_id=ev-10</a:t>
            </a:r>
          </a:p>
          <a:p>
            <a:r>
              <a:t>本页来源：</a:t>
            </a:r>
          </a:p>
          <a:p>
            <a:r>
              <a:t>www.cnbc.com: https://www.cnbc.com/2025/03/02/trump-announces-strategic-crypto-reserve-including-bitcoin-solana-xrp-and-more.html</a:t>
            </a:r>
          </a:p>
          <a:p>
            <a:r>
              <a:t>www.npr.org: https://www.npr.org/2025/03/04/g-s1-51748/trump-crypto-reserve-bitcoin-stockpile-ether</a:t>
            </a:r>
          </a:p>
          <a:p>
            <a:r>
              <a:t>数据快照 prices-GLD-1a8f833cf4e3: SHA-256 1a8f833cf4e3345f8e66ff7fa8261860dfede09eb2082a7061e28c6e7e3799b8; 提取时间 2026-09-29T02:33:26.161687+00:00; https://query1.finance.yahoo.com/v8/finance/chart/GLD?period1=1598227200&amp;period2=1790726400&amp;interval=1d&amp;events=div%2Csplits&amp;includeAdjustedClose=true</a:t>
            </a:r>
          </a:p>
          <a:p>
            <a:r>
              <a:t>数据快照 prices-BTC-USD-f3226c91d62b: SHA-256 f3226c91d62b515ef9227d5bb113b945e45cf7e18dbb6d3f8ce726a63f3512b0; 提取时间 2026-09-29T02:33:25.815223+00:00; https://query1.finance.yahoo.com/v8/finance/chart/BTC-USD?period1=1598227200&amp;period2=1790726400&amp;interval=1d&amp;events=div%2Csplits&amp;includeAdjustedClose=true</a:t>
            </a:r>
          </a:p>
          <a:p>
            <a:r>
              <a:t>数据快照 prices-SPY-ba0266b147e1: SHA-256 ba0266b147e1210651f9991e41f1ed135bc89c7cc3faa0088be1865d09d2bbb6; 提取时间 2026-09-29T02:33:25.620138+00:00; https://query1.finance.yahoo.com/v8/finance/chart/SPY?period1=1598227200&amp;period2=1790726400&amp;interval=1d&amp;events=div%2Csplits&amp;includeAdjustedClose=true</a:t>
            </a:r>
          </a:p>
          <a:p>
            <a:r>
              <a:t>反应等级为描述性关联，不证明因果；历史表现不保证未来结果。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研究区间：2021-09-28 至 2026-09-29</a:t>
            </a:r>
          </a:p>
          <a:p>
            <a:r>
              <a:t>数据字段：disclosures</a:t>
            </a:r>
          </a:p>
          <a:p>
            <a:r>
              <a:t>本页来源：</a:t>
            </a:r>
          </a:p>
          <a:p>
            <a:r>
              <a:t>官方产品资料: https://www.spdrgoldshares.com/usa/gld/</a:t>
            </a:r>
          </a:p>
          <a:p>
            <a:r>
              <a:t>数据快照 prices-GLD-1a8f833cf4e3: SHA-256 1a8f833cf4e3345f8e66ff7fa8261860dfede09eb2082a7061e28c6e7e3799b8; 提取时间 2026-09-29T02:33:26.161687+00:00; https://query1.finance.yahoo.com/v8/finance/chart/GLD?period1=1598227200&amp;period2=1790726400&amp;interval=1d&amp;events=div%2Csplits&amp;includeAdjustedClose=true</a:t>
            </a:r>
          </a:p>
          <a:p>
            <a:r>
              <a:t>数据快照 prices-BTC-USD-f3226c91d62b: SHA-256 f3226c91d62b515ef9227d5bb113b945e45cf7e18dbb6d3f8ce726a63f3512b0; 提取时间 2026-09-29T02:33:25.815223+00:00; https://query1.finance.yahoo.com/v8/finance/chart/BTC-USD?period1=1598227200&amp;period2=1790726400&amp;interval=1d&amp;events=div%2Csplits&amp;includeAdjustedClose=true</a:t>
            </a:r>
          </a:p>
          <a:p>
            <a:r>
              <a:t>数据快照 prices-SPY-ba0266b147e1: SHA-256 ba0266b147e1210651f9991e41f1ed135bc89c7cc3faa0088be1865d09d2bbb6; 提取时间 2026-09-29T02:33:25.620138+00:00; https://query1.finance.yahoo.com/v8/finance/chart/SPY?period1=1598227200&amp;period2=1790726400&amp;interval=1d&amp;events=div%2Csplits&amp;includeAdjustedClose=true</a:t>
            </a:r>
          </a:p>
          <a:p>
            <a:r>
              <a:t>反应等级为描述性关联，不证明因果；历史表现不保证未来结果。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研究区间：2021-09-28 至 2026-09-29</a:t>
            </a:r>
          </a:p>
          <a:p>
            <a:r>
              <a:t>数据字段：methodology / warnings</a:t>
            </a:r>
          </a:p>
          <a:p>
            <a:r>
              <a:t>本页来源：</a:t>
            </a:r>
          </a:p>
          <a:p>
            <a:r>
              <a:t>GLD: https://query1.finance.yahoo.com/v8/finance/chart/GLD?period1=1598227200&amp;period2=1790726400&amp;interval=1d&amp;events=div%2Csplits&amp;includeAdjustedClose=true</a:t>
            </a:r>
          </a:p>
          <a:p>
            <a:r>
              <a:t>BTC-USD: https://query1.finance.yahoo.com/v8/finance/chart/BTC-USD?period1=1598227200&amp;period2=1790726400&amp;interval=1d&amp;events=div%2Csplits&amp;includeAdjustedClose=true</a:t>
            </a:r>
          </a:p>
          <a:p>
            <a:r>
              <a:t>SPY: https://query1.finance.yahoo.com/v8/finance/chart/SPY?period1=1598227200&amp;period2=1790726400&amp;interval=1d&amp;events=div%2Csplits&amp;includeAdjustedClose=true</a:t>
            </a:r>
          </a:p>
          <a:p>
            <a:r>
              <a:t>数据快照 prices-GLD-1a8f833cf4e3: SHA-256 1a8f833cf4e3345f8e66ff7fa8261860dfede09eb2082a7061e28c6e7e3799b8; 提取时间 2026-09-29T02:33:26.161687+00:00; https://query1.finance.yahoo.com/v8/finance/chart/GLD?period1=1598227200&amp;period2=1790726400&amp;interval=1d&amp;events=div%2Csplits&amp;includeAdjustedClose=true</a:t>
            </a:r>
          </a:p>
          <a:p>
            <a:r>
              <a:t>数据快照 prices-BTC-USD-f3226c91d62b: SHA-256 f3226c91d62b515ef9227d5bb113b945e45cf7e18dbb6d3f8ce726a63f3512b0; 提取时间 2026-09-29T02:33:25.815223+00:00; https://query1.finance.yahoo.com/v8/finance/chart/BTC-USD?period1=1598227200&amp;period2=1790726400&amp;interval=1d&amp;events=div%2Csplits&amp;includeAdjustedClose=true</a:t>
            </a:r>
          </a:p>
          <a:p>
            <a:r>
              <a:t>数据快照 prices-SPY-ba0266b147e1: SHA-256 ba0266b147e1210651f9991e41f1ed135bc89c7cc3faa0088be1865d09d2bbb6; 提取时间 2026-09-29T02:33:25.620138+00:00; https://query1.finance.yahoo.com/v8/finance/chart/SPY?period1=1598227200&amp;period2=1790726400&amp;interval=1d&amp;events=div%2Csplits&amp;includeAdjustedClose=true</a:t>
            </a:r>
          </a:p>
          <a:p>
            <a:r>
              <a:t>反应等级为描述性关联，不证明因果；历史表现不保证未来结果。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研究区间：2021-09-28 至 2026-09-29</a:t>
            </a:r>
          </a:p>
          <a:p>
            <a:r>
              <a:t>数据字段：methodology / warnings</a:t>
            </a:r>
          </a:p>
          <a:p>
            <a:r>
              <a:t>本页来源：</a:t>
            </a:r>
          </a:p>
          <a:p>
            <a:r>
              <a:t>GLD: https://query1.finance.yahoo.com/v8/finance/chart/GLD?period1=1598227200&amp;period2=1790726400&amp;interval=1d&amp;events=div%2Csplits&amp;includeAdjustedClose=true</a:t>
            </a:r>
          </a:p>
          <a:p>
            <a:r>
              <a:t>BTC-USD: https://query1.finance.yahoo.com/v8/finance/chart/BTC-USD?period1=1598227200&amp;period2=1790726400&amp;interval=1d&amp;events=div%2Csplits&amp;includeAdjustedClose=true</a:t>
            </a:r>
          </a:p>
          <a:p>
            <a:r>
              <a:t>SPY: https://query1.finance.yahoo.com/v8/finance/chart/SPY?period1=1598227200&amp;period2=1790726400&amp;interval=1d&amp;events=div%2Csplits&amp;includeAdjustedClose=true</a:t>
            </a:r>
          </a:p>
          <a:p>
            <a:r>
              <a:t>数据快照 prices-GLD-1a8f833cf4e3: SHA-256 1a8f833cf4e3345f8e66ff7fa8261860dfede09eb2082a7061e28c6e7e3799b8; 提取时间 2026-09-29T02:33:26.161687+00:00; https://query1.finance.yahoo.com/v8/finance/chart/GLD?period1=1598227200&amp;period2=1790726400&amp;interval=1d&amp;events=div%2Csplits&amp;includeAdjustedClose=true</a:t>
            </a:r>
          </a:p>
          <a:p>
            <a:r>
              <a:t>数据快照 prices-BTC-USD-f3226c91d62b: SHA-256 f3226c91d62b515ef9227d5bb113b945e45cf7e18dbb6d3f8ce726a63f3512b0; 提取时间 2026-09-29T02:33:25.815223+00:00; https://query1.finance.yahoo.com/v8/finance/chart/BTC-USD?period1=1598227200&amp;period2=1790726400&amp;interval=1d&amp;events=div%2Csplits&amp;includeAdjustedClose=true</a:t>
            </a:r>
          </a:p>
          <a:p>
            <a:r>
              <a:t>数据快照 prices-SPY-ba0266b147e1: SHA-256 ba0266b147e1210651f9991e41f1ed135bc89c7cc3faa0088be1865d09d2bbb6; 提取时间 2026-09-29T02:33:25.620138+00:00; https://query1.finance.yahoo.com/v8/finance/chart/SPY?period1=1598227200&amp;period2=1790726400&amp;interval=1d&amp;events=div%2Csplits&amp;includeAdjustedClose=true</a:t>
            </a:r>
          </a:p>
          <a:p>
            <a:r>
              <a:t>反应等级为描述性关联，不证明因果；历史表现不保证未来结果。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研究区间：2021-09-28 至 2026-09-29</a:t>
            </a:r>
          </a:p>
          <a:p>
            <a:r>
              <a:t>数据字段：methodology / warnings</a:t>
            </a:r>
          </a:p>
          <a:p>
            <a:r>
              <a:t>本页来源：</a:t>
            </a:r>
          </a:p>
          <a:p>
            <a:r>
              <a:t>GLD: https://query1.finance.yahoo.com/v8/finance/chart/GLD?period1=1598227200&amp;period2=1790726400&amp;interval=1d&amp;events=div%2Csplits&amp;includeAdjustedClose=true</a:t>
            </a:r>
          </a:p>
          <a:p>
            <a:r>
              <a:t>BTC-USD: https://query1.finance.yahoo.com/v8/finance/chart/BTC-USD?period1=1598227200&amp;period2=1790726400&amp;interval=1d&amp;events=div%2Csplits&amp;includeAdjustedClose=true</a:t>
            </a:r>
          </a:p>
          <a:p>
            <a:r>
              <a:t>SPY: https://query1.finance.yahoo.com/v8/finance/chart/SPY?period1=1598227200&amp;period2=1790726400&amp;interval=1d&amp;events=div%2Csplits&amp;includeAdjustedClose=true</a:t>
            </a:r>
          </a:p>
          <a:p>
            <a:r>
              <a:t>数据快照 prices-GLD-1a8f833cf4e3: SHA-256 1a8f833cf4e3345f8e66ff7fa8261860dfede09eb2082a7061e28c6e7e3799b8; 提取时间 2026-09-29T02:33:26.161687+00:00; https://query1.finance.yahoo.com/v8/finance/chart/GLD?period1=1598227200&amp;period2=1790726400&amp;interval=1d&amp;events=div%2Csplits&amp;includeAdjustedClose=true</a:t>
            </a:r>
          </a:p>
          <a:p>
            <a:r>
              <a:t>数据快照 prices-BTC-USD-f3226c91d62b: SHA-256 f3226c91d62b515ef9227d5bb113b945e45cf7e18dbb6d3f8ce726a63f3512b0; 提取时间 2026-09-29T02:33:25.815223+00:00; https://query1.finance.yahoo.com/v8/finance/chart/BTC-USD?period1=1598227200&amp;period2=1790726400&amp;interval=1d&amp;events=div%2Csplits&amp;includeAdjustedClose=true</a:t>
            </a:r>
          </a:p>
          <a:p>
            <a:r>
              <a:t>数据快照 prices-SPY-ba0266b147e1: SHA-256 ba0266b147e1210651f9991e41f1ed135bc89c7cc3faa0088be1865d09d2bbb6; 提取时间 2026-09-29T02:33:25.620138+00:00; https://query1.finance.yahoo.com/v8/finance/chart/SPY?period1=1598227200&amp;period2=1790726400&amp;interval=1d&amp;events=div%2Csplits&amp;includeAdjustedClose=true</a:t>
            </a:r>
          </a:p>
          <a:p>
            <a:r>
              <a:t>反应等级为描述性关联，不证明因果；历史表现不保证未来结果。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研究区间：2021-09-28 至 2026-09-29</a:t>
            </a:r>
          </a:p>
          <a:p>
            <a:r>
              <a:t>数据字段：methodology / warnings</a:t>
            </a:r>
          </a:p>
          <a:p>
            <a:r>
              <a:t>本页来源：</a:t>
            </a:r>
          </a:p>
          <a:p>
            <a:r>
              <a:t>GLD: https://query1.finance.yahoo.com/v8/finance/chart/GLD?period1=1598227200&amp;period2=1790726400&amp;interval=1d&amp;events=div%2Csplits&amp;includeAdjustedClose=true</a:t>
            </a:r>
          </a:p>
          <a:p>
            <a:r>
              <a:t>BTC-USD: https://query1.finance.yahoo.com/v8/finance/chart/BTC-USD?period1=1598227200&amp;period2=1790726400&amp;interval=1d&amp;events=div%2Csplits&amp;includeAdjustedClose=true</a:t>
            </a:r>
          </a:p>
          <a:p>
            <a:r>
              <a:t>SPY: https://query1.finance.yahoo.com/v8/finance/chart/SPY?period1=1598227200&amp;period2=1790726400&amp;interval=1d&amp;events=div%2Csplits&amp;includeAdjustedClose=true</a:t>
            </a:r>
          </a:p>
          <a:p>
            <a:r>
              <a:t>数据快照 prices-GLD-1a8f833cf4e3: SHA-256 1a8f833cf4e3345f8e66ff7fa8261860dfede09eb2082a7061e28c6e7e3799b8; 提取时间 2026-09-29T02:33:26.161687+00:00; https://query1.finance.yahoo.com/v8/finance/chart/GLD?period1=1598227200&amp;period2=1790726400&amp;interval=1d&amp;events=div%2Csplits&amp;includeAdjustedClose=true</a:t>
            </a:r>
          </a:p>
          <a:p>
            <a:r>
              <a:t>数据快照 prices-BTC-USD-f3226c91d62b: SHA-256 f3226c91d62b515ef9227d5bb113b945e45cf7e18dbb6d3f8ce726a63f3512b0; 提取时间 2026-09-29T02:33:25.815223+00:00; https://query1.finance.yahoo.com/v8/finance/chart/BTC-USD?period1=1598227200&amp;period2=1790726400&amp;interval=1d&amp;events=div%2Csplits&amp;includeAdjustedClose=true</a:t>
            </a:r>
          </a:p>
          <a:p>
            <a:r>
              <a:t>数据快照 prices-SPY-ba0266b147e1: SHA-256 ba0266b147e1210651f9991e41f1ed135bc89c7cc3faa0088be1865d09d2bbb6; 提取时间 2026-09-29T02:33:25.620138+00:00; https://query1.finance.yahoo.com/v8/finance/chart/SPY?period1=1598227200&amp;period2=1790726400&amp;interval=1d&amp;events=div%2Csplits&amp;includeAdjustedClose=true</a:t>
            </a:r>
          </a:p>
          <a:p>
            <a:r>
              <a:t>反应等级为描述性关联，不证明因果；历史表现不保证未来结果。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研究区间：2021-09-28 至 2026-09-29</a:t>
            </a:r>
          </a:p>
          <a:p>
            <a:r>
              <a:t>数据字段：</a:t>
            </a:r>
          </a:p>
          <a:p>
            <a:r>
              <a:t>本页来源：</a:t>
            </a:r>
          </a:p>
          <a:p>
            <a:r>
              <a:t>Federal Reserve Board - Federal Reserve issues FOMC statement: https://www.federalreserve.gov/newsevents/pressreleases/monetary20220615a.htm</a:t>
            </a:r>
          </a:p>
          <a:p>
            <a:r>
              <a:t>Federal Reserve Board - Federal Reserve issues FOMC statement: https://www.federalreserve.gov/newsevents/pressreleases/monetary20220921a.htm</a:t>
            </a:r>
          </a:p>
          <a:p>
            <a:r>
              <a:t>Cryptocurrency luna crashes to $0 as UST falls from peg; bitcoin rises: https://www.cnbc.com/2022/05/13/cryptocurrency-luna-crashes-to-0-as-ust-falls-from-peg-bitcoin-rises.html</a:t>
            </a:r>
          </a:p>
          <a:p>
            <a:r>
              <a:t>Trump announces strategic crypto reserve including bitcoin, Solana, XRP and more: https://www.cnbc.com/2025/03/02/trump-announces-strategic-crypto-reserve-including-bitcoin-solana-xrp-and-more.html</a:t>
            </a:r>
          </a:p>
          <a:p>
            <a:r>
              <a:t>Bitcoin Blasts Past $31,000 as Optimism for BTC Spot ETF Surges - Decrypt: https://decrypt.co/202840/bitcoin-31000-spot-btc-etf-optimism</a:t>
            </a:r>
          </a:p>
          <a:p>
            <a:r>
              <a:t>SPDR® Gold Shares (Ticker: GLD, New York Stock Exchange) | Charts, data and downloads | World Gold Trust Services: https://www.spdrgoldshares.com/usa/gld/</a:t>
            </a:r>
          </a:p>
          <a:p>
            <a:r>
              <a:t>数据快照 prices-GLD-1a8f833cf4e3: SHA-256 1a8f833cf4e3345f8e66ff7fa8261860dfede09eb2082a7061e28c6e7e3799b8; 提取时间 2026-09-29T02:33:26.161687+00:00; https://query1.finance.yahoo.com/v8/finance/chart/GLD?period1=1598227200&amp;period2=1790726400&amp;interval=1d&amp;events=div%2Csplits&amp;includeAdjustedClose=true</a:t>
            </a:r>
          </a:p>
          <a:p>
            <a:r>
              <a:t>数据快照 prices-BTC-USD-f3226c91d62b: SHA-256 f3226c91d62b515ef9227d5bb113b945e45cf7e18dbb6d3f8ce726a63f3512b0; 提取时间 2026-09-29T02:33:25.815223+00:00; https://query1.finance.yahoo.com/v8/finance/chart/BTC-USD?period1=1598227200&amp;period2=1790726400&amp;interval=1d&amp;events=div%2Csplits&amp;includeAdjustedClose=true</a:t>
            </a:r>
          </a:p>
          <a:p>
            <a:r>
              <a:t>数据快照 prices-SPY-ba0266b147e1: SHA-256 ba0266b147e1210651f9991e41f1ed135bc89c7cc3faa0088be1865d09d2bbb6; 提取时间 2026-09-29T02:33:25.620138+00:00; https://query1.finance.yahoo.com/v8/finance/chart/SPY?period1=1598227200&amp;period2=1790726400&amp;interval=1d&amp;events=div%2Csplits&amp;includeAdjustedClose=true</a:t>
            </a:r>
          </a:p>
          <a:p>
            <a:r>
              <a:t>反应等级为描述性关联，不证明因果；历史表现不保证未来结果。</a:t>
            </a:r>
          </a:p>
          <a:p>
            <a:r>
              <a:t>完整来源标题：Federal Reserve Board - Federal Reserve issues FOMC statement</a:t>
            </a:r>
          </a:p>
          <a:p>
            <a:r>
              <a:t>https://www.federalreserve.gov/newsevents/pressreleases/monetary20220615a.htm</a:t>
            </a:r>
          </a:p>
          <a:p>
            <a:r>
              <a:t>完整来源标题：Federal Reserve Board - Federal Reserve issues FOMC statement</a:t>
            </a:r>
          </a:p>
          <a:p>
            <a:r>
              <a:t>https://www.federalreserve.gov/newsevents/pressreleases/monetary20220921a.htm</a:t>
            </a:r>
          </a:p>
          <a:p>
            <a:r>
              <a:t>完整来源标题：Cryptocurrency luna crashes to $0 as UST falls from peg; bitcoin rises</a:t>
            </a:r>
          </a:p>
          <a:p>
            <a:r>
              <a:t>https://www.cnbc.com/2022/05/13/cryptocurrency-luna-crashes-to-0-as-ust-falls-from-peg-bitcoin-rises.html</a:t>
            </a:r>
          </a:p>
          <a:p>
            <a:r>
              <a:t>完整来源标题：Trump announces strategic crypto reserve including bitcoin, Solana, XRP and more</a:t>
            </a:r>
          </a:p>
          <a:p>
            <a:r>
              <a:t>https://www.cnbc.com/2025/03/02/trump-announces-strategic-crypto-reserve-including-bitcoin-solana-xrp-and-more.html</a:t>
            </a:r>
          </a:p>
          <a:p>
            <a:r>
              <a:t>完整来源标题：Bitcoin Blasts Past $31,000 as Optimism for BTC Spot ETF Surges - Decrypt</a:t>
            </a:r>
          </a:p>
          <a:p>
            <a:r>
              <a:t>https://decrypt.co/202840/bitcoin-31000-spot-btc-etf-optimism</a:t>
            </a:r>
          </a:p>
          <a:p>
            <a:r>
              <a:t>完整来源标题：SPDR® Gold Shares (Ticker: GLD, New York Stock Exchange) | Charts, data and downloads | World Gold Trust Services</a:t>
            </a:r>
          </a:p>
          <a:p>
            <a:r>
              <a:t>https://www.spdrgoldshares.com/usa/gld/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研究区间：2021-09-28 至 2026-09-29</a:t>
            </a:r>
          </a:p>
          <a:p>
            <a:r>
              <a:t>数据字段：</a:t>
            </a:r>
          </a:p>
          <a:p>
            <a:r>
              <a:t>本页来源：</a:t>
            </a:r>
          </a:p>
          <a:p>
            <a:r>
              <a:t>Bitcoin briefly breaks below $61,000 as sell-off intensifies: https://www.cnbc.com/2026/02/05/bitcoin-price-today-70000-in-focus.html</a:t>
            </a:r>
          </a:p>
          <a:p>
            <a:r>
              <a:t>SEC approves rule changes that pave the way for bitcoin ETFs: https://www.cnbc.com/2024/01/10/sec-approves-rule-changes-that-pave-the-way-for-bitcoin-etfs.html</a:t>
            </a:r>
          </a:p>
          <a:p>
            <a:r>
              <a:t>Bitcoin price falls under $80,000. Here's why: https://www.cnbc.com/2026/02/02/bitcoin-btc-price-today-cryptocurrency.html</a:t>
            </a:r>
          </a:p>
          <a:p>
            <a:r>
              <a:t>What to know about Trump's 'crypto strategic reserve' plan : NPR: https://www.npr.org/2025/03/04/g-s1-51748/trump-crypto-reserve-bitcoin-stockpile-ether</a:t>
            </a:r>
          </a:p>
          <a:p>
            <a:r>
              <a:t>Silver, gold sell off as precious metals markets nosedive: https://www.cnbc.com/2026/01/30/silver-gold-fall-price-usd-dollar-fed-warsh-chair-trump-metals.html</a:t>
            </a:r>
          </a:p>
          <a:p>
            <a:r>
              <a:t>Fed hikes its benchmark interest rate by 0.75 percentage point, the biggest increase since 1994: https://www.cnbc.com/2022/06/15/fed-hikes-its-benchmark-interest-rate-by-three-quarters-of-a-point-the-biggest-increase-since-1994.html</a:t>
            </a:r>
          </a:p>
          <a:p>
            <a:r>
              <a:t>数据快照 prices-GLD-1a8f833cf4e3: SHA-256 1a8f833cf4e3345f8e66ff7fa8261860dfede09eb2082a7061e28c6e7e3799b8; 提取时间 2026-09-29T02:33:26.161687+00:00; https://query1.finance.yahoo.com/v8/finance/chart/GLD?period1=1598227200&amp;period2=1790726400&amp;interval=1d&amp;events=div%2Csplits&amp;includeAdjustedClose=true</a:t>
            </a:r>
          </a:p>
          <a:p>
            <a:r>
              <a:t>数据快照 prices-BTC-USD-f3226c91d62b: SHA-256 f3226c91d62b515ef9227d5bb113b945e45cf7e18dbb6d3f8ce726a63f3512b0; 提取时间 2026-09-29T02:33:25.815223+00:00; https://query1.finance.yahoo.com/v8/finance/chart/BTC-USD?period1=1598227200&amp;period2=1790726400&amp;interval=1d&amp;events=div%2Csplits&amp;includeAdjustedClose=true</a:t>
            </a:r>
          </a:p>
          <a:p>
            <a:r>
              <a:t>数据快照 prices-SPY-ba0266b147e1: SHA-256 ba0266b147e1210651f9991e41f1ed135bc89c7cc3faa0088be1865d09d2bbb6; 提取时间 2026-09-29T02:33:25.620138+00:00; https://query1.finance.yahoo.com/v8/finance/chart/SPY?period1=1598227200&amp;period2=1790726400&amp;interval=1d&amp;events=div%2Csplits&amp;includeAdjustedClose=true</a:t>
            </a:r>
          </a:p>
          <a:p>
            <a:r>
              <a:t>反应等级为描述性关联，不证明因果；历史表现不保证未来结果。</a:t>
            </a:r>
          </a:p>
          <a:p>
            <a:r>
              <a:t>完整来源标题：Bitcoin briefly breaks below $61,000 as sell-off intensifies</a:t>
            </a:r>
          </a:p>
          <a:p>
            <a:r>
              <a:t>https://www.cnbc.com/2026/02/05/bitcoin-price-today-70000-in-focus.html</a:t>
            </a:r>
          </a:p>
          <a:p>
            <a:r>
              <a:t>完整来源标题：SEC approves rule changes that pave the way for bitcoin ETFs</a:t>
            </a:r>
          </a:p>
          <a:p>
            <a:r>
              <a:t>https://www.cnbc.com/2024/01/10/sec-approves-rule-changes-that-pave-the-way-for-bitcoin-etfs.html</a:t>
            </a:r>
          </a:p>
          <a:p>
            <a:r>
              <a:t>完整来源标题：Bitcoin price falls under $80,000. Here's why</a:t>
            </a:r>
          </a:p>
          <a:p>
            <a:r>
              <a:t>https://www.cnbc.com/2026/02/02/bitcoin-btc-price-today-cryptocurrency.html</a:t>
            </a:r>
          </a:p>
          <a:p>
            <a:r>
              <a:t>完整来源标题：What to know about Trump's 'crypto strategic reserve' plan : NPR</a:t>
            </a:r>
          </a:p>
          <a:p>
            <a:r>
              <a:t>https://www.npr.org/2025/03/04/g-s1-51748/trump-crypto-reserve-bitcoin-stockpile-ether</a:t>
            </a:r>
          </a:p>
          <a:p>
            <a:r>
              <a:t>完整来源标题：Silver, gold sell off as precious metals markets nosedive</a:t>
            </a:r>
          </a:p>
          <a:p>
            <a:r>
              <a:t>https://www.cnbc.com/2026/01/30/silver-gold-fall-price-usd-dollar-fed-warsh-chair-trump-metals.html</a:t>
            </a:r>
          </a:p>
          <a:p>
            <a:r>
              <a:t>完整来源标题：Fed hikes its benchmark interest rate by 0.75 percentage point, the biggest increase since 1994</a:t>
            </a:r>
          </a:p>
          <a:p>
            <a:r>
              <a:t>https://www.cnbc.com/2022/06/15/fed-hikes-its-benchmark-interest-rate-by-three-quarters-of-a-point-the-biggest-increase-since-1994.html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研究区间：2021-09-28 至 2026-09-29</a:t>
            </a:r>
          </a:p>
          <a:p>
            <a:r>
              <a:t>数据字段：</a:t>
            </a:r>
          </a:p>
          <a:p>
            <a:r>
              <a:t>本页来源：</a:t>
            </a:r>
          </a:p>
          <a:p>
            <a:r>
              <a:t>Bitcoin (BTC) falls as market focuses on Celsius issue, Fed rate hike: https://www.cnbc.com/2022/06/13/bitcoin-btc-falls-as-market-focuses-on-celsius-issue-fed-rate-hike.html</a:t>
            </a:r>
          </a:p>
          <a:p>
            <a:r>
              <a:t>FRED · CPIAUCNS: https://fred.stlouisfed.org/series/CPIAUCNS</a:t>
            </a:r>
          </a:p>
          <a:p>
            <a:r>
              <a:t>FRED · DGS3MO: https://fred.stlouisfed.org/series/DGS3MO</a:t>
            </a:r>
          </a:p>
          <a:p>
            <a:r>
              <a:t>行情 GLD: https://query1.finance.yahoo.com/v8/finance/chart/GLD?period1=1598227200&amp;period2=1790726400&amp;interval=1d&amp;events=div%2Csplits&amp;includeAdjustedClose=true</a:t>
            </a:r>
          </a:p>
          <a:p>
            <a:r>
              <a:t>行情 BTC-USD: https://query1.finance.yahoo.com/v8/finance/chart/BTC-USD?period1=1598227200&amp;period2=1790726400&amp;interval=1d&amp;events=div%2Csplits&amp;includeAdjustedClose=true</a:t>
            </a:r>
          </a:p>
          <a:p>
            <a:r>
              <a:t>行情 SPY: https://query1.finance.yahoo.com/v8/finance/chart/SPY?period1=1598227200&amp;period2=1790726400&amp;interval=1d&amp;events=div%2Csplits&amp;includeAdjustedClose=true</a:t>
            </a:r>
          </a:p>
          <a:p>
            <a:r>
              <a:t>数据快照 prices-GLD-1a8f833cf4e3: SHA-256 1a8f833cf4e3345f8e66ff7fa8261860dfede09eb2082a7061e28c6e7e3799b8; 提取时间 2026-09-29T02:33:26.161687+00:00; https://query1.finance.yahoo.com/v8/finance/chart/GLD?period1=1598227200&amp;period2=1790726400&amp;interval=1d&amp;events=div%2Csplits&amp;includeAdjustedClose=true</a:t>
            </a:r>
          </a:p>
          <a:p>
            <a:r>
              <a:t>数据快照 prices-BTC-USD-f3226c91d62b: SHA-256 f3226c91d62b515ef9227d5bb113b945e45cf7e18dbb6d3f8ce726a63f3512b0; 提取时间 2026-09-29T02:33:25.815223+00:00; https://query1.finance.yahoo.com/v8/finance/chart/BTC-USD?period1=1598227200&amp;period2=1790726400&amp;interval=1d&amp;events=div%2Csplits&amp;includeAdjustedClose=true</a:t>
            </a:r>
          </a:p>
          <a:p>
            <a:r>
              <a:t>数据快照 prices-SPY-ba0266b147e1: SHA-256 ba0266b147e1210651f9991e41f1ed135bc89c7cc3faa0088be1865d09d2bbb6; 提取时间 2026-09-29T02:33:25.620138+00:00; https://query1.finance.yahoo.com/v8/finance/chart/SPY?period1=1598227200&amp;period2=1790726400&amp;interval=1d&amp;events=div%2Csplits&amp;includeAdjustedClose=true</a:t>
            </a:r>
          </a:p>
          <a:p>
            <a:r>
              <a:t>反应等级为描述性关联，不证明因果；历史表现不保证未来结果。</a:t>
            </a:r>
          </a:p>
          <a:p>
            <a:r>
              <a:t>完整来源标题：Bitcoin (BTC) falls as market focuses on Celsius issue, Fed rate hike</a:t>
            </a:r>
          </a:p>
          <a:p>
            <a:r>
              <a:t>https://www.cnbc.com/2022/06/13/bitcoin-btc-falls-as-market-focuses-on-celsius-issue-fed-rate-hike.html</a:t>
            </a:r>
          </a:p>
          <a:p>
            <a:r>
              <a:t>完整来源标题：FRED · CPIAUCNS</a:t>
            </a:r>
          </a:p>
          <a:p>
            <a:r>
              <a:t>https://fred.stlouisfed.org/series/CPIAUCNS</a:t>
            </a:r>
          </a:p>
          <a:p>
            <a:r>
              <a:t>完整来源标题：FRED · DGS3MO</a:t>
            </a:r>
          </a:p>
          <a:p>
            <a:r>
              <a:t>https://fred.stlouisfed.org/series/DGS3MO</a:t>
            </a:r>
          </a:p>
          <a:p>
            <a:r>
              <a:t>完整来源标题：行情 GLD</a:t>
            </a:r>
          </a:p>
          <a:p>
            <a:r>
              <a:t>https://query1.finance.yahoo.com/v8/finance/chart/GLD?period1=1598227200&amp;period2=1790726400&amp;interval=1d&amp;events=div%2Csplits&amp;includeAdjustedClose=true</a:t>
            </a:r>
          </a:p>
          <a:p>
            <a:r>
              <a:t>完整来源标题：行情 BTC-USD</a:t>
            </a:r>
          </a:p>
          <a:p>
            <a:r>
              <a:t>https://query1.finance.yahoo.com/v8/finance/chart/BTC-USD?period1=1598227200&amp;period2=1790726400&amp;interval=1d&amp;events=div%2Csplits&amp;includeAdjustedClose=true</a:t>
            </a:r>
          </a:p>
          <a:p>
            <a:r>
              <a:t>完整来源标题：行情 SPY</a:t>
            </a:r>
          </a:p>
          <a:p>
            <a:r>
              <a:t>https://query1.finance.yahoo.com/v8/finance/chart/SPY?period1=1598227200&amp;period2=1790726400&amp;interval=1d&amp;events=div%2Csplits&amp;includeAdjustedClose=true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query1.finance.yahoo.com/v8/finance/chart/GLD?period1=1598227200&amp;period2=1790726400&amp;interval=1d&amp;events=div%2Csplits&amp;includeAdjustedClose=true" TargetMode="External"/><Relationship Id="rId3" Type="http://schemas.openxmlformats.org/officeDocument/2006/relationships/hyperlink" Target="https://query1.finance.yahoo.com/v8/finance/chart/BTC-USD?period1=1598227200&amp;period2=1790726400&amp;interval=1d&amp;events=div%2Csplits&amp;includeAdjustedClose=true" TargetMode="External"/><Relationship Id="rId4" Type="http://schemas.openxmlformats.org/officeDocument/2006/relationships/hyperlink" Target="https://query1.finance.yahoo.com/v8/finance/chart/SPY?period1=1598227200&amp;period2=1790726400&amp;interval=1d&amp;events=div%2Csplits&amp;includeAdjustedClose=true" TargetMode="External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query1.finance.yahoo.com/v8/finance/chart/GLD?period1=1598227200&amp;period2=1790726400&amp;interval=1d&amp;events=div%2Csplits&amp;includeAdjustedClose=true" TargetMode="External"/><Relationship Id="rId3" Type="http://schemas.openxmlformats.org/officeDocument/2006/relationships/hyperlink" Target="https://query1.finance.yahoo.com/v8/finance/chart/BTC-USD?period1=1598227200&amp;period2=1790726400&amp;interval=1d&amp;events=div%2Csplits&amp;includeAdjustedClose=true" TargetMode="External"/><Relationship Id="rId4" Type="http://schemas.openxmlformats.org/officeDocument/2006/relationships/hyperlink" Target="https://query1.finance.yahoo.com/v8/finance/chart/SPY?period1=1598227200&amp;period2=1790726400&amp;interval=1d&amp;events=div%2Csplits&amp;includeAdjustedClose=true" TargetMode="External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query1.finance.yahoo.com/v8/finance/chart/GLD?period1=1598227200&amp;period2=1790726400&amp;interval=1d&amp;events=div%2Csplits&amp;includeAdjustedClose=true" TargetMode="External"/><Relationship Id="rId3" Type="http://schemas.openxmlformats.org/officeDocument/2006/relationships/hyperlink" Target="https://query1.finance.yahoo.com/v8/finance/chart/BTC-USD?period1=1598227200&amp;period2=1790726400&amp;interval=1d&amp;events=div%2Csplits&amp;includeAdjustedClose=true" TargetMode="External"/><Relationship Id="rId4" Type="http://schemas.openxmlformats.org/officeDocument/2006/relationships/hyperlink" Target="https://query1.finance.yahoo.com/v8/finance/chart/SPY?period1=1598227200&amp;period2=1790726400&amp;interval=1d&amp;events=div%2Csplits&amp;includeAdjustedClose=true" TargetMode="External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query1.finance.yahoo.com/v8/finance/chart/GLD?period1=1598227200&amp;period2=1790726400&amp;interval=1d&amp;events=div%2Csplits&amp;includeAdjustedClose=true" TargetMode="External"/><Relationship Id="rId3" Type="http://schemas.openxmlformats.org/officeDocument/2006/relationships/hyperlink" Target="https://query1.finance.yahoo.com/v8/finance/chart/BTC-USD?period1=1598227200&amp;period2=1790726400&amp;interval=1d&amp;events=div%2Csplits&amp;includeAdjustedClose=true" TargetMode="External"/><Relationship Id="rId4" Type="http://schemas.openxmlformats.org/officeDocument/2006/relationships/hyperlink" Target="https://query1.finance.yahoo.com/v8/finance/chart/SPY?period1=1598227200&amp;period2=1790726400&amp;interval=1d&amp;events=div%2Csplits&amp;includeAdjustedClose=true" TargetMode="External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query1.finance.yahoo.com/v8/finance/chart/GLD?period1=1598227200&amp;period2=1790726400&amp;interval=1d&amp;events=div%2Csplits&amp;includeAdjustedClose=true" TargetMode="External"/><Relationship Id="rId3" Type="http://schemas.openxmlformats.org/officeDocument/2006/relationships/hyperlink" Target="https://query1.finance.yahoo.com/v8/finance/chart/BTC-USD?period1=1598227200&amp;period2=1790726400&amp;interval=1d&amp;events=div%2Csplits&amp;includeAdjustedClose=true" TargetMode="External"/><Relationship Id="rId4" Type="http://schemas.openxmlformats.org/officeDocument/2006/relationships/hyperlink" Target="https://query1.finance.yahoo.com/v8/finance/chart/SPY?period1=1598227200&amp;period2=1790726400&amp;interval=1d&amp;events=div%2Csplits&amp;includeAdjustedClose=true" TargetMode="External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query1.finance.yahoo.com/v8/finance/chart/GLD?period1=1598227200&amp;period2=1790726400&amp;interval=1d&amp;events=div%2Csplits&amp;includeAdjustedClose=true" TargetMode="External"/><Relationship Id="rId3" Type="http://schemas.openxmlformats.org/officeDocument/2006/relationships/hyperlink" Target="https://query1.finance.yahoo.com/v8/finance/chart/BTC-USD?period1=1598227200&amp;period2=1790726400&amp;interval=1d&amp;events=div%2Csplits&amp;includeAdjustedClose=true" TargetMode="External"/><Relationship Id="rId4" Type="http://schemas.openxmlformats.org/officeDocument/2006/relationships/hyperlink" Target="https://query1.finance.yahoo.com/v8/finance/chart/SPY?period1=1598227200&amp;period2=1790726400&amp;interval=1d&amp;events=div%2Csplits&amp;includeAdjustedClose=true" TargetMode="External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query1.finance.yahoo.com/v8/finance/chart/GLD?period1=1598227200&amp;period2=1790726400&amp;interval=1d&amp;events=div%2Csplits&amp;includeAdjustedClose=true" TargetMode="External"/><Relationship Id="rId3" Type="http://schemas.openxmlformats.org/officeDocument/2006/relationships/hyperlink" Target="https://query1.finance.yahoo.com/v8/finance/chart/BTC-USD?period1=1598227200&amp;period2=1790726400&amp;interval=1d&amp;events=div%2Csplits&amp;includeAdjustedClose=true" TargetMode="External"/><Relationship Id="rId4" Type="http://schemas.openxmlformats.org/officeDocument/2006/relationships/hyperlink" Target="https://query1.finance.yahoo.com/v8/finance/chart/SPY?period1=1598227200&amp;period2=1790726400&amp;interval=1d&amp;events=div%2Csplits&amp;includeAdjustedClose=true" TargetMode="External"/><Relationship Id="rId5" Type="http://schemas.openxmlformats.org/officeDocument/2006/relationships/notesSlide" Target="../notesSlides/notesSlide7.xml"/><Relationship Id="rId6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query1.finance.yahoo.com/v8/finance/chart/GLD?period1=1598227200&amp;period2=1790726400&amp;interval=1d&amp;events=div%2Csplits&amp;includeAdjustedClose=true" TargetMode="External"/><Relationship Id="rId3" Type="http://schemas.openxmlformats.org/officeDocument/2006/relationships/hyperlink" Target="https://query1.finance.yahoo.com/v8/finance/chart/BTC-USD?period1=1598227200&amp;period2=1790726400&amp;interval=1d&amp;events=div%2Csplits&amp;includeAdjustedClose=true" TargetMode="External"/><Relationship Id="rId4" Type="http://schemas.openxmlformats.org/officeDocument/2006/relationships/hyperlink" Target="https://query1.finance.yahoo.com/v8/finance/chart/SPY?period1=1598227200&amp;period2=1790726400&amp;interval=1d&amp;events=div%2Csplits&amp;includeAdjustedClose=true" TargetMode="External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fred.stlouisfed.org/series/CPIAUCNS" TargetMode="External"/><Relationship Id="rId3" Type="http://schemas.openxmlformats.org/officeDocument/2006/relationships/hyperlink" Target="https://query1.finance.yahoo.com/v8/finance/chart/GLD?period1=1598227200&amp;period2=1790726400&amp;interval=1d&amp;events=div%2Csplits&amp;includeAdjustedClose=true" TargetMode="External"/><Relationship Id="rId4" Type="http://schemas.openxmlformats.org/officeDocument/2006/relationships/hyperlink" Target="https://query1.finance.yahoo.com/v8/finance/chart/BTC-USD?period1=1598227200&amp;period2=1790726400&amp;interval=1d&amp;events=div%2Csplits&amp;includeAdjustedClose=true" TargetMode="External"/><Relationship Id="rId5" Type="http://schemas.openxmlformats.org/officeDocument/2006/relationships/hyperlink" Target="https://query1.finance.yahoo.com/v8/finance/chart/SPY?period1=1598227200&amp;period2=1790726400&amp;interval=1d&amp;events=div%2Csplits&amp;includeAdjustedClose=true" TargetMode="External"/><Relationship Id="rId6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query1.finance.yahoo.com/v8/finance/chart/GLD?period1=1598227200&amp;period2=1790726400&amp;interval=1d&amp;events=div%2Csplits&amp;includeAdjustedClose=true" TargetMode="External"/><Relationship Id="rId3" Type="http://schemas.openxmlformats.org/officeDocument/2006/relationships/hyperlink" Target="https://query1.finance.yahoo.com/v8/finance/chart/BTC-USD?period1=1598227200&amp;period2=1790726400&amp;interval=1d&amp;events=div%2Csplits&amp;includeAdjustedClose=true" TargetMode="External"/><Relationship Id="rId4" Type="http://schemas.openxmlformats.org/officeDocument/2006/relationships/hyperlink" Target="https://query1.finance.yahoo.com/v8/finance/chart/SPY?period1=1598227200&amp;period2=1790726400&amp;interval=1d&amp;events=div%2Csplits&amp;includeAdjustedClose=true" TargetMode="External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query1.finance.yahoo.com/v8/finance/chart/GLD?period1=1598227200&amp;period2=1790726400&amp;interval=1d&amp;events=div%2Csplits&amp;includeAdjustedClose=true" TargetMode="External"/><Relationship Id="rId3" Type="http://schemas.openxmlformats.org/officeDocument/2006/relationships/hyperlink" Target="https://query1.finance.yahoo.com/v8/finance/chart/BTC-USD?period1=1598227200&amp;period2=1790726400&amp;interval=1d&amp;events=div%2Csplits&amp;includeAdjustedClose=true" TargetMode="External"/><Relationship Id="rId4" Type="http://schemas.openxmlformats.org/officeDocument/2006/relationships/hyperlink" Target="https://query1.finance.yahoo.com/v8/finance/chart/SPY?period1=1598227200&amp;period2=1790726400&amp;interval=1d&amp;events=div%2Csplits&amp;includeAdjustedClose=true" TargetMode="External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query1.finance.yahoo.com/v8/finance/chart/GLD?period1=1598227200&amp;period2=1790726400&amp;interval=1d&amp;events=div%2Csplits&amp;includeAdjustedClose=true" TargetMode="External"/><Relationship Id="rId3" Type="http://schemas.openxmlformats.org/officeDocument/2006/relationships/hyperlink" Target="https://query1.finance.yahoo.com/v8/finance/chart/BTC-USD?period1=1598227200&amp;period2=1790726400&amp;interval=1d&amp;events=div%2Csplits&amp;includeAdjustedClose=true" TargetMode="External"/><Relationship Id="rId4" Type="http://schemas.openxmlformats.org/officeDocument/2006/relationships/hyperlink" Target="https://query1.finance.yahoo.com/v8/finance/chart/SPY?period1=1598227200&amp;period2=1790726400&amp;interval=1d&amp;events=div%2Csplits&amp;includeAdjustedClose=true" TargetMode="External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query1.finance.yahoo.com/v8/finance/chart/GLD?period1=1598227200&amp;period2=1790726400&amp;interval=1d&amp;events=div%2Csplits&amp;includeAdjustedClose=true" TargetMode="External"/><Relationship Id="rId3" Type="http://schemas.openxmlformats.org/officeDocument/2006/relationships/hyperlink" Target="https://query1.finance.yahoo.com/v8/finance/chart/BTC-USD?period1=1598227200&amp;period2=1790726400&amp;interval=1d&amp;events=div%2Csplits&amp;includeAdjustedClose=true" TargetMode="External"/><Relationship Id="rId4" Type="http://schemas.openxmlformats.org/officeDocument/2006/relationships/hyperlink" Target="https://query1.finance.yahoo.com/v8/finance/chart/SPY?period1=1598227200&amp;period2=1790726400&amp;interval=1d&amp;events=div%2Csplits&amp;includeAdjustedClose=true" TargetMode="External"/><Relationship Id="rId5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query1.finance.yahoo.com/v8/finance/chart/GLD?period1=1598227200&amp;period2=1790726400&amp;interval=1d&amp;events=div%2Csplits&amp;includeAdjustedClose=true" TargetMode="External"/><Relationship Id="rId3" Type="http://schemas.openxmlformats.org/officeDocument/2006/relationships/hyperlink" Target="https://query1.finance.yahoo.com/v8/finance/chart/BTC-USD?period1=1598227200&amp;period2=1790726400&amp;interval=1d&amp;events=div%2Csplits&amp;includeAdjustedClose=true" TargetMode="External"/><Relationship Id="rId4" Type="http://schemas.openxmlformats.org/officeDocument/2006/relationships/hyperlink" Target="https://query1.finance.yahoo.com/v8/finance/chart/SPY?period1=1598227200&amp;period2=1790726400&amp;interval=1d&amp;events=div%2Csplits&amp;includeAdjustedClose=true" TargetMode="External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query1.finance.yahoo.com/v8/finance/chart/GLD?period1=1598227200&amp;period2=1790726400&amp;interval=1d&amp;events=div%2Csplits&amp;includeAdjustedClose=true" TargetMode="External"/><Relationship Id="rId3" Type="http://schemas.openxmlformats.org/officeDocument/2006/relationships/hyperlink" Target="https://query1.finance.yahoo.com/v8/finance/chart/BTC-USD?period1=1598227200&amp;period2=1790726400&amp;interval=1d&amp;events=div%2Csplits&amp;includeAdjustedClose=true" TargetMode="External"/><Relationship Id="rId4" Type="http://schemas.openxmlformats.org/officeDocument/2006/relationships/hyperlink" Target="https://query1.finance.yahoo.com/v8/finance/chart/SPY?period1=1598227200&amp;period2=1790726400&amp;interval=1d&amp;events=div%2Csplits&amp;includeAdjustedClose=true" TargetMode="External"/><Relationship Id="rId5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query1.finance.yahoo.com/v8/finance/chart/GLD?period1=1598227200&amp;period2=1790726400&amp;interval=1d&amp;events=div%2Csplits&amp;includeAdjustedClose=true" TargetMode="External"/><Relationship Id="rId3" Type="http://schemas.openxmlformats.org/officeDocument/2006/relationships/hyperlink" Target="https://query1.finance.yahoo.com/v8/finance/chart/BTC-USD?period1=1598227200&amp;period2=1790726400&amp;interval=1d&amp;events=div%2Csplits&amp;includeAdjustedClose=true" TargetMode="External"/><Relationship Id="rId4" Type="http://schemas.openxmlformats.org/officeDocument/2006/relationships/hyperlink" Target="https://query1.finance.yahoo.com/v8/finance/chart/SPY?period1=1598227200&amp;period2=1790726400&amp;interval=1d&amp;events=div%2Csplits&amp;includeAdjustedClose=true" TargetMode="External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query1.finance.yahoo.com/v8/finance/chart/GLD?period1=1598227200&amp;period2=1790726400&amp;interval=1d&amp;events=div%2Csplits&amp;includeAdjustedClose=true" TargetMode="External"/><Relationship Id="rId3" Type="http://schemas.openxmlformats.org/officeDocument/2006/relationships/hyperlink" Target="https://query1.finance.yahoo.com/v8/finance/chart/BTC-USD?period1=1598227200&amp;period2=1790726400&amp;interval=1d&amp;events=div%2Csplits&amp;includeAdjustedClose=true" TargetMode="External"/><Relationship Id="rId4" Type="http://schemas.openxmlformats.org/officeDocument/2006/relationships/hyperlink" Target="https://query1.finance.yahoo.com/v8/finance/chart/SPY?period1=1598227200&amp;period2=1790726400&amp;interval=1d&amp;events=div%2Csplits&amp;includeAdjustedClose=true" TargetMode="External"/><Relationship Id="rId5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query1.finance.yahoo.com/v8/finance/chart/GLD?period1=1598227200&amp;period2=1790726400&amp;interval=1d&amp;events=div%2Csplits&amp;includeAdjustedClose=true" TargetMode="External"/><Relationship Id="rId3" Type="http://schemas.openxmlformats.org/officeDocument/2006/relationships/hyperlink" Target="https://query1.finance.yahoo.com/v8/finance/chart/BTC-USD?period1=1598227200&amp;period2=1790726400&amp;interval=1d&amp;events=div%2Csplits&amp;includeAdjustedClose=true" TargetMode="External"/><Relationship Id="rId4" Type="http://schemas.openxmlformats.org/officeDocument/2006/relationships/hyperlink" Target="https://query1.finance.yahoo.com/v8/finance/chart/SPY?period1=1598227200&amp;period2=1790726400&amp;interval=1d&amp;events=div%2Csplits&amp;includeAdjustedClose=true" TargetMode="External"/><Relationship Id="rId5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federalreserve.gov/newsevents/pressreleases/monetary20220615a.htm" TargetMode="External"/><Relationship Id="rId3" Type="http://schemas.openxmlformats.org/officeDocument/2006/relationships/hyperlink" Target="https://www.cnbc.com/2022/06/15/fed-hikes-its-benchmark-interest-rate-by-three-quarters-of-a-point-the-biggest-increase-since-1994.html" TargetMode="External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federalreserve.gov/newsevents/pressreleases/monetary20220615a.htm" TargetMode="External"/><Relationship Id="rId3" Type="http://schemas.openxmlformats.org/officeDocument/2006/relationships/hyperlink" Target="https://www.cnbc.com/2022/06/15/fed-hikes-its-benchmark-interest-rate-by-three-quarters-of-a-point-the-biggest-increase-since-1994.html" TargetMode="External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cnbc.com/2022/06/13/bitcoin-btc-falls-as-market-focuses-on-celsius-issue-fed-rate-hike.html" TargetMode="External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cnbc.com/2022/05/13/cryptocurrency-luna-crashes-to-0-as-ust-falls-from-peg-bitcoin-rises.html" TargetMode="External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federalreserve.gov/newsevents/pressreleases/monetary20220921a.htm" TargetMode="External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federalreserve.gov/newsevents/pressreleases/monetary20220921a.htm" TargetMode="External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ecrypt.co/202840/bitcoin-31000-spot-btc-etf-optimism" TargetMode="External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cnbc.com/2024/01/10/sec-approves-rule-changes-that-pave-the-way-for-bitcoin-etfs.html" TargetMode="External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cnbc.com/2026/01/30/silver-gold-fall-price-usd-dollar-fed-warsh-chair-trump-metals.html" TargetMode="External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cnbc.com/2026/02/02/bitcoin-btc-price-today-cryptocurrency.html" TargetMode="External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cnbc.com/2026/02/05/bitcoin-price-today-70000-in-focus.html" TargetMode="External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cnbc.com/2026/02/05/bitcoin-price-today-70000-in-focus.html" TargetMode="External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cnbc.com/2025/03/02/trump-announces-strategic-crypto-reserve-including-bitcoin-solana-xrp-and-more.html" TargetMode="External"/><Relationship Id="rId3" Type="http://schemas.openxmlformats.org/officeDocument/2006/relationships/hyperlink" Target="https://www.npr.org/2025/03/04/g-s1-51748/trump-crypto-reserve-bitcoin-stockpile-ether" TargetMode="External"/><Relationship Id="rId4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spdrgoldshares.com/usa/gld/" TargetMode="External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query1.finance.yahoo.com/v8/finance/chart/GLD?period1=1598227200&amp;period2=1790726400&amp;interval=1d&amp;events=div%2Csplits&amp;includeAdjustedClose=true" TargetMode="External"/><Relationship Id="rId3" Type="http://schemas.openxmlformats.org/officeDocument/2006/relationships/hyperlink" Target="https://query1.finance.yahoo.com/v8/finance/chart/BTC-USD?period1=1598227200&amp;period2=1790726400&amp;interval=1d&amp;events=div%2Csplits&amp;includeAdjustedClose=true" TargetMode="External"/><Relationship Id="rId4" Type="http://schemas.openxmlformats.org/officeDocument/2006/relationships/hyperlink" Target="https://query1.finance.yahoo.com/v8/finance/chart/SPY?period1=1598227200&amp;period2=1790726400&amp;interval=1d&amp;events=div%2Csplits&amp;includeAdjustedClose=true" TargetMode="External"/><Relationship Id="rId5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query1.finance.yahoo.com/v8/finance/chart/GLD?period1=1598227200&amp;period2=1790726400&amp;interval=1d&amp;events=div%2Csplits&amp;includeAdjustedClose=true" TargetMode="External"/><Relationship Id="rId3" Type="http://schemas.openxmlformats.org/officeDocument/2006/relationships/hyperlink" Target="https://query1.finance.yahoo.com/v8/finance/chart/BTC-USD?period1=1598227200&amp;period2=1790726400&amp;interval=1d&amp;events=div%2Csplits&amp;includeAdjustedClose=true" TargetMode="External"/><Relationship Id="rId4" Type="http://schemas.openxmlformats.org/officeDocument/2006/relationships/hyperlink" Target="https://query1.finance.yahoo.com/v8/finance/chart/SPY?period1=1598227200&amp;period2=1790726400&amp;interval=1d&amp;events=div%2Csplits&amp;includeAdjustedClose=true" TargetMode="External"/><Relationship Id="rId5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query1.finance.yahoo.com/v8/finance/chart/GLD?period1=1598227200&amp;period2=1790726400&amp;interval=1d&amp;events=div%2Csplits&amp;includeAdjustedClose=true" TargetMode="External"/><Relationship Id="rId3" Type="http://schemas.openxmlformats.org/officeDocument/2006/relationships/hyperlink" Target="https://query1.finance.yahoo.com/v8/finance/chart/BTC-USD?period1=1598227200&amp;period2=1790726400&amp;interval=1d&amp;events=div%2Csplits&amp;includeAdjustedClose=true" TargetMode="External"/><Relationship Id="rId4" Type="http://schemas.openxmlformats.org/officeDocument/2006/relationships/hyperlink" Target="https://query1.finance.yahoo.com/v8/finance/chart/SPY?period1=1598227200&amp;period2=1790726400&amp;interval=1d&amp;events=div%2Csplits&amp;includeAdjustedClose=true" TargetMode="External"/><Relationship Id="rId5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query1.finance.yahoo.com/v8/finance/chart/GLD?period1=1598227200&amp;period2=1790726400&amp;interval=1d&amp;events=div%2Csplits&amp;includeAdjustedClose=true" TargetMode="External"/><Relationship Id="rId3" Type="http://schemas.openxmlformats.org/officeDocument/2006/relationships/hyperlink" Target="https://query1.finance.yahoo.com/v8/finance/chart/BTC-USD?period1=1598227200&amp;period2=1790726400&amp;interval=1d&amp;events=div%2Csplits&amp;includeAdjustedClose=true" TargetMode="External"/><Relationship Id="rId4" Type="http://schemas.openxmlformats.org/officeDocument/2006/relationships/hyperlink" Target="https://query1.finance.yahoo.com/v8/finance/chart/SPY?period1=1598227200&amp;period2=1790726400&amp;interval=1d&amp;events=div%2Csplits&amp;includeAdjustedClose=true" TargetMode="External"/><Relationship Id="rId5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federalreserve.gov/newsevents/pressreleases/monetary20220615a.htm" TargetMode="External"/><Relationship Id="rId3" Type="http://schemas.openxmlformats.org/officeDocument/2006/relationships/hyperlink" Target="https://www.federalreserve.gov/newsevents/pressreleases/monetary20220921a.htm" TargetMode="External"/><Relationship Id="rId4" Type="http://schemas.openxmlformats.org/officeDocument/2006/relationships/hyperlink" Target="https://www.cnbc.com/2022/05/13/cryptocurrency-luna-crashes-to-0-as-ust-falls-from-peg-bitcoin-rises.html" TargetMode="External"/><Relationship Id="rId5" Type="http://schemas.openxmlformats.org/officeDocument/2006/relationships/hyperlink" Target="https://www.cnbc.com/2025/03/02/trump-announces-strategic-crypto-reserve-including-bitcoin-solana-xrp-and-more.html" TargetMode="External"/><Relationship Id="rId6" Type="http://schemas.openxmlformats.org/officeDocument/2006/relationships/notesSlide" Target="../notesSlides/notesSlide37.xml"/><Relationship Id="rId7" Type="http://schemas.openxmlformats.org/officeDocument/2006/relationships/hyperlink" Target="https://decrypt.co/202840/bitcoin-31000-spot-btc-etf-optimism" TargetMode="External"/><Relationship Id="rId8" Type="http://schemas.openxmlformats.org/officeDocument/2006/relationships/hyperlink" Target="https://www.spdrgoldshares.com/usa/gld/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cnbc.com/2026/02/05/bitcoin-price-today-70000-in-focus.html" TargetMode="External"/><Relationship Id="rId3" Type="http://schemas.openxmlformats.org/officeDocument/2006/relationships/hyperlink" Target="https://www.cnbc.com/2024/01/10/sec-approves-rule-changes-that-pave-the-way-for-bitcoin-etfs.html" TargetMode="External"/><Relationship Id="rId4" Type="http://schemas.openxmlformats.org/officeDocument/2006/relationships/hyperlink" Target="https://www.cnbc.com/2026/02/02/bitcoin-btc-price-today-cryptocurrency.html" TargetMode="External"/><Relationship Id="rId5" Type="http://schemas.openxmlformats.org/officeDocument/2006/relationships/hyperlink" Target="https://www.npr.org/2025/03/04/g-s1-51748/trump-crypto-reserve-bitcoin-stockpile-ether" TargetMode="External"/><Relationship Id="rId6" Type="http://schemas.openxmlformats.org/officeDocument/2006/relationships/notesSlide" Target="../notesSlides/notesSlide38.xml"/><Relationship Id="rId7" Type="http://schemas.openxmlformats.org/officeDocument/2006/relationships/hyperlink" Target="https://www.cnbc.com/2026/01/30/silver-gold-fall-price-usd-dollar-fed-warsh-chair-trump-metals.html" TargetMode="External"/><Relationship Id="rId8" Type="http://schemas.openxmlformats.org/officeDocument/2006/relationships/hyperlink" Target="https://www.cnbc.com/2022/06/15/fed-hikes-its-benchmark-interest-rate-by-three-quarters-of-a-point-the-biggest-increase-since-1994.html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cnbc.com/2022/06/13/bitcoin-btc-falls-as-market-focuses-on-celsius-issue-fed-rate-hike.html" TargetMode="External"/><Relationship Id="rId3" Type="http://schemas.openxmlformats.org/officeDocument/2006/relationships/hyperlink" Target="https://fred.stlouisfed.org/series/CPIAUCNS" TargetMode="External"/><Relationship Id="rId4" Type="http://schemas.openxmlformats.org/officeDocument/2006/relationships/hyperlink" Target="https://fred.stlouisfed.org/series/DGS3MO" TargetMode="External"/><Relationship Id="rId5" Type="http://schemas.openxmlformats.org/officeDocument/2006/relationships/hyperlink" Target="https://query1.finance.yahoo.com/v8/finance/chart/GLD?period1=1598227200&amp;period2=1790726400&amp;interval=1d&amp;events=div%2Csplits&amp;includeAdjustedClose=true" TargetMode="External"/><Relationship Id="rId6" Type="http://schemas.openxmlformats.org/officeDocument/2006/relationships/notesSlide" Target="../notesSlides/notesSlide39.xml"/><Relationship Id="rId7" Type="http://schemas.openxmlformats.org/officeDocument/2006/relationships/hyperlink" Target="https://query1.finance.yahoo.com/v8/finance/chart/BTC-USD?period1=1598227200&amp;period2=1790726400&amp;interval=1d&amp;events=div%2Csplits&amp;includeAdjustedClose=true" TargetMode="External"/><Relationship Id="rId8" Type="http://schemas.openxmlformats.org/officeDocument/2006/relationships/hyperlink" Target="https://query1.finance.yahoo.com/v8/finance/chart/SPY?period1=1598227200&amp;period2=1790726400&amp;interval=1d&amp;events=div%2Csplits&amp;includeAdjustedClose=true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ledger-rule"/>
          <p:cNvCxnSpPr/>
          <p:nvPr/>
        </p:nvCxnSpPr>
        <p:spPr>
          <a:xfrm>
            <a:off x="609904" y="6199632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3" name="ledger-text"/>
          <p:cNvSpPr txBox="1"/>
          <p:nvPr/>
        </p:nvSpPr>
        <p:spPr>
          <a:xfrm>
            <a:off x="609904" y="6345936"/>
            <a:ext cx="457200" cy="2052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Microsoft YaHei"/>
                <a:ea typeface="Microsoft YaHei"/>
              </a:rPr>
              <a:t>来源</a:t>
            </a:r>
          </a:p>
        </p:txBody>
      </p:sp>
      <p:sp>
        <p:nvSpPr>
          <p:cNvPr id="4" name="ledger-text"/>
          <p:cNvSpPr txBox="1"/>
          <p:nvPr/>
        </p:nvSpPr>
        <p:spPr>
          <a:xfrm>
            <a:off x="1078992" y="6327648"/>
            <a:ext cx="64008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2"/>
              </a:rPr>
              <a:t>GLD</a:t>
            </a:r>
          </a:p>
        </p:txBody>
      </p:sp>
      <p:sp>
        <p:nvSpPr>
          <p:cNvPr id="5" name="ledger-text"/>
          <p:cNvSpPr txBox="1"/>
          <p:nvPr/>
        </p:nvSpPr>
        <p:spPr>
          <a:xfrm>
            <a:off x="1874519" y="6327648"/>
            <a:ext cx="665683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3"/>
              </a:rPr>
              <a:t>BTC-USD</a:t>
            </a:r>
          </a:p>
        </p:txBody>
      </p:sp>
      <p:sp>
        <p:nvSpPr>
          <p:cNvPr id="6" name="ledger-text"/>
          <p:cNvSpPr txBox="1"/>
          <p:nvPr/>
        </p:nvSpPr>
        <p:spPr>
          <a:xfrm>
            <a:off x="2695651" y="6327648"/>
            <a:ext cx="64008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4"/>
              </a:rPr>
              <a:t>SPY</a:t>
            </a:r>
          </a:p>
        </p:txBody>
      </p:sp>
      <p:sp>
        <p:nvSpPr>
          <p:cNvPr id="7" name="ledger-text"/>
          <p:cNvSpPr txBox="1"/>
          <p:nvPr/>
        </p:nvSpPr>
        <p:spPr>
          <a:xfrm>
            <a:off x="11045952" y="6327648"/>
            <a:ext cx="50292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1539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Consolas"/>
                <a:ea typeface="Microsoft YaHei"/>
              </a:rPr>
              <a:t>01</a:t>
            </a:r>
          </a:p>
        </p:txBody>
      </p:sp>
      <p:sp>
        <p:nvSpPr>
          <p:cNvPr id="8" name="ledger-text"/>
          <p:cNvSpPr txBox="1"/>
          <p:nvPr/>
        </p:nvSpPr>
        <p:spPr>
          <a:xfrm>
            <a:off x="609904" y="640080"/>
            <a:ext cx="9144000" cy="3657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959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</a:rPr>
              <a:t>EVIDENCE  /  研究决策稿</a:t>
            </a:r>
          </a:p>
        </p:txBody>
      </p:sp>
      <p:sp>
        <p:nvSpPr>
          <p:cNvPr id="9" name="ledger-text"/>
          <p:cNvSpPr txBox="1"/>
          <p:nvPr/>
        </p:nvSpPr>
        <p:spPr>
          <a:xfrm>
            <a:off x="609904" y="1353312"/>
            <a:ext cx="10972800" cy="22402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6299"/>
              </a:lnSpc>
              <a:spcBef>
                <a:spcPts val="0"/>
              </a:spcBef>
              <a:spcAft>
                <a:spcPts val="0"/>
              </a:spcAft>
            </a:pPr>
            <a:r>
              <a:rPr sz="4500" b="1">
                <a:solidFill>
                  <a:srgbClr val="1E293B"/>
                </a:solidFill>
                <a:latin typeface="Microsoft YaHei"/>
                <a:ea typeface="Microsoft YaHei"/>
              </a:rPr>
              <a:t>黄金与比特币</a:t>
            </a:r>
          </a:p>
          <a:p>
            <a:pPr algn="l">
              <a:lnSpc>
                <a:spcPts val="6299"/>
              </a:lnSpc>
              <a:spcBef>
                <a:spcPts val="0"/>
              </a:spcBef>
              <a:spcAft>
                <a:spcPts val="0"/>
              </a:spcAft>
            </a:pPr>
            <a:r>
              <a:rPr sz="4500" b="1">
                <a:solidFill>
                  <a:srgbClr val="1E293B"/>
                </a:solidFill>
                <a:latin typeface="Microsoft YaHei"/>
                <a:ea typeface="Microsoft YaHei"/>
              </a:rPr>
              <a:t>避险与抗通胀比较</a:t>
            </a:r>
          </a:p>
        </p:txBody>
      </p:sp>
      <p:cxnSp>
        <p:nvCxnSpPr>
          <p:cNvPr id="10" name="ledger-rule"/>
          <p:cNvCxnSpPr/>
          <p:nvPr/>
        </p:nvCxnSpPr>
        <p:spPr>
          <a:xfrm>
            <a:off x="609904" y="3657600"/>
            <a:ext cx="10972800" cy="0"/>
          </a:xfrm>
          <a:prstGeom prst="line">
            <a:avLst/>
          </a:prstGeom>
          <a:ln w="20320">
            <a:solidFill>
              <a:srgbClr val="1E293B"/>
            </a:solidFill>
          </a:ln>
          <a:effectLst/>
        </p:spPr>
      </p:cxnSp>
      <p:sp>
        <p:nvSpPr>
          <p:cNvPr id="11" name="ledger-text"/>
          <p:cNvSpPr txBox="1"/>
          <p:nvPr/>
        </p:nvSpPr>
        <p:spPr>
          <a:xfrm>
            <a:off x="609904" y="3840480"/>
            <a:ext cx="10972800" cy="3200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959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</a:rPr>
              <a:t>2021-09-28 至 2026-09-29</a:t>
            </a:r>
          </a:p>
        </p:txBody>
      </p:sp>
      <p:sp>
        <p:nvSpPr>
          <p:cNvPr id="12" name="ledger-text"/>
          <p:cNvSpPr txBox="1"/>
          <p:nvPr/>
        </p:nvSpPr>
        <p:spPr>
          <a:xfrm>
            <a:off x="609904" y="4443984"/>
            <a:ext cx="3337560" cy="3200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4748B"/>
                </a:solidFill>
                <a:latin typeface="Microsoft YaHei"/>
                <a:ea typeface="Microsoft YaHei"/>
              </a:rPr>
              <a:t>GLD  累计收益</a:t>
            </a:r>
          </a:p>
        </p:txBody>
      </p:sp>
      <p:sp>
        <p:nvSpPr>
          <p:cNvPr id="13" name="ledger-text"/>
          <p:cNvSpPr txBox="1"/>
          <p:nvPr/>
        </p:nvSpPr>
        <p:spPr>
          <a:xfrm>
            <a:off x="609904" y="4818888"/>
            <a:ext cx="3337560" cy="79197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6020"/>
              </a:lnSpc>
              <a:spcBef>
                <a:spcPts val="0"/>
              </a:spcBef>
              <a:spcAft>
                <a:spcPts val="0"/>
              </a:spcAft>
            </a:pPr>
            <a:r>
              <a:rPr sz="4300" b="1">
                <a:solidFill>
                  <a:srgbClr val="2B6CB0"/>
                </a:solidFill>
                <a:latin typeface="Consolas"/>
                <a:ea typeface="Microsoft YaHei"/>
              </a:rPr>
              <a:t>+148.7%</a:t>
            </a:r>
          </a:p>
        </p:txBody>
      </p:sp>
      <p:sp>
        <p:nvSpPr>
          <p:cNvPr id="14" name="ledger-text"/>
          <p:cNvSpPr txBox="1"/>
          <p:nvPr/>
        </p:nvSpPr>
        <p:spPr>
          <a:xfrm>
            <a:off x="609904" y="5650992"/>
            <a:ext cx="3337560" cy="34747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E293B"/>
                </a:solidFill>
                <a:latin typeface="Microsoft YaHei"/>
                <a:ea typeface="Microsoft YaHei"/>
              </a:rPr>
              <a:t>最大回撤 -23.8%</a:t>
            </a:r>
          </a:p>
        </p:txBody>
      </p:sp>
      <p:sp>
        <p:nvSpPr>
          <p:cNvPr id="15" name="ledger-text"/>
          <p:cNvSpPr txBox="1"/>
          <p:nvPr/>
        </p:nvSpPr>
        <p:spPr>
          <a:xfrm>
            <a:off x="4304080" y="4443984"/>
            <a:ext cx="3337560" cy="3200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4748B"/>
                </a:solidFill>
                <a:latin typeface="Microsoft YaHei"/>
                <a:ea typeface="Microsoft YaHei"/>
              </a:rPr>
              <a:t>BTC-USD  累计收益</a:t>
            </a:r>
          </a:p>
        </p:txBody>
      </p:sp>
      <p:sp>
        <p:nvSpPr>
          <p:cNvPr id="16" name="ledger-text"/>
          <p:cNvSpPr txBox="1"/>
          <p:nvPr/>
        </p:nvSpPr>
        <p:spPr>
          <a:xfrm>
            <a:off x="4304080" y="4818888"/>
            <a:ext cx="3337560" cy="79197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6020"/>
              </a:lnSpc>
              <a:spcBef>
                <a:spcPts val="0"/>
              </a:spcBef>
              <a:spcAft>
                <a:spcPts val="0"/>
              </a:spcAft>
            </a:pPr>
            <a:r>
              <a:rPr sz="4300" b="1">
                <a:solidFill>
                  <a:srgbClr val="2B6CB0"/>
                </a:solidFill>
                <a:latin typeface="Consolas"/>
                <a:ea typeface="Microsoft YaHei"/>
              </a:rPr>
              <a:t>+86.9%</a:t>
            </a:r>
          </a:p>
        </p:txBody>
      </p:sp>
      <p:sp>
        <p:nvSpPr>
          <p:cNvPr id="17" name="ledger-text"/>
          <p:cNvSpPr txBox="1"/>
          <p:nvPr/>
        </p:nvSpPr>
        <p:spPr>
          <a:xfrm>
            <a:off x="4304080" y="5650992"/>
            <a:ext cx="3337560" cy="34747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E293B"/>
                </a:solidFill>
                <a:latin typeface="Microsoft YaHei"/>
                <a:ea typeface="Microsoft YaHei"/>
              </a:rPr>
              <a:t>最大回撤 -72.9%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edger-text"/>
          <p:cNvSpPr txBox="1"/>
          <p:nvPr/>
        </p:nvSpPr>
        <p:spPr>
          <a:xfrm>
            <a:off x="609904" y="457200"/>
            <a:ext cx="10972800" cy="61417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E293B"/>
                </a:solidFill>
                <a:latin typeface="Microsoft YaHei"/>
                <a:ea typeface="Microsoft YaHei"/>
              </a:rPr>
              <a:t>研究主题</a:t>
            </a:r>
          </a:p>
        </p:txBody>
      </p:sp>
      <p:sp>
        <p:nvSpPr>
          <p:cNvPr id="3" name="ledger-text"/>
          <p:cNvSpPr txBox="1"/>
          <p:nvPr/>
        </p:nvSpPr>
        <p:spPr>
          <a:xfrm>
            <a:off x="609904" y="1161288"/>
            <a:ext cx="10972800" cy="4572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959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</a:rPr>
              <a:t/>
            </a:r>
          </a:p>
        </p:txBody>
      </p:sp>
      <p:cxnSp>
        <p:nvCxnSpPr>
          <p:cNvPr id="4" name="ledger-rule"/>
          <p:cNvCxnSpPr/>
          <p:nvPr/>
        </p:nvCxnSpPr>
        <p:spPr>
          <a:xfrm>
            <a:off x="609904" y="1737360"/>
            <a:ext cx="10972800" cy="0"/>
          </a:xfrm>
          <a:prstGeom prst="line">
            <a:avLst/>
          </a:prstGeom>
          <a:ln w="13970">
            <a:solidFill>
              <a:srgbClr val="1E293B"/>
            </a:solidFill>
          </a:ln>
          <a:effectLst/>
        </p:spPr>
      </p:cxnSp>
      <p:cxnSp>
        <p:nvCxnSpPr>
          <p:cNvPr id="5" name="ledger-rule"/>
          <p:cNvCxnSpPr/>
          <p:nvPr/>
        </p:nvCxnSpPr>
        <p:spPr>
          <a:xfrm>
            <a:off x="609904" y="6199632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6" name="ledger-text"/>
          <p:cNvSpPr txBox="1"/>
          <p:nvPr/>
        </p:nvSpPr>
        <p:spPr>
          <a:xfrm>
            <a:off x="609904" y="6345936"/>
            <a:ext cx="457200" cy="2052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Microsoft YaHei"/>
                <a:ea typeface="Microsoft YaHei"/>
              </a:rPr>
              <a:t>来源</a:t>
            </a:r>
          </a:p>
        </p:txBody>
      </p:sp>
      <p:sp>
        <p:nvSpPr>
          <p:cNvPr id="7" name="ledger-text"/>
          <p:cNvSpPr txBox="1"/>
          <p:nvPr/>
        </p:nvSpPr>
        <p:spPr>
          <a:xfrm>
            <a:off x="1078992" y="6327648"/>
            <a:ext cx="64008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2"/>
              </a:rPr>
              <a:t>GLD</a:t>
            </a:r>
          </a:p>
        </p:txBody>
      </p:sp>
      <p:sp>
        <p:nvSpPr>
          <p:cNvPr id="8" name="ledger-text"/>
          <p:cNvSpPr txBox="1"/>
          <p:nvPr/>
        </p:nvSpPr>
        <p:spPr>
          <a:xfrm>
            <a:off x="1874519" y="6327648"/>
            <a:ext cx="665683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3"/>
              </a:rPr>
              <a:t>BTC-USD</a:t>
            </a:r>
          </a:p>
        </p:txBody>
      </p:sp>
      <p:sp>
        <p:nvSpPr>
          <p:cNvPr id="9" name="ledger-text"/>
          <p:cNvSpPr txBox="1"/>
          <p:nvPr/>
        </p:nvSpPr>
        <p:spPr>
          <a:xfrm>
            <a:off x="2695651" y="6327648"/>
            <a:ext cx="64008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4"/>
              </a:rPr>
              <a:t>SPY</a:t>
            </a:r>
          </a:p>
        </p:txBody>
      </p:sp>
      <p:sp>
        <p:nvSpPr>
          <p:cNvPr id="10" name="ledger-text"/>
          <p:cNvSpPr txBox="1"/>
          <p:nvPr/>
        </p:nvSpPr>
        <p:spPr>
          <a:xfrm>
            <a:off x="11045952" y="6327648"/>
            <a:ext cx="50292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1539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Consolas"/>
                <a:ea typeface="Microsoft YaHei"/>
              </a:rPr>
              <a:t>02</a:t>
            </a:r>
          </a:p>
        </p:txBody>
      </p:sp>
      <p:sp>
        <p:nvSpPr>
          <p:cNvPr id="11" name="ledger-text"/>
          <p:cNvSpPr txBox="1"/>
          <p:nvPr/>
        </p:nvSpPr>
        <p:spPr>
          <a:xfrm>
            <a:off x="609904" y="2011680"/>
            <a:ext cx="21945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主题</a:t>
            </a:r>
          </a:p>
        </p:txBody>
      </p:sp>
      <p:sp>
        <p:nvSpPr>
          <p:cNvPr id="12" name="ledger-text"/>
          <p:cNvSpPr txBox="1"/>
          <p:nvPr/>
        </p:nvSpPr>
        <p:spPr>
          <a:xfrm>
            <a:off x="3035808" y="2011680"/>
            <a:ext cx="8229600" cy="74980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黄金 ETF 代理（GLD）与比特币（BTC-USD）近五年避险与抗通胀表现</a:t>
            </a:r>
          </a:p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比较：60/40 组合、季度再平衡</a:t>
            </a:r>
          </a:p>
        </p:txBody>
      </p:sp>
      <p:cxnSp>
        <p:nvCxnSpPr>
          <p:cNvPr id="13" name="ledger-rule"/>
          <p:cNvCxnSpPr/>
          <p:nvPr/>
        </p:nvCxnSpPr>
        <p:spPr>
          <a:xfrm>
            <a:off x="609904" y="2871216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edger-text"/>
          <p:cNvSpPr txBox="1"/>
          <p:nvPr/>
        </p:nvSpPr>
        <p:spPr>
          <a:xfrm>
            <a:off x="609904" y="457200"/>
            <a:ext cx="10972800" cy="61417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E293B"/>
                </a:solidFill>
                <a:latin typeface="Microsoft YaHei"/>
                <a:ea typeface="Microsoft YaHei"/>
              </a:rPr>
              <a:t>收益与风险</a:t>
            </a:r>
          </a:p>
        </p:txBody>
      </p:sp>
      <p:sp>
        <p:nvSpPr>
          <p:cNvPr id="3" name="ledger-text"/>
          <p:cNvSpPr txBox="1"/>
          <p:nvPr/>
        </p:nvSpPr>
        <p:spPr>
          <a:xfrm>
            <a:off x="609904" y="1161288"/>
            <a:ext cx="10972800" cy="4572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959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</a:rPr>
              <a:t>共同月末估值口径；收益与风险均为历史描述。</a:t>
            </a:r>
          </a:p>
        </p:txBody>
      </p:sp>
      <p:cxnSp>
        <p:nvCxnSpPr>
          <p:cNvPr id="4" name="ledger-rule"/>
          <p:cNvCxnSpPr/>
          <p:nvPr/>
        </p:nvCxnSpPr>
        <p:spPr>
          <a:xfrm>
            <a:off x="609904" y="1737360"/>
            <a:ext cx="10972800" cy="0"/>
          </a:xfrm>
          <a:prstGeom prst="line">
            <a:avLst/>
          </a:prstGeom>
          <a:ln w="13970">
            <a:solidFill>
              <a:srgbClr val="1E293B"/>
            </a:solidFill>
          </a:ln>
          <a:effectLst/>
        </p:spPr>
      </p:cxnSp>
      <p:cxnSp>
        <p:nvCxnSpPr>
          <p:cNvPr id="5" name="ledger-rule"/>
          <p:cNvCxnSpPr/>
          <p:nvPr/>
        </p:nvCxnSpPr>
        <p:spPr>
          <a:xfrm>
            <a:off x="609904" y="6199632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6" name="ledger-text"/>
          <p:cNvSpPr txBox="1"/>
          <p:nvPr/>
        </p:nvSpPr>
        <p:spPr>
          <a:xfrm>
            <a:off x="609904" y="6345936"/>
            <a:ext cx="457200" cy="2052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Microsoft YaHei"/>
                <a:ea typeface="Microsoft YaHei"/>
              </a:rPr>
              <a:t>来源</a:t>
            </a:r>
          </a:p>
        </p:txBody>
      </p:sp>
      <p:sp>
        <p:nvSpPr>
          <p:cNvPr id="7" name="ledger-text"/>
          <p:cNvSpPr txBox="1"/>
          <p:nvPr/>
        </p:nvSpPr>
        <p:spPr>
          <a:xfrm>
            <a:off x="1078992" y="6327648"/>
            <a:ext cx="64008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2"/>
              </a:rPr>
              <a:t>GLD</a:t>
            </a:r>
          </a:p>
        </p:txBody>
      </p:sp>
      <p:sp>
        <p:nvSpPr>
          <p:cNvPr id="8" name="ledger-text"/>
          <p:cNvSpPr txBox="1"/>
          <p:nvPr/>
        </p:nvSpPr>
        <p:spPr>
          <a:xfrm>
            <a:off x="1874519" y="6327648"/>
            <a:ext cx="665683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3"/>
              </a:rPr>
              <a:t>BTC-USD</a:t>
            </a:r>
          </a:p>
        </p:txBody>
      </p:sp>
      <p:sp>
        <p:nvSpPr>
          <p:cNvPr id="9" name="ledger-text"/>
          <p:cNvSpPr txBox="1"/>
          <p:nvPr/>
        </p:nvSpPr>
        <p:spPr>
          <a:xfrm>
            <a:off x="2695651" y="6327648"/>
            <a:ext cx="64008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4"/>
              </a:rPr>
              <a:t>SPY</a:t>
            </a:r>
          </a:p>
        </p:txBody>
      </p:sp>
      <p:sp>
        <p:nvSpPr>
          <p:cNvPr id="10" name="ledger-text"/>
          <p:cNvSpPr txBox="1"/>
          <p:nvPr/>
        </p:nvSpPr>
        <p:spPr>
          <a:xfrm>
            <a:off x="11045952" y="6327648"/>
            <a:ext cx="50292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1539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Consolas"/>
                <a:ea typeface="Microsoft YaHei"/>
              </a:rPr>
              <a:t>03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09904" y="2039112"/>
          <a:ext cx="10972800" cy="15636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2286000"/>
                <a:gridCol w="2286000"/>
                <a:gridCol w="2286000"/>
                <a:gridCol w="2286000"/>
              </a:tblGrid>
              <a:tr h="466344"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ts val="22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资产</a:t>
                      </a:r>
                    </a:p>
                  </a:txBody>
                  <a:tcPr marL="109728" marR="109728" marT="64008" marB="64008" anchor="ctr">
                    <a:solidFill>
                      <a:srgbClr val="1E293B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2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累计收益</a:t>
                      </a:r>
                    </a:p>
                  </a:txBody>
                  <a:tcPr marL="109728" marR="109728" marT="64008" marB="64008" anchor="ctr">
                    <a:solidFill>
                      <a:srgbClr val="1E293B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2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年化收益</a:t>
                      </a:r>
                    </a:p>
                  </a:txBody>
                  <a:tcPr marL="109728" marR="109728" marT="64008" marB="64008" anchor="ctr">
                    <a:solidFill>
                      <a:srgbClr val="1E293B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2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年化波动</a:t>
                      </a:r>
                    </a:p>
                  </a:txBody>
                  <a:tcPr marL="109728" marR="109728" marT="64008" marB="64008" anchor="ctr">
                    <a:solidFill>
                      <a:srgbClr val="1E293B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2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最大回撤</a:t>
                      </a:r>
                    </a:p>
                  </a:txBody>
                  <a:tcPr marL="109728" marR="109728" marT="64008" marB="64008" anchor="ctr">
                    <a:solidFill>
                      <a:srgbClr val="1E293B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</a:tr>
              <a:tr h="548640"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Microsoft YaHei"/>
                          <a:ea typeface="Microsoft YaHei"/>
                        </a:rPr>
                        <a:t>GLD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  <a:ea typeface="Microsoft YaHei"/>
                        </a:rPr>
                        <a:t>+148.7%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  <a:ea typeface="Microsoft YaHei"/>
                        </a:rPr>
                        <a:t>+20.4%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  <a:ea typeface="Microsoft YaHei"/>
                        </a:rPr>
                        <a:t>+16.9%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  <a:ea typeface="Microsoft YaHei"/>
                        </a:rPr>
                        <a:t>-23.8%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</a:tr>
              <a:tr h="548640"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Microsoft YaHei"/>
                          <a:ea typeface="Microsoft YaHei"/>
                        </a:rPr>
                        <a:t>BTC-USD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  <a:ea typeface="Microsoft YaHei"/>
                        </a:rPr>
                        <a:t>+86.9%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  <a:ea typeface="Microsoft YaHei"/>
                        </a:rPr>
                        <a:t>+13.6%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  <a:ea typeface="Microsoft YaHei"/>
                        </a:rPr>
                        <a:t>+57.1%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  <a:ea typeface="Microsoft YaHei"/>
                        </a:rPr>
                        <a:t>-72.9%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edger-text"/>
          <p:cNvSpPr txBox="1"/>
          <p:nvPr/>
        </p:nvSpPr>
        <p:spPr>
          <a:xfrm>
            <a:off x="609904" y="457200"/>
            <a:ext cx="10972800" cy="61417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E293B"/>
                </a:solidFill>
                <a:latin typeface="Microsoft YaHei"/>
                <a:ea typeface="Microsoft YaHei"/>
              </a:rPr>
              <a:t>同口径资产差异</a:t>
            </a:r>
          </a:p>
        </p:txBody>
      </p:sp>
      <p:sp>
        <p:nvSpPr>
          <p:cNvPr id="3" name="ledger-text"/>
          <p:cNvSpPr txBox="1"/>
          <p:nvPr/>
        </p:nvSpPr>
        <p:spPr>
          <a:xfrm>
            <a:off x="609904" y="1161288"/>
            <a:ext cx="10972800" cy="4572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959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</a:rPr>
              <a:t>以 GLD 为比较项，差值单位为百分点；无计划值，不设虚构目标。</a:t>
            </a:r>
          </a:p>
        </p:txBody>
      </p:sp>
      <p:cxnSp>
        <p:nvCxnSpPr>
          <p:cNvPr id="4" name="ledger-rule"/>
          <p:cNvCxnSpPr/>
          <p:nvPr/>
        </p:nvCxnSpPr>
        <p:spPr>
          <a:xfrm>
            <a:off x="609904" y="1737360"/>
            <a:ext cx="10972800" cy="0"/>
          </a:xfrm>
          <a:prstGeom prst="line">
            <a:avLst/>
          </a:prstGeom>
          <a:ln w="13970">
            <a:solidFill>
              <a:srgbClr val="1E293B"/>
            </a:solidFill>
          </a:ln>
          <a:effectLst/>
        </p:spPr>
      </p:cxnSp>
      <p:cxnSp>
        <p:nvCxnSpPr>
          <p:cNvPr id="5" name="ledger-rule"/>
          <p:cNvCxnSpPr/>
          <p:nvPr/>
        </p:nvCxnSpPr>
        <p:spPr>
          <a:xfrm>
            <a:off x="609904" y="6199632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6" name="ledger-text"/>
          <p:cNvSpPr txBox="1"/>
          <p:nvPr/>
        </p:nvSpPr>
        <p:spPr>
          <a:xfrm>
            <a:off x="609904" y="6345936"/>
            <a:ext cx="457200" cy="2052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Microsoft YaHei"/>
                <a:ea typeface="Microsoft YaHei"/>
              </a:rPr>
              <a:t>来源</a:t>
            </a:r>
          </a:p>
        </p:txBody>
      </p:sp>
      <p:sp>
        <p:nvSpPr>
          <p:cNvPr id="7" name="ledger-text"/>
          <p:cNvSpPr txBox="1"/>
          <p:nvPr/>
        </p:nvSpPr>
        <p:spPr>
          <a:xfrm>
            <a:off x="1078992" y="6327648"/>
            <a:ext cx="64008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2"/>
              </a:rPr>
              <a:t>GLD</a:t>
            </a:r>
          </a:p>
        </p:txBody>
      </p:sp>
      <p:sp>
        <p:nvSpPr>
          <p:cNvPr id="8" name="ledger-text"/>
          <p:cNvSpPr txBox="1"/>
          <p:nvPr/>
        </p:nvSpPr>
        <p:spPr>
          <a:xfrm>
            <a:off x="1874519" y="6327648"/>
            <a:ext cx="665683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3"/>
              </a:rPr>
              <a:t>BTC-USD</a:t>
            </a:r>
          </a:p>
        </p:txBody>
      </p:sp>
      <p:sp>
        <p:nvSpPr>
          <p:cNvPr id="9" name="ledger-text"/>
          <p:cNvSpPr txBox="1"/>
          <p:nvPr/>
        </p:nvSpPr>
        <p:spPr>
          <a:xfrm>
            <a:off x="2695651" y="6327648"/>
            <a:ext cx="64008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4"/>
              </a:rPr>
              <a:t>SPY</a:t>
            </a:r>
          </a:p>
        </p:txBody>
      </p:sp>
      <p:sp>
        <p:nvSpPr>
          <p:cNvPr id="10" name="ledger-text"/>
          <p:cNvSpPr txBox="1"/>
          <p:nvPr/>
        </p:nvSpPr>
        <p:spPr>
          <a:xfrm>
            <a:off x="11045952" y="6327648"/>
            <a:ext cx="50292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1539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Consolas"/>
                <a:ea typeface="Microsoft YaHei"/>
              </a:rPr>
              <a:t>04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09904" y="2039112"/>
          <a:ext cx="10972800" cy="10149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57600"/>
                <a:gridCol w="2423160"/>
                <a:gridCol w="2423160"/>
                <a:gridCol w="2468880"/>
              </a:tblGrid>
              <a:tr h="466344"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ts val="22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比较项</a:t>
                      </a:r>
                    </a:p>
                  </a:txBody>
                  <a:tcPr marL="109728" marR="109728" marT="64008" marB="64008" anchor="ctr">
                    <a:solidFill>
                      <a:srgbClr val="1E293B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2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累计收益差</a:t>
                      </a:r>
                    </a:p>
                  </a:txBody>
                  <a:tcPr marL="109728" marR="109728" marT="64008" marB="64008" anchor="ctr">
                    <a:solidFill>
                      <a:srgbClr val="1E293B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2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年化收益差</a:t>
                      </a:r>
                    </a:p>
                  </a:txBody>
                  <a:tcPr marL="109728" marR="109728" marT="64008" marB="64008" anchor="ctr">
                    <a:solidFill>
                      <a:srgbClr val="1E293B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2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最大回撤差</a:t>
                      </a:r>
                    </a:p>
                  </a:txBody>
                  <a:tcPr marL="109728" marR="109728" marT="64008" marB="64008" anchor="ctr">
                    <a:solidFill>
                      <a:srgbClr val="1E293B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</a:tr>
              <a:tr h="548640"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Microsoft YaHei"/>
                          <a:ea typeface="Microsoft YaHei"/>
                        </a:rPr>
                        <a:t>BTC-USD − GLD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  <a:ea typeface="Microsoft YaHei"/>
                        </a:rPr>
                        <a:t>-61.84 pp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  <a:ea typeface="Microsoft YaHei"/>
                        </a:rPr>
                        <a:t>-6.80 pp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  <a:ea typeface="Microsoft YaHei"/>
                        </a:rPr>
                        <a:t>-49.02 pp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edger-text"/>
          <p:cNvSpPr txBox="1"/>
          <p:nvPr/>
        </p:nvSpPr>
        <p:spPr>
          <a:xfrm>
            <a:off x="609904" y="457200"/>
            <a:ext cx="10972800" cy="61417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E293B"/>
                </a:solidFill>
                <a:latin typeface="Microsoft YaHei"/>
                <a:ea typeface="Microsoft YaHei"/>
              </a:rPr>
              <a:t>差异解释与证据边界</a:t>
            </a:r>
          </a:p>
        </p:txBody>
      </p:sp>
      <p:sp>
        <p:nvSpPr>
          <p:cNvPr id="3" name="ledger-text"/>
          <p:cNvSpPr txBox="1"/>
          <p:nvPr/>
        </p:nvSpPr>
        <p:spPr>
          <a:xfrm>
            <a:off x="609904" y="1161288"/>
            <a:ext cx="10972800" cy="4572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959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</a:rPr>
              <a:t>事实、解释与待验证问题分开呈现；缺失的机制证据不以叙事补齐。</a:t>
            </a:r>
          </a:p>
        </p:txBody>
      </p:sp>
      <p:cxnSp>
        <p:nvCxnSpPr>
          <p:cNvPr id="4" name="ledger-rule"/>
          <p:cNvCxnSpPr/>
          <p:nvPr/>
        </p:nvCxnSpPr>
        <p:spPr>
          <a:xfrm>
            <a:off x="609904" y="1737360"/>
            <a:ext cx="10972800" cy="0"/>
          </a:xfrm>
          <a:prstGeom prst="line">
            <a:avLst/>
          </a:prstGeom>
          <a:ln w="13970">
            <a:solidFill>
              <a:srgbClr val="1E293B"/>
            </a:solidFill>
          </a:ln>
          <a:effectLst/>
        </p:spPr>
      </p:cxnSp>
      <p:cxnSp>
        <p:nvCxnSpPr>
          <p:cNvPr id="5" name="ledger-rule"/>
          <p:cNvCxnSpPr/>
          <p:nvPr/>
        </p:nvCxnSpPr>
        <p:spPr>
          <a:xfrm>
            <a:off x="609904" y="6199632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6" name="ledger-text"/>
          <p:cNvSpPr txBox="1"/>
          <p:nvPr/>
        </p:nvSpPr>
        <p:spPr>
          <a:xfrm>
            <a:off x="609904" y="6345936"/>
            <a:ext cx="457200" cy="2052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Microsoft YaHei"/>
                <a:ea typeface="Microsoft YaHei"/>
              </a:rPr>
              <a:t>来源</a:t>
            </a:r>
          </a:p>
        </p:txBody>
      </p:sp>
      <p:sp>
        <p:nvSpPr>
          <p:cNvPr id="7" name="ledger-text"/>
          <p:cNvSpPr txBox="1"/>
          <p:nvPr/>
        </p:nvSpPr>
        <p:spPr>
          <a:xfrm>
            <a:off x="1078992" y="6327648"/>
            <a:ext cx="64008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2"/>
              </a:rPr>
              <a:t>GLD</a:t>
            </a:r>
          </a:p>
        </p:txBody>
      </p:sp>
      <p:sp>
        <p:nvSpPr>
          <p:cNvPr id="8" name="ledger-text"/>
          <p:cNvSpPr txBox="1"/>
          <p:nvPr/>
        </p:nvSpPr>
        <p:spPr>
          <a:xfrm>
            <a:off x="1874519" y="6327648"/>
            <a:ext cx="665683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3"/>
              </a:rPr>
              <a:t>BTC-USD</a:t>
            </a:r>
          </a:p>
        </p:txBody>
      </p:sp>
      <p:sp>
        <p:nvSpPr>
          <p:cNvPr id="9" name="ledger-text"/>
          <p:cNvSpPr txBox="1"/>
          <p:nvPr/>
        </p:nvSpPr>
        <p:spPr>
          <a:xfrm>
            <a:off x="2695651" y="6327648"/>
            <a:ext cx="64008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4"/>
              </a:rPr>
              <a:t>SPY</a:t>
            </a:r>
          </a:p>
        </p:txBody>
      </p:sp>
      <p:sp>
        <p:nvSpPr>
          <p:cNvPr id="10" name="ledger-text"/>
          <p:cNvSpPr txBox="1"/>
          <p:nvPr/>
        </p:nvSpPr>
        <p:spPr>
          <a:xfrm>
            <a:off x="11045952" y="6327648"/>
            <a:ext cx="50292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1539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Consolas"/>
                <a:ea typeface="Microsoft YaHei"/>
              </a:rPr>
              <a:t>05</a:t>
            </a:r>
          </a:p>
        </p:txBody>
      </p:sp>
      <p:sp>
        <p:nvSpPr>
          <p:cNvPr id="11" name="ledger-text"/>
          <p:cNvSpPr txBox="1"/>
          <p:nvPr/>
        </p:nvSpPr>
        <p:spPr>
          <a:xfrm>
            <a:off x="609904" y="2011680"/>
            <a:ext cx="21945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已观察到的结果</a:t>
            </a:r>
          </a:p>
        </p:txBody>
      </p:sp>
      <p:sp>
        <p:nvSpPr>
          <p:cNvPr id="12" name="ledger-text"/>
          <p:cNvSpPr txBox="1"/>
          <p:nvPr/>
        </p:nvSpPr>
        <p:spPr>
          <a:xfrm>
            <a:off x="3035808" y="2011680"/>
            <a:ext cx="8229600" cy="74980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收益、回撤与压力月份表现来自同一数据快照，后续图表与分组表提供检验</a:t>
            </a:r>
          </a:p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依据。</a:t>
            </a:r>
          </a:p>
        </p:txBody>
      </p:sp>
      <p:cxnSp>
        <p:nvCxnSpPr>
          <p:cNvPr id="13" name="ledger-rule"/>
          <p:cNvCxnSpPr/>
          <p:nvPr/>
        </p:nvCxnSpPr>
        <p:spPr>
          <a:xfrm>
            <a:off x="609904" y="2871216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14" name="ledger-text"/>
          <p:cNvSpPr txBox="1"/>
          <p:nvPr/>
        </p:nvSpPr>
        <p:spPr>
          <a:xfrm>
            <a:off x="609904" y="2990088"/>
            <a:ext cx="21945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原因尚未确立</a:t>
            </a:r>
          </a:p>
        </p:txBody>
      </p:sp>
      <p:sp>
        <p:nvSpPr>
          <p:cNvPr id="15" name="ledger-text"/>
          <p:cNvSpPr txBox="1"/>
          <p:nvPr/>
        </p:nvSpPr>
        <p:spPr>
          <a:xfrm>
            <a:off x="3035808" y="2990088"/>
            <a:ext cx="8229600" cy="74980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行情窗口、通胀分组与同期事件仅提供关联证据，未进行因果识别，不能据</a:t>
            </a:r>
          </a:p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此断言某事件导致价格变化。</a:t>
            </a:r>
          </a:p>
        </p:txBody>
      </p:sp>
      <p:cxnSp>
        <p:nvCxnSpPr>
          <p:cNvPr id="16" name="ledger-rule"/>
          <p:cNvCxnSpPr/>
          <p:nvPr/>
        </p:nvCxnSpPr>
        <p:spPr>
          <a:xfrm>
            <a:off x="609904" y="3849624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17" name="ledger-text"/>
          <p:cNvSpPr txBox="1"/>
          <p:nvPr/>
        </p:nvSpPr>
        <p:spPr>
          <a:xfrm>
            <a:off x="609904" y="3968496"/>
            <a:ext cx="21945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待验证问题</a:t>
            </a:r>
          </a:p>
        </p:txBody>
      </p:sp>
      <p:sp>
        <p:nvSpPr>
          <p:cNvPr id="18" name="ledger-text"/>
          <p:cNvSpPr txBox="1"/>
          <p:nvPr/>
        </p:nvSpPr>
        <p:spPr>
          <a:xfrm>
            <a:off x="3035808" y="3968496"/>
            <a:ext cx="8229600" cy="74980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区分共同市场波动与标的特有反应，检查基准、窗口长度和配置参数变化后</a:t>
            </a:r>
          </a:p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判断是否仍成立。</a:t>
            </a:r>
          </a:p>
        </p:txBody>
      </p:sp>
      <p:cxnSp>
        <p:nvCxnSpPr>
          <p:cNvPr id="19" name="ledger-rule"/>
          <p:cNvCxnSpPr/>
          <p:nvPr/>
        </p:nvCxnSpPr>
        <p:spPr>
          <a:xfrm>
            <a:off x="609904" y="4828032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edger-text"/>
          <p:cNvSpPr txBox="1"/>
          <p:nvPr/>
        </p:nvSpPr>
        <p:spPr>
          <a:xfrm>
            <a:off x="609904" y="457200"/>
            <a:ext cx="10972800" cy="61417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E293B"/>
                </a:solidFill>
                <a:latin typeface="Microsoft YaHei"/>
                <a:ea typeface="Microsoft YaHei"/>
              </a:rPr>
              <a:t>研究要点</a:t>
            </a:r>
          </a:p>
        </p:txBody>
      </p:sp>
      <p:sp>
        <p:nvSpPr>
          <p:cNvPr id="3" name="ledger-text"/>
          <p:cNvSpPr txBox="1"/>
          <p:nvPr/>
        </p:nvSpPr>
        <p:spPr>
          <a:xfrm>
            <a:off x="609904" y="1161288"/>
            <a:ext cx="10972800" cy="4572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959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</a:rPr>
              <a:t>判断与限定条件共同构成结论。</a:t>
            </a:r>
          </a:p>
        </p:txBody>
      </p:sp>
      <p:cxnSp>
        <p:nvCxnSpPr>
          <p:cNvPr id="4" name="ledger-rule"/>
          <p:cNvCxnSpPr/>
          <p:nvPr/>
        </p:nvCxnSpPr>
        <p:spPr>
          <a:xfrm>
            <a:off x="609904" y="1737360"/>
            <a:ext cx="10972800" cy="0"/>
          </a:xfrm>
          <a:prstGeom prst="line">
            <a:avLst/>
          </a:prstGeom>
          <a:ln w="13970">
            <a:solidFill>
              <a:srgbClr val="1E293B"/>
            </a:solidFill>
          </a:ln>
          <a:effectLst/>
        </p:spPr>
      </p:cxnSp>
      <p:cxnSp>
        <p:nvCxnSpPr>
          <p:cNvPr id="5" name="ledger-rule"/>
          <p:cNvCxnSpPr/>
          <p:nvPr/>
        </p:nvCxnSpPr>
        <p:spPr>
          <a:xfrm>
            <a:off x="609904" y="6199632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6" name="ledger-text"/>
          <p:cNvSpPr txBox="1"/>
          <p:nvPr/>
        </p:nvSpPr>
        <p:spPr>
          <a:xfrm>
            <a:off x="609904" y="6345936"/>
            <a:ext cx="457200" cy="2052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Microsoft YaHei"/>
                <a:ea typeface="Microsoft YaHei"/>
              </a:rPr>
              <a:t>来源</a:t>
            </a:r>
          </a:p>
        </p:txBody>
      </p:sp>
      <p:sp>
        <p:nvSpPr>
          <p:cNvPr id="7" name="ledger-text"/>
          <p:cNvSpPr txBox="1"/>
          <p:nvPr/>
        </p:nvSpPr>
        <p:spPr>
          <a:xfrm>
            <a:off x="1078992" y="6327648"/>
            <a:ext cx="64008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2"/>
              </a:rPr>
              <a:t>GLD</a:t>
            </a:r>
          </a:p>
        </p:txBody>
      </p:sp>
      <p:sp>
        <p:nvSpPr>
          <p:cNvPr id="8" name="ledger-text"/>
          <p:cNvSpPr txBox="1"/>
          <p:nvPr/>
        </p:nvSpPr>
        <p:spPr>
          <a:xfrm>
            <a:off x="1874519" y="6327648"/>
            <a:ext cx="665683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3"/>
              </a:rPr>
              <a:t>BTC-USD</a:t>
            </a:r>
          </a:p>
        </p:txBody>
      </p:sp>
      <p:sp>
        <p:nvSpPr>
          <p:cNvPr id="9" name="ledger-text"/>
          <p:cNvSpPr txBox="1"/>
          <p:nvPr/>
        </p:nvSpPr>
        <p:spPr>
          <a:xfrm>
            <a:off x="2695651" y="6327648"/>
            <a:ext cx="64008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4"/>
              </a:rPr>
              <a:t>SPY</a:t>
            </a:r>
          </a:p>
        </p:txBody>
      </p:sp>
      <p:sp>
        <p:nvSpPr>
          <p:cNvPr id="10" name="ledger-text"/>
          <p:cNvSpPr txBox="1"/>
          <p:nvPr/>
        </p:nvSpPr>
        <p:spPr>
          <a:xfrm>
            <a:off x="11045952" y="6327648"/>
            <a:ext cx="50292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1539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Consolas"/>
                <a:ea typeface="Microsoft YaHei"/>
              </a:rPr>
              <a:t>06</a:t>
            </a:r>
          </a:p>
        </p:txBody>
      </p:sp>
      <p:sp>
        <p:nvSpPr>
          <p:cNvPr id="11" name="ledger-text"/>
          <p:cNvSpPr txBox="1"/>
          <p:nvPr/>
        </p:nvSpPr>
        <p:spPr>
          <a:xfrm>
            <a:off x="609904" y="2011680"/>
            <a:ext cx="21945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12" name="ledger-text"/>
          <p:cNvSpPr txBox="1"/>
          <p:nvPr/>
        </p:nvSpPr>
        <p:spPr>
          <a:xfrm>
            <a:off x="3035808" y="2011680"/>
            <a:ext cx="8229600" cy="74980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GLD：共同月末区间 2021-09-30 至 2026-08-31，累计收益 +</a:t>
            </a:r>
          </a:p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148.7%，月末估值最大回撤 -23.8%。</a:t>
            </a:r>
          </a:p>
        </p:txBody>
      </p:sp>
      <p:cxnSp>
        <p:nvCxnSpPr>
          <p:cNvPr id="13" name="ledger-rule"/>
          <p:cNvCxnSpPr/>
          <p:nvPr/>
        </p:nvCxnSpPr>
        <p:spPr>
          <a:xfrm>
            <a:off x="609904" y="2871216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14" name="ledger-text"/>
          <p:cNvSpPr txBox="1"/>
          <p:nvPr/>
        </p:nvSpPr>
        <p:spPr>
          <a:xfrm>
            <a:off x="609904" y="2990088"/>
            <a:ext cx="21945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5" name="ledger-text"/>
          <p:cNvSpPr txBox="1"/>
          <p:nvPr/>
        </p:nvSpPr>
        <p:spPr>
          <a:xfrm>
            <a:off x="3035808" y="2990088"/>
            <a:ext cx="8229600" cy="74980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BTC-USD：共同月末区间 2021-09-30 至 2026-08-31，累计收益 </a:t>
            </a:r>
          </a:p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+86.9%，月末估值最大回撤 -72.9%。</a:t>
            </a:r>
          </a:p>
        </p:txBody>
      </p:sp>
      <p:cxnSp>
        <p:nvCxnSpPr>
          <p:cNvPr id="16" name="ledger-rule"/>
          <p:cNvCxnSpPr/>
          <p:nvPr/>
        </p:nvCxnSpPr>
        <p:spPr>
          <a:xfrm>
            <a:off x="609904" y="3849624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17" name="ledger-text"/>
          <p:cNvSpPr txBox="1"/>
          <p:nvPr/>
        </p:nvSpPr>
        <p:spPr>
          <a:xfrm>
            <a:off x="609904" y="3968496"/>
            <a:ext cx="21945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8" name="ledger-text"/>
          <p:cNvSpPr txBox="1"/>
          <p:nvPr/>
        </p:nvSpPr>
        <p:spPr>
          <a:xfrm>
            <a:off x="3035808" y="3968496"/>
            <a:ext cx="8229600" cy="74980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在事后选取的 6 个基准最差月份中，GLD 有 2 个月收益为正。该结果</a:t>
            </a:r>
          </a:p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衡量特定压力样本，不能推广为所有危机中有效。</a:t>
            </a:r>
          </a:p>
        </p:txBody>
      </p:sp>
      <p:cxnSp>
        <p:nvCxnSpPr>
          <p:cNvPr id="19" name="ledger-rule"/>
          <p:cNvCxnSpPr/>
          <p:nvPr/>
        </p:nvCxnSpPr>
        <p:spPr>
          <a:xfrm>
            <a:off x="609904" y="4828032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20" name="ledger-text"/>
          <p:cNvSpPr txBox="1"/>
          <p:nvPr/>
        </p:nvSpPr>
        <p:spPr>
          <a:xfrm>
            <a:off x="609904" y="4946904"/>
            <a:ext cx="21945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21" name="ledger-text"/>
          <p:cNvSpPr txBox="1"/>
          <p:nvPr/>
        </p:nvSpPr>
        <p:spPr>
          <a:xfrm>
            <a:off x="3035808" y="4946904"/>
            <a:ext cx="8229600" cy="74980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在事后选取的 6 个基准最差月份中，BTC-USD 有 1 个月收益为正。该</a:t>
            </a:r>
          </a:p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结果衡量特定压力样本，不能推广为所有危机中有效。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edger-text"/>
          <p:cNvSpPr txBox="1"/>
          <p:nvPr/>
        </p:nvSpPr>
        <p:spPr>
          <a:xfrm>
            <a:off x="609904" y="457200"/>
            <a:ext cx="10972800" cy="61417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E293B"/>
                </a:solidFill>
                <a:latin typeface="Microsoft YaHei"/>
                <a:ea typeface="Microsoft YaHei"/>
              </a:rPr>
              <a:t>共同估值下的价格表现</a:t>
            </a:r>
          </a:p>
        </p:txBody>
      </p:sp>
      <p:sp>
        <p:nvSpPr>
          <p:cNvPr id="3" name="ledger-text"/>
          <p:cNvSpPr txBox="1"/>
          <p:nvPr/>
        </p:nvSpPr>
        <p:spPr>
          <a:xfrm>
            <a:off x="609904" y="1161288"/>
            <a:ext cx="10972800" cy="4572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959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</a:rPr>
              <a:t>初始净值 = 100；相同月末锚点，价格水平已归一化。</a:t>
            </a:r>
          </a:p>
        </p:txBody>
      </p:sp>
      <p:cxnSp>
        <p:nvCxnSpPr>
          <p:cNvPr id="4" name="ledger-rule"/>
          <p:cNvCxnSpPr/>
          <p:nvPr/>
        </p:nvCxnSpPr>
        <p:spPr>
          <a:xfrm>
            <a:off x="609904" y="1737360"/>
            <a:ext cx="10972800" cy="0"/>
          </a:xfrm>
          <a:prstGeom prst="line">
            <a:avLst/>
          </a:prstGeom>
          <a:ln w="13970">
            <a:solidFill>
              <a:srgbClr val="1E293B"/>
            </a:solidFill>
          </a:ln>
          <a:effectLst/>
        </p:spPr>
      </p:cxnSp>
      <p:cxnSp>
        <p:nvCxnSpPr>
          <p:cNvPr id="5" name="ledger-rule"/>
          <p:cNvCxnSpPr/>
          <p:nvPr/>
        </p:nvCxnSpPr>
        <p:spPr>
          <a:xfrm>
            <a:off x="609904" y="6199632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6" name="ledger-text"/>
          <p:cNvSpPr txBox="1"/>
          <p:nvPr/>
        </p:nvSpPr>
        <p:spPr>
          <a:xfrm>
            <a:off x="609904" y="6345936"/>
            <a:ext cx="457200" cy="2052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Microsoft YaHei"/>
                <a:ea typeface="Microsoft YaHei"/>
              </a:rPr>
              <a:t>来源</a:t>
            </a:r>
          </a:p>
        </p:txBody>
      </p:sp>
      <p:sp>
        <p:nvSpPr>
          <p:cNvPr id="7" name="ledger-text"/>
          <p:cNvSpPr txBox="1"/>
          <p:nvPr/>
        </p:nvSpPr>
        <p:spPr>
          <a:xfrm>
            <a:off x="1078992" y="6327648"/>
            <a:ext cx="64008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2"/>
              </a:rPr>
              <a:t>GLD</a:t>
            </a:r>
          </a:p>
        </p:txBody>
      </p:sp>
      <p:sp>
        <p:nvSpPr>
          <p:cNvPr id="8" name="ledger-text"/>
          <p:cNvSpPr txBox="1"/>
          <p:nvPr/>
        </p:nvSpPr>
        <p:spPr>
          <a:xfrm>
            <a:off x="1874519" y="6327648"/>
            <a:ext cx="665683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3"/>
              </a:rPr>
              <a:t>BTC-USD</a:t>
            </a:r>
          </a:p>
        </p:txBody>
      </p:sp>
      <p:sp>
        <p:nvSpPr>
          <p:cNvPr id="9" name="ledger-text"/>
          <p:cNvSpPr txBox="1"/>
          <p:nvPr/>
        </p:nvSpPr>
        <p:spPr>
          <a:xfrm>
            <a:off x="2695651" y="6327648"/>
            <a:ext cx="64008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4"/>
              </a:rPr>
              <a:t>SPY</a:t>
            </a:r>
          </a:p>
        </p:txBody>
      </p:sp>
      <p:sp>
        <p:nvSpPr>
          <p:cNvPr id="10" name="ledger-text"/>
          <p:cNvSpPr txBox="1"/>
          <p:nvPr/>
        </p:nvSpPr>
        <p:spPr>
          <a:xfrm>
            <a:off x="11045952" y="6327648"/>
            <a:ext cx="50292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1539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Consolas"/>
                <a:ea typeface="Microsoft YaHei"/>
              </a:rPr>
              <a:t>07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48640" y="2002536"/>
          <a:ext cx="11000232" cy="3913632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edger-text"/>
          <p:cNvSpPr txBox="1"/>
          <p:nvPr/>
        </p:nvSpPr>
        <p:spPr>
          <a:xfrm>
            <a:off x="609904" y="457200"/>
            <a:ext cx="10972800" cy="61417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E293B"/>
                </a:solidFill>
                <a:latin typeface="Microsoft YaHei"/>
                <a:ea typeface="Microsoft YaHei"/>
              </a:rPr>
              <a:t>压力样本中的资产表现</a:t>
            </a:r>
          </a:p>
        </p:txBody>
      </p:sp>
      <p:sp>
        <p:nvSpPr>
          <p:cNvPr id="3" name="ledger-text"/>
          <p:cNvSpPr txBox="1"/>
          <p:nvPr/>
        </p:nvSpPr>
        <p:spPr>
          <a:xfrm>
            <a:off x="609904" y="1161288"/>
            <a:ext cx="10972800" cy="4572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959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</a:rPr>
              <a:t>全样本事后选取 SPY 最差月份；不代表全部危机。</a:t>
            </a:r>
          </a:p>
        </p:txBody>
      </p:sp>
      <p:cxnSp>
        <p:nvCxnSpPr>
          <p:cNvPr id="4" name="ledger-rule"/>
          <p:cNvCxnSpPr/>
          <p:nvPr/>
        </p:nvCxnSpPr>
        <p:spPr>
          <a:xfrm>
            <a:off x="609904" y="1737360"/>
            <a:ext cx="10972800" cy="0"/>
          </a:xfrm>
          <a:prstGeom prst="line">
            <a:avLst/>
          </a:prstGeom>
          <a:ln w="13970">
            <a:solidFill>
              <a:srgbClr val="1E293B"/>
            </a:solidFill>
          </a:ln>
          <a:effectLst/>
        </p:spPr>
      </p:cxnSp>
      <p:cxnSp>
        <p:nvCxnSpPr>
          <p:cNvPr id="5" name="ledger-rule"/>
          <p:cNvCxnSpPr/>
          <p:nvPr/>
        </p:nvCxnSpPr>
        <p:spPr>
          <a:xfrm>
            <a:off x="609904" y="6199632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6" name="ledger-text"/>
          <p:cNvSpPr txBox="1"/>
          <p:nvPr/>
        </p:nvSpPr>
        <p:spPr>
          <a:xfrm>
            <a:off x="609904" y="6345936"/>
            <a:ext cx="457200" cy="2052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Microsoft YaHei"/>
                <a:ea typeface="Microsoft YaHei"/>
              </a:rPr>
              <a:t>来源</a:t>
            </a:r>
          </a:p>
        </p:txBody>
      </p:sp>
      <p:sp>
        <p:nvSpPr>
          <p:cNvPr id="7" name="ledger-text"/>
          <p:cNvSpPr txBox="1"/>
          <p:nvPr/>
        </p:nvSpPr>
        <p:spPr>
          <a:xfrm>
            <a:off x="1078992" y="6327648"/>
            <a:ext cx="64008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2"/>
              </a:rPr>
              <a:t>GLD</a:t>
            </a:r>
          </a:p>
        </p:txBody>
      </p:sp>
      <p:sp>
        <p:nvSpPr>
          <p:cNvPr id="8" name="ledger-text"/>
          <p:cNvSpPr txBox="1"/>
          <p:nvPr/>
        </p:nvSpPr>
        <p:spPr>
          <a:xfrm>
            <a:off x="1874519" y="6327648"/>
            <a:ext cx="665683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3"/>
              </a:rPr>
              <a:t>BTC-USD</a:t>
            </a:r>
          </a:p>
        </p:txBody>
      </p:sp>
      <p:sp>
        <p:nvSpPr>
          <p:cNvPr id="9" name="ledger-text"/>
          <p:cNvSpPr txBox="1"/>
          <p:nvPr/>
        </p:nvSpPr>
        <p:spPr>
          <a:xfrm>
            <a:off x="2695651" y="6327648"/>
            <a:ext cx="64008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4"/>
              </a:rPr>
              <a:t>SPY</a:t>
            </a:r>
          </a:p>
        </p:txBody>
      </p:sp>
      <p:sp>
        <p:nvSpPr>
          <p:cNvPr id="10" name="ledger-text"/>
          <p:cNvSpPr txBox="1"/>
          <p:nvPr/>
        </p:nvSpPr>
        <p:spPr>
          <a:xfrm>
            <a:off x="11045952" y="6327648"/>
            <a:ext cx="50292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1539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Consolas"/>
                <a:ea typeface="Microsoft YaHei"/>
              </a:rPr>
              <a:t>08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09904" y="2039112"/>
          <a:ext cx="10972800" cy="37581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3048000"/>
                <a:gridCol w="3048000"/>
                <a:gridCol w="3048000"/>
              </a:tblGrid>
              <a:tr h="466344"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2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月份</a:t>
                      </a:r>
                    </a:p>
                  </a:txBody>
                  <a:tcPr marL="109728" marR="109728" marT="64008" marB="64008" anchor="ctr">
                    <a:solidFill>
                      <a:srgbClr val="1E293B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2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SPY</a:t>
                      </a:r>
                    </a:p>
                  </a:txBody>
                  <a:tcPr marL="109728" marR="109728" marT="64008" marB="64008" anchor="ctr">
                    <a:solidFill>
                      <a:srgbClr val="1E293B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2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GLD</a:t>
                      </a:r>
                    </a:p>
                  </a:txBody>
                  <a:tcPr marL="109728" marR="109728" marT="64008" marB="64008" anchor="ctr">
                    <a:solidFill>
                      <a:srgbClr val="1E293B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2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BTC-USD</a:t>
                      </a:r>
                    </a:p>
                  </a:txBody>
                  <a:tcPr marL="109728" marR="109728" marT="64008" marB="64008" anchor="ctr">
                    <a:solidFill>
                      <a:srgbClr val="1E293B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</a:tr>
              <a:tr h="548640"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  <a:ea typeface="Microsoft YaHei"/>
                        </a:rPr>
                        <a:t>2022-09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  <a:ea typeface="Microsoft YaHei"/>
                        </a:rPr>
                        <a:t>-9.2%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  <a:ea typeface="Microsoft YaHei"/>
                        </a:rPr>
                        <a:t>-2.9%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  <a:ea typeface="Microsoft YaHei"/>
                        </a:rPr>
                        <a:t>-1.1%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</a:tr>
              <a:tr h="548640"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  <a:ea typeface="Microsoft YaHei"/>
                        </a:rPr>
                        <a:t>2022-04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  <a:ea typeface="Microsoft YaHei"/>
                        </a:rPr>
                        <a:t>-8.8%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  <a:ea typeface="Microsoft YaHei"/>
                        </a:rPr>
                        <a:t>-2.1%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  <a:ea typeface="Microsoft YaHei"/>
                        </a:rPr>
                        <a:t>-15.5%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</a:tr>
              <a:tr h="548640"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  <a:ea typeface="Microsoft YaHei"/>
                        </a:rPr>
                        <a:t>2022-06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  <a:ea typeface="Microsoft YaHei"/>
                        </a:rPr>
                        <a:t>-8.2%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  <a:ea typeface="Microsoft YaHei"/>
                        </a:rPr>
                        <a:t>-1.6%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  <a:ea typeface="Microsoft YaHei"/>
                        </a:rPr>
                        <a:t>-36.6%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</a:tr>
              <a:tr h="548640"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  <a:ea typeface="Microsoft YaHei"/>
                        </a:rPr>
                        <a:t>2022-12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  <a:ea typeface="Microsoft YaHei"/>
                        </a:rPr>
                        <a:t>-5.8%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  <a:ea typeface="Microsoft YaHei"/>
                        </a:rPr>
                        <a:t>+2.9%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  <a:ea typeface="Microsoft YaHei"/>
                        </a:rPr>
                        <a:t>+1.2%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</a:tr>
              <a:tr h="548640"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  <a:ea typeface="Microsoft YaHei"/>
                        </a:rPr>
                        <a:t>2025-03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  <a:ea typeface="Microsoft YaHei"/>
                        </a:rPr>
                        <a:t>-5.6%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  <a:ea typeface="Microsoft YaHei"/>
                        </a:rPr>
                        <a:t>+9.4%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  <a:ea typeface="Microsoft YaHei"/>
                        </a:rPr>
                        <a:t>-2.8%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</a:tr>
              <a:tr h="548640"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  <a:ea typeface="Microsoft YaHei"/>
                        </a:rPr>
                        <a:t>2022-01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  <a:ea typeface="Microsoft YaHei"/>
                        </a:rPr>
                        <a:t>-5.3%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  <a:ea typeface="Microsoft YaHei"/>
                        </a:rPr>
                        <a:t>-1.7%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  <a:ea typeface="Microsoft YaHei"/>
                        </a:rPr>
                        <a:t>-19.6%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edger-text"/>
          <p:cNvSpPr txBox="1"/>
          <p:nvPr/>
        </p:nvSpPr>
        <p:spPr>
          <a:xfrm>
            <a:off x="609904" y="457200"/>
            <a:ext cx="10972800" cy="61417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E293B"/>
                </a:solidFill>
                <a:latin typeface="Microsoft YaHei"/>
                <a:ea typeface="Microsoft YaHei"/>
              </a:rPr>
              <a:t>通胀分组与购买力判断</a:t>
            </a:r>
          </a:p>
        </p:txBody>
      </p:sp>
      <p:sp>
        <p:nvSpPr>
          <p:cNvPr id="3" name="ledger-text"/>
          <p:cNvSpPr txBox="1"/>
          <p:nvPr/>
        </p:nvSpPr>
        <p:spPr>
          <a:xfrm>
            <a:off x="609904" y="1161288"/>
            <a:ext cx="10972800" cy="4572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959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</a:rPr>
              <a:t>CPI 同比 ≥ 3% 为高通胀组；当前历史版本，分组与相关性均不证明机制。</a:t>
            </a:r>
          </a:p>
        </p:txBody>
      </p:sp>
      <p:cxnSp>
        <p:nvCxnSpPr>
          <p:cNvPr id="4" name="ledger-rule"/>
          <p:cNvCxnSpPr/>
          <p:nvPr/>
        </p:nvCxnSpPr>
        <p:spPr>
          <a:xfrm>
            <a:off x="609904" y="1737360"/>
            <a:ext cx="10972800" cy="0"/>
          </a:xfrm>
          <a:prstGeom prst="line">
            <a:avLst/>
          </a:prstGeom>
          <a:ln w="13970">
            <a:solidFill>
              <a:srgbClr val="1E293B"/>
            </a:solidFill>
          </a:ln>
          <a:effectLst/>
        </p:spPr>
      </p:cxnSp>
      <p:cxnSp>
        <p:nvCxnSpPr>
          <p:cNvPr id="5" name="ledger-rule"/>
          <p:cNvCxnSpPr/>
          <p:nvPr/>
        </p:nvCxnSpPr>
        <p:spPr>
          <a:xfrm>
            <a:off x="609904" y="6199632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6" name="ledger-text"/>
          <p:cNvSpPr txBox="1"/>
          <p:nvPr/>
        </p:nvSpPr>
        <p:spPr>
          <a:xfrm>
            <a:off x="609904" y="6345936"/>
            <a:ext cx="457200" cy="2052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Microsoft YaHei"/>
                <a:ea typeface="Microsoft YaHei"/>
              </a:rPr>
              <a:t>来源</a:t>
            </a:r>
          </a:p>
        </p:txBody>
      </p:sp>
      <p:sp>
        <p:nvSpPr>
          <p:cNvPr id="7" name="ledger-text"/>
          <p:cNvSpPr txBox="1"/>
          <p:nvPr/>
        </p:nvSpPr>
        <p:spPr>
          <a:xfrm>
            <a:off x="1078992" y="6327648"/>
            <a:ext cx="1426464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2"/>
              </a:rPr>
              <a:t>FRED · CPIAUCNS</a:t>
            </a:r>
          </a:p>
        </p:txBody>
      </p:sp>
      <p:sp>
        <p:nvSpPr>
          <p:cNvPr id="8" name="ledger-text"/>
          <p:cNvSpPr txBox="1"/>
          <p:nvPr/>
        </p:nvSpPr>
        <p:spPr>
          <a:xfrm>
            <a:off x="2660904" y="6327648"/>
            <a:ext cx="64008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3"/>
              </a:rPr>
              <a:t>GLD</a:t>
            </a:r>
          </a:p>
        </p:txBody>
      </p:sp>
      <p:sp>
        <p:nvSpPr>
          <p:cNvPr id="9" name="ledger-text"/>
          <p:cNvSpPr txBox="1"/>
          <p:nvPr/>
        </p:nvSpPr>
        <p:spPr>
          <a:xfrm>
            <a:off x="3456432" y="6327648"/>
            <a:ext cx="665683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4"/>
              </a:rPr>
              <a:t>BTC-USD</a:t>
            </a:r>
          </a:p>
        </p:txBody>
      </p:sp>
      <p:sp>
        <p:nvSpPr>
          <p:cNvPr id="10" name="ledger-text"/>
          <p:cNvSpPr txBox="1"/>
          <p:nvPr/>
        </p:nvSpPr>
        <p:spPr>
          <a:xfrm>
            <a:off x="4277563" y="6327648"/>
            <a:ext cx="64008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5"/>
              </a:rPr>
              <a:t>SPY</a:t>
            </a:r>
          </a:p>
        </p:txBody>
      </p:sp>
      <p:sp>
        <p:nvSpPr>
          <p:cNvPr id="11" name="ledger-text"/>
          <p:cNvSpPr txBox="1"/>
          <p:nvPr/>
        </p:nvSpPr>
        <p:spPr>
          <a:xfrm>
            <a:off x="11045952" y="6327648"/>
            <a:ext cx="50292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1539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Consolas"/>
                <a:ea typeface="Microsoft YaHei"/>
              </a:rPr>
              <a:t>09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09904" y="2039112"/>
          <a:ext cx="10972799" cy="15636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00200"/>
                <a:gridCol w="2423160"/>
                <a:gridCol w="2423160"/>
                <a:gridCol w="1874519"/>
                <a:gridCol w="2651760"/>
              </a:tblGrid>
              <a:tr h="466344"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ts val="22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资产</a:t>
                      </a:r>
                    </a:p>
                  </a:txBody>
                  <a:tcPr marL="109728" marR="109728" marT="64008" marB="64008" anchor="ctr">
                    <a:solidFill>
                      <a:srgbClr val="1E293B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2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高通胀月均收益</a:t>
                      </a:r>
                    </a:p>
                  </a:txBody>
                  <a:tcPr marL="109728" marR="109728" marT="64008" marB="64008" anchor="ctr">
                    <a:solidFill>
                      <a:srgbClr val="1E293B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2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低通胀月均收益</a:t>
                      </a:r>
                    </a:p>
                  </a:txBody>
                  <a:tcPr marL="109728" marR="109728" marT="64008" marB="64008" anchor="ctr">
                    <a:solidFill>
                      <a:srgbClr val="1E293B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2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月数（高/低）</a:t>
                      </a:r>
                    </a:p>
                  </a:txBody>
                  <a:tcPr marL="109728" marR="109728" marT="64008" marB="64008" anchor="ctr">
                    <a:solidFill>
                      <a:srgbClr val="1E293B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2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CPI 相关系数</a:t>
                      </a:r>
                    </a:p>
                  </a:txBody>
                  <a:tcPr marL="109728" marR="109728" marT="64008" marB="64008" anchor="ctr">
                    <a:solidFill>
                      <a:srgbClr val="1E293B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</a:tr>
              <a:tr h="548640"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Microsoft YaHei"/>
                          <a:ea typeface="Microsoft YaHei"/>
                        </a:rPr>
                        <a:t>GLD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  <a:ea typeface="Microsoft YaHei"/>
                        </a:rPr>
                        <a:t>+0.9%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  <a:ea typeface="Microsoft YaHei"/>
                        </a:rPr>
                        <a:t>+3.2%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  <a:ea typeface="Microsoft YaHei"/>
                        </a:rPr>
                        <a:t>39 / 19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  <a:ea typeface="Microsoft YaHei"/>
                        </a:rPr>
                        <a:t>-0.252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</a:tr>
              <a:tr h="548640"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Microsoft YaHei"/>
                          <a:ea typeface="Microsoft YaHei"/>
                        </a:rPr>
                        <a:t>BTC-USD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  <a:ea typeface="Microsoft YaHei"/>
                        </a:rPr>
                        <a:t>+3.3%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  <a:ea typeface="Microsoft YaHei"/>
                        </a:rPr>
                        <a:t>+0.8%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  <a:ea typeface="Microsoft YaHei"/>
                        </a:rPr>
                        <a:t>39 / 19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  <a:ea typeface="Microsoft YaHei"/>
                        </a:rPr>
                        <a:t>-0.182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edger-text"/>
          <p:cNvSpPr txBox="1"/>
          <p:nvPr/>
        </p:nvSpPr>
        <p:spPr>
          <a:xfrm>
            <a:off x="609904" y="457200"/>
            <a:ext cx="10972800" cy="61417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E293B"/>
                </a:solidFill>
                <a:latin typeface="Microsoft YaHei"/>
                <a:ea typeface="Microsoft YaHei"/>
              </a:rPr>
              <a:t>固定权重组合回测</a:t>
            </a:r>
          </a:p>
        </p:txBody>
      </p:sp>
      <p:sp>
        <p:nvSpPr>
          <p:cNvPr id="3" name="ledger-text"/>
          <p:cNvSpPr txBox="1"/>
          <p:nvPr/>
        </p:nvSpPr>
        <p:spPr>
          <a:xfrm>
            <a:off x="609904" y="1161288"/>
            <a:ext cx="10972800" cy="4572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959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</a:rPr>
              <a:t>下一开盘执行；成本按成交金额扣除，权重与再平衡参数事先固定。</a:t>
            </a:r>
          </a:p>
        </p:txBody>
      </p:sp>
      <p:cxnSp>
        <p:nvCxnSpPr>
          <p:cNvPr id="4" name="ledger-rule"/>
          <p:cNvCxnSpPr/>
          <p:nvPr/>
        </p:nvCxnSpPr>
        <p:spPr>
          <a:xfrm>
            <a:off x="609904" y="1737360"/>
            <a:ext cx="10972800" cy="0"/>
          </a:xfrm>
          <a:prstGeom prst="line">
            <a:avLst/>
          </a:prstGeom>
          <a:ln w="13970">
            <a:solidFill>
              <a:srgbClr val="1E293B"/>
            </a:solidFill>
          </a:ln>
          <a:effectLst/>
        </p:spPr>
      </p:cxnSp>
      <p:cxnSp>
        <p:nvCxnSpPr>
          <p:cNvPr id="5" name="ledger-rule"/>
          <p:cNvCxnSpPr/>
          <p:nvPr/>
        </p:nvCxnSpPr>
        <p:spPr>
          <a:xfrm>
            <a:off x="609904" y="6199632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6" name="ledger-text"/>
          <p:cNvSpPr txBox="1"/>
          <p:nvPr/>
        </p:nvSpPr>
        <p:spPr>
          <a:xfrm>
            <a:off x="609904" y="6345936"/>
            <a:ext cx="457200" cy="2052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Microsoft YaHei"/>
                <a:ea typeface="Microsoft YaHei"/>
              </a:rPr>
              <a:t>来源</a:t>
            </a:r>
          </a:p>
        </p:txBody>
      </p:sp>
      <p:sp>
        <p:nvSpPr>
          <p:cNvPr id="7" name="ledger-text"/>
          <p:cNvSpPr txBox="1"/>
          <p:nvPr/>
        </p:nvSpPr>
        <p:spPr>
          <a:xfrm>
            <a:off x="1078992" y="6327648"/>
            <a:ext cx="64008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2"/>
              </a:rPr>
              <a:t>GLD</a:t>
            </a:r>
          </a:p>
        </p:txBody>
      </p:sp>
      <p:sp>
        <p:nvSpPr>
          <p:cNvPr id="8" name="ledger-text"/>
          <p:cNvSpPr txBox="1"/>
          <p:nvPr/>
        </p:nvSpPr>
        <p:spPr>
          <a:xfrm>
            <a:off x="1874519" y="6327648"/>
            <a:ext cx="665683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3"/>
              </a:rPr>
              <a:t>BTC-USD</a:t>
            </a:r>
          </a:p>
        </p:txBody>
      </p:sp>
      <p:sp>
        <p:nvSpPr>
          <p:cNvPr id="9" name="ledger-text"/>
          <p:cNvSpPr txBox="1"/>
          <p:nvPr/>
        </p:nvSpPr>
        <p:spPr>
          <a:xfrm>
            <a:off x="2695651" y="6327648"/>
            <a:ext cx="64008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4"/>
              </a:rPr>
              <a:t>SPY</a:t>
            </a:r>
          </a:p>
        </p:txBody>
      </p:sp>
      <p:sp>
        <p:nvSpPr>
          <p:cNvPr id="10" name="ledger-text"/>
          <p:cNvSpPr txBox="1"/>
          <p:nvPr/>
        </p:nvSpPr>
        <p:spPr>
          <a:xfrm>
            <a:off x="11045952" y="6327648"/>
            <a:ext cx="50292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1539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Consolas"/>
                <a:ea typeface="Microsoft YaHei"/>
              </a:rPr>
              <a:t>10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09904" y="2039112"/>
          <a:ext cx="10972800" cy="10149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2286000"/>
                <a:gridCol w="2286000"/>
                <a:gridCol w="2286000"/>
                <a:gridCol w="2286000"/>
              </a:tblGrid>
              <a:tr h="466344"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ts val="22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配置</a:t>
                      </a:r>
                    </a:p>
                  </a:txBody>
                  <a:tcPr marL="109728" marR="109728" marT="64008" marB="64008" anchor="ctr">
                    <a:solidFill>
                      <a:srgbClr val="1E293B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2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累计收益</a:t>
                      </a:r>
                    </a:p>
                  </a:txBody>
                  <a:tcPr marL="109728" marR="109728" marT="64008" marB="64008" anchor="ctr">
                    <a:solidFill>
                      <a:srgbClr val="1E293B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2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年化收益</a:t>
                      </a:r>
                    </a:p>
                  </a:txBody>
                  <a:tcPr marL="109728" marR="109728" marT="64008" marB="64008" anchor="ctr">
                    <a:solidFill>
                      <a:srgbClr val="1E293B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2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年化波动</a:t>
                      </a:r>
                    </a:p>
                  </a:txBody>
                  <a:tcPr marL="109728" marR="109728" marT="64008" marB="64008" anchor="ctr">
                    <a:solidFill>
                      <a:srgbClr val="1E293B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2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最大回撤</a:t>
                      </a:r>
                    </a:p>
                  </a:txBody>
                  <a:tcPr marL="109728" marR="109728" marT="64008" marB="64008" anchor="ctr">
                    <a:solidFill>
                      <a:srgbClr val="1E293B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</a:tr>
              <a:tr h="548640"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Microsoft YaHei"/>
                          <a:ea typeface="Microsoft YaHei"/>
                        </a:rPr>
                        <a:t>组合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  <a:ea typeface="Microsoft YaHei"/>
                        </a:rPr>
                        <a:t>+162.2%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  <a:ea typeface="Microsoft YaHei"/>
                        </a:rPr>
                        <a:t>+21.7%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  <a:ea typeface="Microsoft YaHei"/>
                        </a:rPr>
                        <a:t>+24.9%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  <a:ea typeface="Microsoft YaHei"/>
                        </a:rPr>
                        <a:t>-36.7%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edger-text"/>
          <p:cNvSpPr txBox="1"/>
          <p:nvPr/>
        </p:nvSpPr>
        <p:spPr>
          <a:xfrm>
            <a:off x="609904" y="457200"/>
            <a:ext cx="10972800" cy="61417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E293B"/>
                </a:solidFill>
                <a:latin typeface="Microsoft YaHei"/>
                <a:ea typeface="Microsoft YaHei"/>
              </a:rPr>
              <a:t>配置敏感性</a:t>
            </a:r>
          </a:p>
        </p:txBody>
      </p:sp>
      <p:sp>
        <p:nvSpPr>
          <p:cNvPr id="3" name="ledger-text"/>
          <p:cNvSpPr txBox="1"/>
          <p:nvPr/>
        </p:nvSpPr>
        <p:spPr>
          <a:xfrm>
            <a:off x="609904" y="1161288"/>
            <a:ext cx="10972800" cy="4572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959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</a:rPr>
              <a:t>逐项改变一个参数；分段为历史稳健性检查，不是样本外检验。</a:t>
            </a:r>
          </a:p>
        </p:txBody>
      </p:sp>
      <p:cxnSp>
        <p:nvCxnSpPr>
          <p:cNvPr id="4" name="ledger-rule"/>
          <p:cNvCxnSpPr/>
          <p:nvPr/>
        </p:nvCxnSpPr>
        <p:spPr>
          <a:xfrm>
            <a:off x="609904" y="1737360"/>
            <a:ext cx="10972800" cy="0"/>
          </a:xfrm>
          <a:prstGeom prst="line">
            <a:avLst/>
          </a:prstGeom>
          <a:ln w="13970">
            <a:solidFill>
              <a:srgbClr val="1E293B"/>
            </a:solidFill>
          </a:ln>
          <a:effectLst/>
        </p:spPr>
      </p:cxnSp>
      <p:cxnSp>
        <p:nvCxnSpPr>
          <p:cNvPr id="5" name="ledger-rule"/>
          <p:cNvCxnSpPr/>
          <p:nvPr/>
        </p:nvCxnSpPr>
        <p:spPr>
          <a:xfrm>
            <a:off x="609904" y="6199632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6" name="ledger-text"/>
          <p:cNvSpPr txBox="1"/>
          <p:nvPr/>
        </p:nvSpPr>
        <p:spPr>
          <a:xfrm>
            <a:off x="609904" y="6345936"/>
            <a:ext cx="457200" cy="2052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Microsoft YaHei"/>
                <a:ea typeface="Microsoft YaHei"/>
              </a:rPr>
              <a:t>来源</a:t>
            </a:r>
          </a:p>
        </p:txBody>
      </p:sp>
      <p:sp>
        <p:nvSpPr>
          <p:cNvPr id="7" name="ledger-text"/>
          <p:cNvSpPr txBox="1"/>
          <p:nvPr/>
        </p:nvSpPr>
        <p:spPr>
          <a:xfrm>
            <a:off x="1078992" y="6327648"/>
            <a:ext cx="64008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2"/>
              </a:rPr>
              <a:t>GLD</a:t>
            </a:r>
          </a:p>
        </p:txBody>
      </p:sp>
      <p:sp>
        <p:nvSpPr>
          <p:cNvPr id="8" name="ledger-text"/>
          <p:cNvSpPr txBox="1"/>
          <p:nvPr/>
        </p:nvSpPr>
        <p:spPr>
          <a:xfrm>
            <a:off x="1874519" y="6327648"/>
            <a:ext cx="665683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3"/>
              </a:rPr>
              <a:t>BTC-USD</a:t>
            </a:r>
          </a:p>
        </p:txBody>
      </p:sp>
      <p:sp>
        <p:nvSpPr>
          <p:cNvPr id="9" name="ledger-text"/>
          <p:cNvSpPr txBox="1"/>
          <p:nvPr/>
        </p:nvSpPr>
        <p:spPr>
          <a:xfrm>
            <a:off x="2695651" y="6327648"/>
            <a:ext cx="64008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4"/>
              </a:rPr>
              <a:t>SPY</a:t>
            </a:r>
          </a:p>
        </p:txBody>
      </p:sp>
      <p:sp>
        <p:nvSpPr>
          <p:cNvPr id="10" name="ledger-text"/>
          <p:cNvSpPr txBox="1"/>
          <p:nvPr/>
        </p:nvSpPr>
        <p:spPr>
          <a:xfrm>
            <a:off x="11045952" y="6327648"/>
            <a:ext cx="50292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1539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Consolas"/>
                <a:ea typeface="Microsoft YaHei"/>
              </a:rPr>
              <a:t>11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09904" y="2039112"/>
          <a:ext cx="10972800" cy="346963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57600"/>
                <a:gridCol w="2743200"/>
                <a:gridCol w="2286000"/>
                <a:gridCol w="2286000"/>
              </a:tblGrid>
              <a:tr h="466344"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ts val="22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情景</a:t>
                      </a:r>
                    </a:p>
                  </a:txBody>
                  <a:tcPr marL="109728" marR="109728" marT="64008" marB="64008" anchor="ctr">
                    <a:solidFill>
                      <a:srgbClr val="1E293B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2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区间</a:t>
                      </a:r>
                    </a:p>
                  </a:txBody>
                  <a:tcPr marL="109728" marR="109728" marT="64008" marB="64008" anchor="ctr">
                    <a:solidFill>
                      <a:srgbClr val="1E293B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2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年化收益</a:t>
                      </a:r>
                    </a:p>
                  </a:txBody>
                  <a:tcPr marL="109728" marR="109728" marT="64008" marB="64008" anchor="ctr">
                    <a:solidFill>
                      <a:srgbClr val="1E293B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2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最大回撤</a:t>
                      </a:r>
                    </a:p>
                  </a:txBody>
                  <a:tcPr marL="109728" marR="109728" marT="64008" marB="64008" anchor="ctr">
                    <a:solidFill>
                      <a:srgbClr val="1E293B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</a:tr>
              <a:tr h="750823"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Microsoft YaHei"/>
                          <a:ea typeface="Microsoft YaHei"/>
                        </a:rPr>
                        <a:t>原始配置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  <a:ea typeface="Microsoft YaHei"/>
                        </a:rPr>
                        <a:t>2021-09-30</a:t>
                      </a:r>
                    </a:p>
                    <a:p>
                      <a:pPr algn="r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  <a:ea typeface="Microsoft YaHei"/>
                        </a:rPr>
                        <a:t>2026-08-31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  <a:ea typeface="Microsoft YaHei"/>
                        </a:rPr>
                        <a:t>+21.7%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  <a:ea typeface="Microsoft YaHei"/>
                        </a:rPr>
                        <a:t>-36.7%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</a:tr>
              <a:tr h="750823"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Microsoft YaHei"/>
                          <a:ea typeface="Microsoft YaHei"/>
                        </a:rPr>
                        <a:t>成本 0 bps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  <a:ea typeface="Microsoft YaHei"/>
                        </a:rPr>
                        <a:t>2021-09-30</a:t>
                      </a:r>
                    </a:p>
                    <a:p>
                      <a:pPr algn="r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  <a:ea typeface="Microsoft YaHei"/>
                        </a:rPr>
                        <a:t>2026-08-31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  <a:ea typeface="Microsoft YaHei"/>
                        </a:rPr>
                        <a:t>+21.8%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  <a:ea typeface="Microsoft YaHei"/>
                        </a:rPr>
                        <a:t>-36.6%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</a:tr>
              <a:tr h="750823"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Microsoft YaHei"/>
                          <a:ea typeface="Microsoft YaHei"/>
                        </a:rPr>
                        <a:t>成本 10 bps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  <a:ea typeface="Microsoft YaHei"/>
                        </a:rPr>
                        <a:t>2021-09-30</a:t>
                      </a:r>
                    </a:p>
                    <a:p>
                      <a:pPr algn="r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  <a:ea typeface="Microsoft YaHei"/>
                        </a:rPr>
                        <a:t>2026-08-31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  <a:ea typeface="Microsoft YaHei"/>
                        </a:rPr>
                        <a:t>+21.7%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  <a:ea typeface="Microsoft YaHei"/>
                        </a:rPr>
                        <a:t>-36.7%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</a:tr>
              <a:tr h="750823"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Microsoft YaHei"/>
                          <a:ea typeface="Microsoft YaHei"/>
                        </a:rPr>
                        <a:t>成本 25 bps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  <a:ea typeface="Microsoft YaHei"/>
                        </a:rPr>
                        <a:t>2021-09-30</a:t>
                      </a:r>
                    </a:p>
                    <a:p>
                      <a:pPr algn="r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  <a:ea typeface="Microsoft YaHei"/>
                        </a:rPr>
                        <a:t>2026-08-31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  <a:ea typeface="Microsoft YaHei"/>
                        </a:rPr>
                        <a:t>+21.6%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  <a:ea typeface="Microsoft YaHei"/>
                        </a:rPr>
                        <a:t>-36.8%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edger-text"/>
          <p:cNvSpPr txBox="1"/>
          <p:nvPr/>
        </p:nvSpPr>
        <p:spPr>
          <a:xfrm>
            <a:off x="609904" y="457200"/>
            <a:ext cx="10972800" cy="61417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E293B"/>
                </a:solidFill>
                <a:latin typeface="Microsoft YaHei"/>
                <a:ea typeface="Microsoft YaHei"/>
              </a:rPr>
              <a:t>配置敏感性</a:t>
            </a:r>
          </a:p>
        </p:txBody>
      </p:sp>
      <p:sp>
        <p:nvSpPr>
          <p:cNvPr id="3" name="ledger-text"/>
          <p:cNvSpPr txBox="1"/>
          <p:nvPr/>
        </p:nvSpPr>
        <p:spPr>
          <a:xfrm>
            <a:off x="609904" y="1161288"/>
            <a:ext cx="10972800" cy="4572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959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</a:rPr>
              <a:t>逐项改变一个参数；分段为历史稳健性检查，不是样本外检验。</a:t>
            </a:r>
          </a:p>
        </p:txBody>
      </p:sp>
      <p:cxnSp>
        <p:nvCxnSpPr>
          <p:cNvPr id="4" name="ledger-rule"/>
          <p:cNvCxnSpPr/>
          <p:nvPr/>
        </p:nvCxnSpPr>
        <p:spPr>
          <a:xfrm>
            <a:off x="609904" y="1737360"/>
            <a:ext cx="10972800" cy="0"/>
          </a:xfrm>
          <a:prstGeom prst="line">
            <a:avLst/>
          </a:prstGeom>
          <a:ln w="13970">
            <a:solidFill>
              <a:srgbClr val="1E293B"/>
            </a:solidFill>
          </a:ln>
          <a:effectLst/>
        </p:spPr>
      </p:cxnSp>
      <p:cxnSp>
        <p:nvCxnSpPr>
          <p:cNvPr id="5" name="ledger-rule"/>
          <p:cNvCxnSpPr/>
          <p:nvPr/>
        </p:nvCxnSpPr>
        <p:spPr>
          <a:xfrm>
            <a:off x="609904" y="6199632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6" name="ledger-text"/>
          <p:cNvSpPr txBox="1"/>
          <p:nvPr/>
        </p:nvSpPr>
        <p:spPr>
          <a:xfrm>
            <a:off x="609904" y="6345936"/>
            <a:ext cx="457200" cy="2052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Microsoft YaHei"/>
                <a:ea typeface="Microsoft YaHei"/>
              </a:rPr>
              <a:t>来源</a:t>
            </a:r>
          </a:p>
        </p:txBody>
      </p:sp>
      <p:sp>
        <p:nvSpPr>
          <p:cNvPr id="7" name="ledger-text"/>
          <p:cNvSpPr txBox="1"/>
          <p:nvPr/>
        </p:nvSpPr>
        <p:spPr>
          <a:xfrm>
            <a:off x="1078992" y="6327648"/>
            <a:ext cx="64008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2"/>
              </a:rPr>
              <a:t>GLD</a:t>
            </a:r>
          </a:p>
        </p:txBody>
      </p:sp>
      <p:sp>
        <p:nvSpPr>
          <p:cNvPr id="8" name="ledger-text"/>
          <p:cNvSpPr txBox="1"/>
          <p:nvPr/>
        </p:nvSpPr>
        <p:spPr>
          <a:xfrm>
            <a:off x="1874519" y="6327648"/>
            <a:ext cx="665683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3"/>
              </a:rPr>
              <a:t>BTC-USD</a:t>
            </a:r>
          </a:p>
        </p:txBody>
      </p:sp>
      <p:sp>
        <p:nvSpPr>
          <p:cNvPr id="9" name="ledger-text"/>
          <p:cNvSpPr txBox="1"/>
          <p:nvPr/>
        </p:nvSpPr>
        <p:spPr>
          <a:xfrm>
            <a:off x="2695651" y="6327648"/>
            <a:ext cx="64008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4"/>
              </a:rPr>
              <a:t>SPY</a:t>
            </a:r>
          </a:p>
        </p:txBody>
      </p:sp>
      <p:sp>
        <p:nvSpPr>
          <p:cNvPr id="10" name="ledger-text"/>
          <p:cNvSpPr txBox="1"/>
          <p:nvPr/>
        </p:nvSpPr>
        <p:spPr>
          <a:xfrm>
            <a:off x="11045952" y="6327648"/>
            <a:ext cx="50292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1539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Consolas"/>
                <a:ea typeface="Microsoft YaHei"/>
              </a:rPr>
              <a:t>12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09904" y="2039112"/>
          <a:ext cx="10972800" cy="346963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57600"/>
                <a:gridCol w="2743200"/>
                <a:gridCol w="2286000"/>
                <a:gridCol w="2286000"/>
              </a:tblGrid>
              <a:tr h="466344"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ts val="22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情景</a:t>
                      </a:r>
                    </a:p>
                  </a:txBody>
                  <a:tcPr marL="109728" marR="109728" marT="64008" marB="64008" anchor="ctr">
                    <a:solidFill>
                      <a:srgbClr val="1E293B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2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区间</a:t>
                      </a:r>
                    </a:p>
                  </a:txBody>
                  <a:tcPr marL="109728" marR="109728" marT="64008" marB="64008" anchor="ctr">
                    <a:solidFill>
                      <a:srgbClr val="1E293B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2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年化收益</a:t>
                      </a:r>
                    </a:p>
                  </a:txBody>
                  <a:tcPr marL="109728" marR="109728" marT="64008" marB="64008" anchor="ctr">
                    <a:solidFill>
                      <a:srgbClr val="1E293B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2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最大回撤</a:t>
                      </a:r>
                    </a:p>
                  </a:txBody>
                  <a:tcPr marL="109728" marR="109728" marT="64008" marB="64008" anchor="ctr">
                    <a:solidFill>
                      <a:srgbClr val="1E293B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</a:tr>
              <a:tr h="750823"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Microsoft YaHei"/>
                          <a:ea typeface="Microsoft YaHei"/>
                        </a:rPr>
                        <a:t>成本 50 bps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  <a:ea typeface="Microsoft YaHei"/>
                        </a:rPr>
                        <a:t>2021-09-30</a:t>
                      </a:r>
                    </a:p>
                    <a:p>
                      <a:pPr algn="r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  <a:ea typeface="Microsoft YaHei"/>
                        </a:rPr>
                        <a:t>2026-08-31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  <a:ea typeface="Microsoft YaHei"/>
                        </a:rPr>
                        <a:t>+21.4%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  <a:ea typeface="Microsoft YaHei"/>
                        </a:rPr>
                        <a:t>-36.9%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</a:tr>
              <a:tr h="750823"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Microsoft YaHei"/>
                          <a:ea typeface="Microsoft YaHei"/>
                        </a:rPr>
                        <a:t>买入持有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  <a:ea typeface="Microsoft YaHei"/>
                        </a:rPr>
                        <a:t>2021-09-30</a:t>
                      </a:r>
                    </a:p>
                    <a:p>
                      <a:pPr algn="r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  <a:ea typeface="Microsoft YaHei"/>
                        </a:rPr>
                        <a:t>2026-08-31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  <a:ea typeface="Microsoft YaHei"/>
                        </a:rPr>
                        <a:t>+17.2%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  <a:ea typeface="Microsoft YaHei"/>
                        </a:rPr>
                        <a:t>-37.3%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</a:tr>
              <a:tr h="750823"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Microsoft YaHei"/>
                          <a:ea typeface="Microsoft YaHei"/>
                        </a:rPr>
                        <a:t>每 1 月再平衡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  <a:ea typeface="Microsoft YaHei"/>
                        </a:rPr>
                        <a:t>2021-09-30</a:t>
                      </a:r>
                    </a:p>
                    <a:p>
                      <a:pPr algn="r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  <a:ea typeface="Microsoft YaHei"/>
                        </a:rPr>
                        <a:t>2026-08-31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  <a:ea typeface="Microsoft YaHei"/>
                        </a:rPr>
                        <a:t>+21.6%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  <a:ea typeface="Microsoft YaHei"/>
                        </a:rPr>
                        <a:t>-36.3%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</a:tr>
              <a:tr h="750823"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Microsoft YaHei"/>
                          <a:ea typeface="Microsoft YaHei"/>
                        </a:rPr>
                        <a:t>每 12 月再平衡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  <a:ea typeface="Microsoft YaHei"/>
                        </a:rPr>
                        <a:t>2021-09-30</a:t>
                      </a:r>
                    </a:p>
                    <a:p>
                      <a:pPr algn="r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  <a:ea typeface="Microsoft YaHei"/>
                        </a:rPr>
                        <a:t>2026-08-31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  <a:ea typeface="Microsoft YaHei"/>
                        </a:rPr>
                        <a:t>+18.7%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  <a:ea typeface="Microsoft YaHei"/>
                        </a:rPr>
                        <a:t>-37.4%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edger-text"/>
          <p:cNvSpPr txBox="1"/>
          <p:nvPr/>
        </p:nvSpPr>
        <p:spPr>
          <a:xfrm>
            <a:off x="609904" y="457200"/>
            <a:ext cx="10972800" cy="61417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E293B"/>
                </a:solidFill>
                <a:latin typeface="Microsoft YaHei"/>
                <a:ea typeface="Microsoft YaHei"/>
              </a:rPr>
              <a:t>配置敏感性</a:t>
            </a:r>
          </a:p>
        </p:txBody>
      </p:sp>
      <p:sp>
        <p:nvSpPr>
          <p:cNvPr id="3" name="ledger-text"/>
          <p:cNvSpPr txBox="1"/>
          <p:nvPr/>
        </p:nvSpPr>
        <p:spPr>
          <a:xfrm>
            <a:off x="609904" y="1161288"/>
            <a:ext cx="10972800" cy="4572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959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</a:rPr>
              <a:t>逐项改变一个参数；分段为历史稳健性检查，不是样本外检验。</a:t>
            </a:r>
          </a:p>
        </p:txBody>
      </p:sp>
      <p:cxnSp>
        <p:nvCxnSpPr>
          <p:cNvPr id="4" name="ledger-rule"/>
          <p:cNvCxnSpPr/>
          <p:nvPr/>
        </p:nvCxnSpPr>
        <p:spPr>
          <a:xfrm>
            <a:off x="609904" y="1737360"/>
            <a:ext cx="10972800" cy="0"/>
          </a:xfrm>
          <a:prstGeom prst="line">
            <a:avLst/>
          </a:prstGeom>
          <a:ln w="13970">
            <a:solidFill>
              <a:srgbClr val="1E293B"/>
            </a:solidFill>
          </a:ln>
          <a:effectLst/>
        </p:spPr>
      </p:cxnSp>
      <p:cxnSp>
        <p:nvCxnSpPr>
          <p:cNvPr id="5" name="ledger-rule"/>
          <p:cNvCxnSpPr/>
          <p:nvPr/>
        </p:nvCxnSpPr>
        <p:spPr>
          <a:xfrm>
            <a:off x="609904" y="6199632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6" name="ledger-text"/>
          <p:cNvSpPr txBox="1"/>
          <p:nvPr/>
        </p:nvSpPr>
        <p:spPr>
          <a:xfrm>
            <a:off x="609904" y="6345936"/>
            <a:ext cx="457200" cy="2052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Microsoft YaHei"/>
                <a:ea typeface="Microsoft YaHei"/>
              </a:rPr>
              <a:t>来源</a:t>
            </a:r>
          </a:p>
        </p:txBody>
      </p:sp>
      <p:sp>
        <p:nvSpPr>
          <p:cNvPr id="7" name="ledger-text"/>
          <p:cNvSpPr txBox="1"/>
          <p:nvPr/>
        </p:nvSpPr>
        <p:spPr>
          <a:xfrm>
            <a:off x="1078992" y="6327648"/>
            <a:ext cx="64008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2"/>
              </a:rPr>
              <a:t>GLD</a:t>
            </a:r>
          </a:p>
        </p:txBody>
      </p:sp>
      <p:sp>
        <p:nvSpPr>
          <p:cNvPr id="8" name="ledger-text"/>
          <p:cNvSpPr txBox="1"/>
          <p:nvPr/>
        </p:nvSpPr>
        <p:spPr>
          <a:xfrm>
            <a:off x="1874519" y="6327648"/>
            <a:ext cx="665683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3"/>
              </a:rPr>
              <a:t>BTC-USD</a:t>
            </a:r>
          </a:p>
        </p:txBody>
      </p:sp>
      <p:sp>
        <p:nvSpPr>
          <p:cNvPr id="9" name="ledger-text"/>
          <p:cNvSpPr txBox="1"/>
          <p:nvPr/>
        </p:nvSpPr>
        <p:spPr>
          <a:xfrm>
            <a:off x="2695651" y="6327648"/>
            <a:ext cx="64008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4"/>
              </a:rPr>
              <a:t>SPY</a:t>
            </a:r>
          </a:p>
        </p:txBody>
      </p:sp>
      <p:sp>
        <p:nvSpPr>
          <p:cNvPr id="10" name="ledger-text"/>
          <p:cNvSpPr txBox="1"/>
          <p:nvPr/>
        </p:nvSpPr>
        <p:spPr>
          <a:xfrm>
            <a:off x="11045952" y="6327648"/>
            <a:ext cx="50292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1539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Consolas"/>
                <a:ea typeface="Microsoft YaHei"/>
              </a:rPr>
              <a:t>13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09904" y="2039112"/>
          <a:ext cx="10972800" cy="346963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57600"/>
                <a:gridCol w="2743200"/>
                <a:gridCol w="2286000"/>
                <a:gridCol w="2286000"/>
              </a:tblGrid>
              <a:tr h="466344"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ts val="22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情景</a:t>
                      </a:r>
                    </a:p>
                  </a:txBody>
                  <a:tcPr marL="109728" marR="109728" marT="64008" marB="64008" anchor="ctr">
                    <a:solidFill>
                      <a:srgbClr val="1E293B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2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区间</a:t>
                      </a:r>
                    </a:p>
                  </a:txBody>
                  <a:tcPr marL="109728" marR="109728" marT="64008" marB="64008" anchor="ctr">
                    <a:solidFill>
                      <a:srgbClr val="1E293B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2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年化收益</a:t>
                      </a:r>
                    </a:p>
                  </a:txBody>
                  <a:tcPr marL="109728" marR="109728" marT="64008" marB="64008" anchor="ctr">
                    <a:solidFill>
                      <a:srgbClr val="1E293B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2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最大回撤</a:t>
                      </a:r>
                    </a:p>
                  </a:txBody>
                  <a:tcPr marL="109728" marR="109728" marT="64008" marB="64008" anchor="ctr">
                    <a:solidFill>
                      <a:srgbClr val="1E293B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</a:tr>
              <a:tr h="750823"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Microsoft YaHei"/>
                          <a:ea typeface="Microsoft YaHei"/>
                        </a:rPr>
                        <a:t>GLD 20%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  <a:ea typeface="Microsoft YaHei"/>
                        </a:rPr>
                        <a:t>2021-09-30</a:t>
                      </a:r>
                    </a:p>
                    <a:p>
                      <a:pPr algn="r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  <a:ea typeface="Microsoft YaHei"/>
                        </a:rPr>
                        <a:t>2026-08-31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  <a:ea typeface="Microsoft YaHei"/>
                        </a:rPr>
                        <a:t>+17.4%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  <a:ea typeface="Microsoft YaHei"/>
                        </a:rPr>
                        <a:t>-62.8%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</a:tr>
              <a:tr h="750823"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Microsoft YaHei"/>
                          <a:ea typeface="Microsoft YaHei"/>
                        </a:rPr>
                        <a:t>GLD 50%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  <a:ea typeface="Microsoft YaHei"/>
                        </a:rPr>
                        <a:t>2021-09-30</a:t>
                      </a:r>
                    </a:p>
                    <a:p>
                      <a:pPr algn="r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  <a:ea typeface="Microsoft YaHei"/>
                        </a:rPr>
                        <a:t>2026-08-31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  <a:ea typeface="Microsoft YaHei"/>
                        </a:rPr>
                        <a:t>+21.2%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  <a:ea typeface="Microsoft YaHei"/>
                        </a:rPr>
                        <a:t>-44.0%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</a:tr>
              <a:tr h="750823"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Microsoft YaHei"/>
                          <a:ea typeface="Microsoft YaHei"/>
                        </a:rPr>
                        <a:t>GLD 80%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  <a:ea typeface="Microsoft YaHei"/>
                        </a:rPr>
                        <a:t>2021-09-30</a:t>
                      </a:r>
                    </a:p>
                    <a:p>
                      <a:pPr algn="r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  <a:ea typeface="Microsoft YaHei"/>
                        </a:rPr>
                        <a:t>2026-08-31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  <a:ea typeface="Microsoft YaHei"/>
                        </a:rPr>
                        <a:t>+21.6%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  <a:ea typeface="Microsoft YaHei"/>
                        </a:rPr>
                        <a:t>-22.5%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</a:tr>
              <a:tr h="750823"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Microsoft YaHei"/>
                          <a:ea typeface="Microsoft YaHei"/>
                        </a:rPr>
                        <a:t>前半区间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  <a:ea typeface="Microsoft YaHei"/>
                        </a:rPr>
                        <a:t>2021-09-30</a:t>
                      </a:r>
                    </a:p>
                    <a:p>
                      <a:pPr algn="r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  <a:ea typeface="Microsoft YaHei"/>
                        </a:rPr>
                        <a:t>2024-03-28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  <a:ea typeface="Microsoft YaHei"/>
                        </a:rPr>
                        <a:t>+18.9%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  <a:ea typeface="Microsoft YaHei"/>
                        </a:rPr>
                        <a:t>-36.7%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edger-text"/>
          <p:cNvSpPr txBox="1"/>
          <p:nvPr/>
        </p:nvSpPr>
        <p:spPr>
          <a:xfrm>
            <a:off x="609904" y="457200"/>
            <a:ext cx="10972800" cy="61417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E293B"/>
                </a:solidFill>
                <a:latin typeface="Microsoft YaHei"/>
                <a:ea typeface="Microsoft YaHei"/>
              </a:rPr>
              <a:t>配置敏感性</a:t>
            </a:r>
          </a:p>
        </p:txBody>
      </p:sp>
      <p:sp>
        <p:nvSpPr>
          <p:cNvPr id="3" name="ledger-text"/>
          <p:cNvSpPr txBox="1"/>
          <p:nvPr/>
        </p:nvSpPr>
        <p:spPr>
          <a:xfrm>
            <a:off x="609904" y="1161288"/>
            <a:ext cx="10972800" cy="4572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959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</a:rPr>
              <a:t>逐项改变一个参数；分段为历史稳健性检查，不是样本外检验。</a:t>
            </a:r>
          </a:p>
        </p:txBody>
      </p:sp>
      <p:cxnSp>
        <p:nvCxnSpPr>
          <p:cNvPr id="4" name="ledger-rule"/>
          <p:cNvCxnSpPr/>
          <p:nvPr/>
        </p:nvCxnSpPr>
        <p:spPr>
          <a:xfrm>
            <a:off x="609904" y="1737360"/>
            <a:ext cx="10972800" cy="0"/>
          </a:xfrm>
          <a:prstGeom prst="line">
            <a:avLst/>
          </a:prstGeom>
          <a:ln w="13970">
            <a:solidFill>
              <a:srgbClr val="1E293B"/>
            </a:solidFill>
          </a:ln>
          <a:effectLst/>
        </p:spPr>
      </p:cxnSp>
      <p:cxnSp>
        <p:nvCxnSpPr>
          <p:cNvPr id="5" name="ledger-rule"/>
          <p:cNvCxnSpPr/>
          <p:nvPr/>
        </p:nvCxnSpPr>
        <p:spPr>
          <a:xfrm>
            <a:off x="609904" y="6199632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6" name="ledger-text"/>
          <p:cNvSpPr txBox="1"/>
          <p:nvPr/>
        </p:nvSpPr>
        <p:spPr>
          <a:xfrm>
            <a:off x="609904" y="6345936"/>
            <a:ext cx="457200" cy="2052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Microsoft YaHei"/>
                <a:ea typeface="Microsoft YaHei"/>
              </a:rPr>
              <a:t>来源</a:t>
            </a:r>
          </a:p>
        </p:txBody>
      </p:sp>
      <p:sp>
        <p:nvSpPr>
          <p:cNvPr id="7" name="ledger-text"/>
          <p:cNvSpPr txBox="1"/>
          <p:nvPr/>
        </p:nvSpPr>
        <p:spPr>
          <a:xfrm>
            <a:off x="1078992" y="6327648"/>
            <a:ext cx="64008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2"/>
              </a:rPr>
              <a:t>GLD</a:t>
            </a:r>
          </a:p>
        </p:txBody>
      </p:sp>
      <p:sp>
        <p:nvSpPr>
          <p:cNvPr id="8" name="ledger-text"/>
          <p:cNvSpPr txBox="1"/>
          <p:nvPr/>
        </p:nvSpPr>
        <p:spPr>
          <a:xfrm>
            <a:off x="1874519" y="6327648"/>
            <a:ext cx="665683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3"/>
              </a:rPr>
              <a:t>BTC-USD</a:t>
            </a:r>
          </a:p>
        </p:txBody>
      </p:sp>
      <p:sp>
        <p:nvSpPr>
          <p:cNvPr id="9" name="ledger-text"/>
          <p:cNvSpPr txBox="1"/>
          <p:nvPr/>
        </p:nvSpPr>
        <p:spPr>
          <a:xfrm>
            <a:off x="2695651" y="6327648"/>
            <a:ext cx="64008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4"/>
              </a:rPr>
              <a:t>SPY</a:t>
            </a:r>
          </a:p>
        </p:txBody>
      </p:sp>
      <p:sp>
        <p:nvSpPr>
          <p:cNvPr id="10" name="ledger-text"/>
          <p:cNvSpPr txBox="1"/>
          <p:nvPr/>
        </p:nvSpPr>
        <p:spPr>
          <a:xfrm>
            <a:off x="11045952" y="6327648"/>
            <a:ext cx="50292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1539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Consolas"/>
                <a:ea typeface="Microsoft YaHei"/>
              </a:rPr>
              <a:t>14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09904" y="2039112"/>
          <a:ext cx="10972800" cy="121716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57600"/>
                <a:gridCol w="2743200"/>
                <a:gridCol w="2286000"/>
                <a:gridCol w="2286000"/>
              </a:tblGrid>
              <a:tr h="466344"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ts val="22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情景</a:t>
                      </a:r>
                    </a:p>
                  </a:txBody>
                  <a:tcPr marL="109728" marR="109728" marT="64008" marB="64008" anchor="ctr">
                    <a:solidFill>
                      <a:srgbClr val="1E293B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2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区间</a:t>
                      </a:r>
                    </a:p>
                  </a:txBody>
                  <a:tcPr marL="109728" marR="109728" marT="64008" marB="64008" anchor="ctr">
                    <a:solidFill>
                      <a:srgbClr val="1E293B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2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年化收益</a:t>
                      </a:r>
                    </a:p>
                  </a:txBody>
                  <a:tcPr marL="109728" marR="109728" marT="64008" marB="64008" anchor="ctr">
                    <a:solidFill>
                      <a:srgbClr val="1E293B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2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最大回撤</a:t>
                      </a:r>
                    </a:p>
                  </a:txBody>
                  <a:tcPr marL="109728" marR="109728" marT="64008" marB="64008" anchor="ctr">
                    <a:solidFill>
                      <a:srgbClr val="1E293B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</a:tr>
              <a:tr h="750823"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Microsoft YaHei"/>
                          <a:ea typeface="Microsoft YaHei"/>
                        </a:rPr>
                        <a:t>后半区间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  <a:ea typeface="Microsoft YaHei"/>
                        </a:rPr>
                        <a:t>2024-03-28</a:t>
                      </a:r>
                    </a:p>
                    <a:p>
                      <a:pPr algn="r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  <a:ea typeface="Microsoft YaHei"/>
                        </a:rPr>
                        <a:t>2026-08-31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  <a:ea typeface="Microsoft YaHei"/>
                        </a:rPr>
                        <a:t>+23.6%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r">
                        <a:lnSpc>
                          <a:spcPts val="23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  <a:ea typeface="Microsoft YaHei"/>
                        </a:rPr>
                        <a:t>-19.2%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edger-text"/>
          <p:cNvSpPr txBox="1"/>
          <p:nvPr/>
        </p:nvSpPr>
        <p:spPr>
          <a:xfrm>
            <a:off x="609904" y="457200"/>
            <a:ext cx="10972800" cy="61417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E293B"/>
                </a:solidFill>
                <a:latin typeface="Microsoft YaHei"/>
                <a:ea typeface="Microsoft YaHei"/>
              </a:rPr>
              <a:t>决策框架：避险</a:t>
            </a:r>
          </a:p>
        </p:txBody>
      </p:sp>
      <p:sp>
        <p:nvSpPr>
          <p:cNvPr id="3" name="ledger-text"/>
          <p:cNvSpPr txBox="1"/>
          <p:nvPr/>
        </p:nvSpPr>
        <p:spPr>
          <a:xfrm>
            <a:off x="609904" y="1161288"/>
            <a:ext cx="10972800" cy="4572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959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</a:rPr>
              <a:t/>
            </a:r>
          </a:p>
        </p:txBody>
      </p:sp>
      <p:cxnSp>
        <p:nvCxnSpPr>
          <p:cNvPr id="4" name="ledger-rule"/>
          <p:cNvCxnSpPr/>
          <p:nvPr/>
        </p:nvCxnSpPr>
        <p:spPr>
          <a:xfrm>
            <a:off x="609904" y="1737360"/>
            <a:ext cx="10972800" cy="0"/>
          </a:xfrm>
          <a:prstGeom prst="line">
            <a:avLst/>
          </a:prstGeom>
          <a:ln w="13970">
            <a:solidFill>
              <a:srgbClr val="1E293B"/>
            </a:solidFill>
          </a:ln>
          <a:effectLst/>
        </p:spPr>
      </p:cxnSp>
      <p:cxnSp>
        <p:nvCxnSpPr>
          <p:cNvPr id="5" name="ledger-rule"/>
          <p:cNvCxnSpPr/>
          <p:nvPr/>
        </p:nvCxnSpPr>
        <p:spPr>
          <a:xfrm>
            <a:off x="609904" y="6199632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6" name="ledger-text"/>
          <p:cNvSpPr txBox="1"/>
          <p:nvPr/>
        </p:nvSpPr>
        <p:spPr>
          <a:xfrm>
            <a:off x="609904" y="6345936"/>
            <a:ext cx="457200" cy="2052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Microsoft YaHei"/>
                <a:ea typeface="Microsoft YaHei"/>
              </a:rPr>
              <a:t>来源</a:t>
            </a:r>
          </a:p>
        </p:txBody>
      </p:sp>
      <p:sp>
        <p:nvSpPr>
          <p:cNvPr id="7" name="ledger-text"/>
          <p:cNvSpPr txBox="1"/>
          <p:nvPr/>
        </p:nvSpPr>
        <p:spPr>
          <a:xfrm>
            <a:off x="1078992" y="6327648"/>
            <a:ext cx="64008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2"/>
              </a:rPr>
              <a:t>GLD</a:t>
            </a:r>
          </a:p>
        </p:txBody>
      </p:sp>
      <p:sp>
        <p:nvSpPr>
          <p:cNvPr id="8" name="ledger-text"/>
          <p:cNvSpPr txBox="1"/>
          <p:nvPr/>
        </p:nvSpPr>
        <p:spPr>
          <a:xfrm>
            <a:off x="1874519" y="6327648"/>
            <a:ext cx="665683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3"/>
              </a:rPr>
              <a:t>BTC-USD</a:t>
            </a:r>
          </a:p>
        </p:txBody>
      </p:sp>
      <p:sp>
        <p:nvSpPr>
          <p:cNvPr id="9" name="ledger-text"/>
          <p:cNvSpPr txBox="1"/>
          <p:nvPr/>
        </p:nvSpPr>
        <p:spPr>
          <a:xfrm>
            <a:off x="2695651" y="6327648"/>
            <a:ext cx="64008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4"/>
              </a:rPr>
              <a:t>SPY</a:t>
            </a:r>
          </a:p>
        </p:txBody>
      </p:sp>
      <p:sp>
        <p:nvSpPr>
          <p:cNvPr id="10" name="ledger-text"/>
          <p:cNvSpPr txBox="1"/>
          <p:nvPr/>
        </p:nvSpPr>
        <p:spPr>
          <a:xfrm>
            <a:off x="11045952" y="6327648"/>
            <a:ext cx="50292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1539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Consolas"/>
                <a:ea typeface="Microsoft YaHei"/>
              </a:rPr>
              <a:t>15</a:t>
            </a:r>
          </a:p>
        </p:txBody>
      </p:sp>
      <p:sp>
        <p:nvSpPr>
          <p:cNvPr id="11" name="ledger-text"/>
          <p:cNvSpPr txBox="1"/>
          <p:nvPr/>
        </p:nvSpPr>
        <p:spPr>
          <a:xfrm>
            <a:off x="609904" y="2011680"/>
            <a:ext cx="21945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待回答问题</a:t>
            </a:r>
          </a:p>
        </p:txBody>
      </p:sp>
      <p:sp>
        <p:nvSpPr>
          <p:cNvPr id="12" name="ledger-text"/>
          <p:cNvSpPr txBox="1"/>
          <p:nvPr/>
        </p:nvSpPr>
        <p:spPr>
          <a:xfrm>
            <a:off x="3035808" y="2011680"/>
            <a:ext cx="822960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基准下跌期间是否保值</a:t>
            </a:r>
          </a:p>
        </p:txBody>
      </p:sp>
      <p:cxnSp>
        <p:nvCxnSpPr>
          <p:cNvPr id="13" name="ledger-rule"/>
          <p:cNvCxnSpPr/>
          <p:nvPr/>
        </p:nvCxnSpPr>
        <p:spPr>
          <a:xfrm>
            <a:off x="609904" y="2624328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14" name="ledger-text"/>
          <p:cNvSpPr txBox="1"/>
          <p:nvPr/>
        </p:nvSpPr>
        <p:spPr>
          <a:xfrm>
            <a:off x="609904" y="2743200"/>
            <a:ext cx="21945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检验指标</a:t>
            </a:r>
          </a:p>
        </p:txBody>
      </p:sp>
      <p:sp>
        <p:nvSpPr>
          <p:cNvPr id="15" name="ledger-text"/>
          <p:cNvSpPr txBox="1"/>
          <p:nvPr/>
        </p:nvSpPr>
        <p:spPr>
          <a:xfrm>
            <a:off x="3035808" y="2743200"/>
            <a:ext cx="822960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压力月份收益、最大回撤、滚动相关性</a:t>
            </a:r>
          </a:p>
        </p:txBody>
      </p:sp>
      <p:cxnSp>
        <p:nvCxnSpPr>
          <p:cNvPr id="16" name="ledger-rule"/>
          <p:cNvCxnSpPr/>
          <p:nvPr/>
        </p:nvCxnSpPr>
        <p:spPr>
          <a:xfrm>
            <a:off x="609904" y="3355848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17" name="ledger-text"/>
          <p:cNvSpPr txBox="1"/>
          <p:nvPr/>
        </p:nvSpPr>
        <p:spPr>
          <a:xfrm>
            <a:off x="609904" y="3474720"/>
            <a:ext cx="21945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接受条件</a:t>
            </a:r>
          </a:p>
        </p:txBody>
      </p:sp>
      <p:sp>
        <p:nvSpPr>
          <p:cNvPr id="18" name="ledger-text"/>
          <p:cNvSpPr txBox="1"/>
          <p:nvPr/>
        </p:nvSpPr>
        <p:spPr>
          <a:xfrm>
            <a:off x="3035808" y="3474720"/>
            <a:ext cx="822960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仅在已检验情景成立时接受，避免用长期涨幅代替危机表现</a:t>
            </a:r>
          </a:p>
        </p:txBody>
      </p:sp>
      <p:cxnSp>
        <p:nvCxnSpPr>
          <p:cNvPr id="19" name="ledger-rule"/>
          <p:cNvCxnSpPr/>
          <p:nvPr/>
        </p:nvCxnSpPr>
        <p:spPr>
          <a:xfrm>
            <a:off x="609904" y="4087368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edger-text"/>
          <p:cNvSpPr txBox="1"/>
          <p:nvPr/>
        </p:nvSpPr>
        <p:spPr>
          <a:xfrm>
            <a:off x="609904" y="457200"/>
            <a:ext cx="10972800" cy="61417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E293B"/>
                </a:solidFill>
                <a:latin typeface="Microsoft YaHei"/>
                <a:ea typeface="Microsoft YaHei"/>
              </a:rPr>
              <a:t>决策框架：抗通胀</a:t>
            </a:r>
          </a:p>
        </p:txBody>
      </p:sp>
      <p:sp>
        <p:nvSpPr>
          <p:cNvPr id="3" name="ledger-text"/>
          <p:cNvSpPr txBox="1"/>
          <p:nvPr/>
        </p:nvSpPr>
        <p:spPr>
          <a:xfrm>
            <a:off x="609904" y="1161288"/>
            <a:ext cx="10972800" cy="4572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959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</a:rPr>
              <a:t/>
            </a:r>
          </a:p>
        </p:txBody>
      </p:sp>
      <p:cxnSp>
        <p:nvCxnSpPr>
          <p:cNvPr id="4" name="ledger-rule"/>
          <p:cNvCxnSpPr/>
          <p:nvPr/>
        </p:nvCxnSpPr>
        <p:spPr>
          <a:xfrm>
            <a:off x="609904" y="1737360"/>
            <a:ext cx="10972800" cy="0"/>
          </a:xfrm>
          <a:prstGeom prst="line">
            <a:avLst/>
          </a:prstGeom>
          <a:ln w="13970">
            <a:solidFill>
              <a:srgbClr val="1E293B"/>
            </a:solidFill>
          </a:ln>
          <a:effectLst/>
        </p:spPr>
      </p:cxnSp>
      <p:cxnSp>
        <p:nvCxnSpPr>
          <p:cNvPr id="5" name="ledger-rule"/>
          <p:cNvCxnSpPr/>
          <p:nvPr/>
        </p:nvCxnSpPr>
        <p:spPr>
          <a:xfrm>
            <a:off x="609904" y="6199632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6" name="ledger-text"/>
          <p:cNvSpPr txBox="1"/>
          <p:nvPr/>
        </p:nvSpPr>
        <p:spPr>
          <a:xfrm>
            <a:off x="609904" y="6345936"/>
            <a:ext cx="457200" cy="2052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Microsoft YaHei"/>
                <a:ea typeface="Microsoft YaHei"/>
              </a:rPr>
              <a:t>来源</a:t>
            </a:r>
          </a:p>
        </p:txBody>
      </p:sp>
      <p:sp>
        <p:nvSpPr>
          <p:cNvPr id="7" name="ledger-text"/>
          <p:cNvSpPr txBox="1"/>
          <p:nvPr/>
        </p:nvSpPr>
        <p:spPr>
          <a:xfrm>
            <a:off x="1078992" y="6327648"/>
            <a:ext cx="64008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2"/>
              </a:rPr>
              <a:t>GLD</a:t>
            </a:r>
          </a:p>
        </p:txBody>
      </p:sp>
      <p:sp>
        <p:nvSpPr>
          <p:cNvPr id="8" name="ledger-text"/>
          <p:cNvSpPr txBox="1"/>
          <p:nvPr/>
        </p:nvSpPr>
        <p:spPr>
          <a:xfrm>
            <a:off x="1874519" y="6327648"/>
            <a:ext cx="665683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3"/>
              </a:rPr>
              <a:t>BTC-USD</a:t>
            </a:r>
          </a:p>
        </p:txBody>
      </p:sp>
      <p:sp>
        <p:nvSpPr>
          <p:cNvPr id="9" name="ledger-text"/>
          <p:cNvSpPr txBox="1"/>
          <p:nvPr/>
        </p:nvSpPr>
        <p:spPr>
          <a:xfrm>
            <a:off x="2695651" y="6327648"/>
            <a:ext cx="64008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4"/>
              </a:rPr>
              <a:t>SPY</a:t>
            </a:r>
          </a:p>
        </p:txBody>
      </p:sp>
      <p:sp>
        <p:nvSpPr>
          <p:cNvPr id="10" name="ledger-text"/>
          <p:cNvSpPr txBox="1"/>
          <p:nvPr/>
        </p:nvSpPr>
        <p:spPr>
          <a:xfrm>
            <a:off x="11045952" y="6327648"/>
            <a:ext cx="50292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1539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Consolas"/>
                <a:ea typeface="Microsoft YaHei"/>
              </a:rPr>
              <a:t>16</a:t>
            </a:r>
          </a:p>
        </p:txBody>
      </p:sp>
      <p:sp>
        <p:nvSpPr>
          <p:cNvPr id="11" name="ledger-text"/>
          <p:cNvSpPr txBox="1"/>
          <p:nvPr/>
        </p:nvSpPr>
        <p:spPr>
          <a:xfrm>
            <a:off x="609904" y="2011680"/>
            <a:ext cx="21945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待回答问题</a:t>
            </a:r>
          </a:p>
        </p:txBody>
      </p:sp>
      <p:sp>
        <p:nvSpPr>
          <p:cNvPr id="12" name="ledger-text"/>
          <p:cNvSpPr txBox="1"/>
          <p:nvPr/>
        </p:nvSpPr>
        <p:spPr>
          <a:xfrm>
            <a:off x="3035808" y="2011680"/>
            <a:ext cx="822960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能否维持实际购买力</a:t>
            </a:r>
          </a:p>
        </p:txBody>
      </p:sp>
      <p:cxnSp>
        <p:nvCxnSpPr>
          <p:cNvPr id="13" name="ledger-rule"/>
          <p:cNvCxnSpPr/>
          <p:nvPr/>
        </p:nvCxnSpPr>
        <p:spPr>
          <a:xfrm>
            <a:off x="609904" y="2624328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14" name="ledger-text"/>
          <p:cNvSpPr txBox="1"/>
          <p:nvPr/>
        </p:nvSpPr>
        <p:spPr>
          <a:xfrm>
            <a:off x="609904" y="2743200"/>
            <a:ext cx="21945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检验指标</a:t>
            </a:r>
          </a:p>
        </p:txBody>
      </p:sp>
      <p:sp>
        <p:nvSpPr>
          <p:cNvPr id="15" name="ledger-text"/>
          <p:cNvSpPr txBox="1"/>
          <p:nvPr/>
        </p:nvSpPr>
        <p:spPr>
          <a:xfrm>
            <a:off x="3035808" y="2743200"/>
            <a:ext cx="822960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CPI 调整净值、高通胀月份收益</a:t>
            </a:r>
          </a:p>
        </p:txBody>
      </p:sp>
      <p:cxnSp>
        <p:nvCxnSpPr>
          <p:cNvPr id="16" name="ledger-rule"/>
          <p:cNvCxnSpPr/>
          <p:nvPr/>
        </p:nvCxnSpPr>
        <p:spPr>
          <a:xfrm>
            <a:off x="609904" y="3355848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17" name="ledger-text"/>
          <p:cNvSpPr txBox="1"/>
          <p:nvPr/>
        </p:nvSpPr>
        <p:spPr>
          <a:xfrm>
            <a:off x="609904" y="3474720"/>
            <a:ext cx="21945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接受条件</a:t>
            </a:r>
          </a:p>
        </p:txBody>
      </p:sp>
      <p:sp>
        <p:nvSpPr>
          <p:cNvPr id="18" name="ledger-text"/>
          <p:cNvSpPr txBox="1"/>
          <p:nvPr/>
        </p:nvSpPr>
        <p:spPr>
          <a:xfrm>
            <a:off x="3035808" y="3474720"/>
            <a:ext cx="822960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区分多年购买力与短期 CPI 波动，月度相关性不代表因果</a:t>
            </a:r>
          </a:p>
        </p:txBody>
      </p:sp>
      <p:cxnSp>
        <p:nvCxnSpPr>
          <p:cNvPr id="19" name="ledger-rule"/>
          <p:cNvCxnSpPr/>
          <p:nvPr/>
        </p:nvCxnSpPr>
        <p:spPr>
          <a:xfrm>
            <a:off x="609904" y="4087368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edger-text"/>
          <p:cNvSpPr txBox="1"/>
          <p:nvPr/>
        </p:nvSpPr>
        <p:spPr>
          <a:xfrm>
            <a:off x="609904" y="457200"/>
            <a:ext cx="10972800" cy="61417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E293B"/>
                </a:solidFill>
                <a:latin typeface="Microsoft YaHei"/>
                <a:ea typeface="Microsoft YaHei"/>
              </a:rPr>
              <a:t>决策框架：资产配置</a:t>
            </a:r>
          </a:p>
        </p:txBody>
      </p:sp>
      <p:sp>
        <p:nvSpPr>
          <p:cNvPr id="3" name="ledger-text"/>
          <p:cNvSpPr txBox="1"/>
          <p:nvPr/>
        </p:nvSpPr>
        <p:spPr>
          <a:xfrm>
            <a:off x="609904" y="1161288"/>
            <a:ext cx="10972800" cy="4572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959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</a:rPr>
              <a:t/>
            </a:r>
          </a:p>
        </p:txBody>
      </p:sp>
      <p:cxnSp>
        <p:nvCxnSpPr>
          <p:cNvPr id="4" name="ledger-rule"/>
          <p:cNvCxnSpPr/>
          <p:nvPr/>
        </p:nvCxnSpPr>
        <p:spPr>
          <a:xfrm>
            <a:off x="609904" y="1737360"/>
            <a:ext cx="10972800" cy="0"/>
          </a:xfrm>
          <a:prstGeom prst="line">
            <a:avLst/>
          </a:prstGeom>
          <a:ln w="13970">
            <a:solidFill>
              <a:srgbClr val="1E293B"/>
            </a:solidFill>
          </a:ln>
          <a:effectLst/>
        </p:spPr>
      </p:cxnSp>
      <p:cxnSp>
        <p:nvCxnSpPr>
          <p:cNvPr id="5" name="ledger-rule"/>
          <p:cNvCxnSpPr/>
          <p:nvPr/>
        </p:nvCxnSpPr>
        <p:spPr>
          <a:xfrm>
            <a:off x="609904" y="6199632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6" name="ledger-text"/>
          <p:cNvSpPr txBox="1"/>
          <p:nvPr/>
        </p:nvSpPr>
        <p:spPr>
          <a:xfrm>
            <a:off x="609904" y="6345936"/>
            <a:ext cx="457200" cy="2052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Microsoft YaHei"/>
                <a:ea typeface="Microsoft YaHei"/>
              </a:rPr>
              <a:t>来源</a:t>
            </a:r>
          </a:p>
        </p:txBody>
      </p:sp>
      <p:sp>
        <p:nvSpPr>
          <p:cNvPr id="7" name="ledger-text"/>
          <p:cNvSpPr txBox="1"/>
          <p:nvPr/>
        </p:nvSpPr>
        <p:spPr>
          <a:xfrm>
            <a:off x="1078992" y="6327648"/>
            <a:ext cx="64008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2"/>
              </a:rPr>
              <a:t>GLD</a:t>
            </a:r>
          </a:p>
        </p:txBody>
      </p:sp>
      <p:sp>
        <p:nvSpPr>
          <p:cNvPr id="8" name="ledger-text"/>
          <p:cNvSpPr txBox="1"/>
          <p:nvPr/>
        </p:nvSpPr>
        <p:spPr>
          <a:xfrm>
            <a:off x="1874519" y="6327648"/>
            <a:ext cx="665683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3"/>
              </a:rPr>
              <a:t>BTC-USD</a:t>
            </a:r>
          </a:p>
        </p:txBody>
      </p:sp>
      <p:sp>
        <p:nvSpPr>
          <p:cNvPr id="9" name="ledger-text"/>
          <p:cNvSpPr txBox="1"/>
          <p:nvPr/>
        </p:nvSpPr>
        <p:spPr>
          <a:xfrm>
            <a:off x="2695651" y="6327648"/>
            <a:ext cx="64008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4"/>
              </a:rPr>
              <a:t>SPY</a:t>
            </a:r>
          </a:p>
        </p:txBody>
      </p:sp>
      <p:sp>
        <p:nvSpPr>
          <p:cNvPr id="10" name="ledger-text"/>
          <p:cNvSpPr txBox="1"/>
          <p:nvPr/>
        </p:nvSpPr>
        <p:spPr>
          <a:xfrm>
            <a:off x="11045952" y="6327648"/>
            <a:ext cx="50292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1539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Consolas"/>
                <a:ea typeface="Microsoft YaHei"/>
              </a:rPr>
              <a:t>17</a:t>
            </a:r>
          </a:p>
        </p:txBody>
      </p:sp>
      <p:sp>
        <p:nvSpPr>
          <p:cNvPr id="11" name="ledger-text"/>
          <p:cNvSpPr txBox="1"/>
          <p:nvPr/>
        </p:nvSpPr>
        <p:spPr>
          <a:xfrm>
            <a:off x="609904" y="2011680"/>
            <a:ext cx="21945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待回答问题</a:t>
            </a:r>
          </a:p>
        </p:txBody>
      </p:sp>
      <p:sp>
        <p:nvSpPr>
          <p:cNvPr id="12" name="ledger-text"/>
          <p:cNvSpPr txBox="1"/>
          <p:nvPr/>
        </p:nvSpPr>
        <p:spPr>
          <a:xfrm>
            <a:off x="3035808" y="2011680"/>
            <a:ext cx="822960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分散化是否改善风险</a:t>
            </a:r>
          </a:p>
        </p:txBody>
      </p:sp>
      <p:cxnSp>
        <p:nvCxnSpPr>
          <p:cNvPr id="13" name="ledger-rule"/>
          <p:cNvCxnSpPr/>
          <p:nvPr/>
        </p:nvCxnSpPr>
        <p:spPr>
          <a:xfrm>
            <a:off x="609904" y="2624328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14" name="ledger-text"/>
          <p:cNvSpPr txBox="1"/>
          <p:nvPr/>
        </p:nvSpPr>
        <p:spPr>
          <a:xfrm>
            <a:off x="609904" y="2743200"/>
            <a:ext cx="21945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检验指标</a:t>
            </a:r>
          </a:p>
        </p:txBody>
      </p:sp>
      <p:sp>
        <p:nvSpPr>
          <p:cNvPr id="15" name="ledger-text"/>
          <p:cNvSpPr txBox="1"/>
          <p:nvPr/>
        </p:nvSpPr>
        <p:spPr>
          <a:xfrm>
            <a:off x="3035808" y="2743200"/>
            <a:ext cx="822960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组合回撤、波动、交易成本与漂移</a:t>
            </a:r>
          </a:p>
        </p:txBody>
      </p:sp>
      <p:cxnSp>
        <p:nvCxnSpPr>
          <p:cNvPr id="16" name="ledger-rule"/>
          <p:cNvCxnSpPr/>
          <p:nvPr/>
        </p:nvCxnSpPr>
        <p:spPr>
          <a:xfrm>
            <a:off x="609904" y="3355848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17" name="ledger-text"/>
          <p:cNvSpPr txBox="1"/>
          <p:nvPr/>
        </p:nvSpPr>
        <p:spPr>
          <a:xfrm>
            <a:off x="609904" y="3474720"/>
            <a:ext cx="21945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接受条件</a:t>
            </a:r>
          </a:p>
        </p:txBody>
      </p:sp>
      <p:sp>
        <p:nvSpPr>
          <p:cNvPr id="18" name="ledger-text"/>
          <p:cNvSpPr txBox="1"/>
          <p:nvPr/>
        </p:nvSpPr>
        <p:spPr>
          <a:xfrm>
            <a:off x="3035808" y="3474720"/>
            <a:ext cx="822960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先设权重和再平衡规则，再检验结果；不在全样本寻找最优权重</a:t>
            </a:r>
          </a:p>
        </p:txBody>
      </p:sp>
      <p:cxnSp>
        <p:nvCxnSpPr>
          <p:cNvPr id="19" name="ledger-rule"/>
          <p:cNvCxnSpPr/>
          <p:nvPr/>
        </p:nvCxnSpPr>
        <p:spPr>
          <a:xfrm>
            <a:off x="609904" y="4087368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edger-text"/>
          <p:cNvSpPr txBox="1"/>
          <p:nvPr/>
        </p:nvSpPr>
        <p:spPr>
          <a:xfrm>
            <a:off x="609904" y="457200"/>
            <a:ext cx="10972800" cy="61417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E293B"/>
                </a:solidFill>
                <a:latin typeface="Microsoft YaHei"/>
                <a:ea typeface="Microsoft YaHei"/>
              </a:rPr>
              <a:t>决策框架：执行</a:t>
            </a:r>
          </a:p>
        </p:txBody>
      </p:sp>
      <p:sp>
        <p:nvSpPr>
          <p:cNvPr id="3" name="ledger-text"/>
          <p:cNvSpPr txBox="1"/>
          <p:nvPr/>
        </p:nvSpPr>
        <p:spPr>
          <a:xfrm>
            <a:off x="609904" y="1161288"/>
            <a:ext cx="10972800" cy="4572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959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</a:rPr>
              <a:t/>
            </a:r>
          </a:p>
        </p:txBody>
      </p:sp>
      <p:cxnSp>
        <p:nvCxnSpPr>
          <p:cNvPr id="4" name="ledger-rule"/>
          <p:cNvCxnSpPr/>
          <p:nvPr/>
        </p:nvCxnSpPr>
        <p:spPr>
          <a:xfrm>
            <a:off x="609904" y="1737360"/>
            <a:ext cx="10972800" cy="0"/>
          </a:xfrm>
          <a:prstGeom prst="line">
            <a:avLst/>
          </a:prstGeom>
          <a:ln w="13970">
            <a:solidFill>
              <a:srgbClr val="1E293B"/>
            </a:solidFill>
          </a:ln>
          <a:effectLst/>
        </p:spPr>
      </p:cxnSp>
      <p:cxnSp>
        <p:nvCxnSpPr>
          <p:cNvPr id="5" name="ledger-rule"/>
          <p:cNvCxnSpPr/>
          <p:nvPr/>
        </p:nvCxnSpPr>
        <p:spPr>
          <a:xfrm>
            <a:off x="609904" y="6199632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6" name="ledger-text"/>
          <p:cNvSpPr txBox="1"/>
          <p:nvPr/>
        </p:nvSpPr>
        <p:spPr>
          <a:xfrm>
            <a:off x="609904" y="6345936"/>
            <a:ext cx="457200" cy="2052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Microsoft YaHei"/>
                <a:ea typeface="Microsoft YaHei"/>
              </a:rPr>
              <a:t>来源</a:t>
            </a:r>
          </a:p>
        </p:txBody>
      </p:sp>
      <p:sp>
        <p:nvSpPr>
          <p:cNvPr id="7" name="ledger-text"/>
          <p:cNvSpPr txBox="1"/>
          <p:nvPr/>
        </p:nvSpPr>
        <p:spPr>
          <a:xfrm>
            <a:off x="1078992" y="6327648"/>
            <a:ext cx="64008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2"/>
              </a:rPr>
              <a:t>GLD</a:t>
            </a:r>
          </a:p>
        </p:txBody>
      </p:sp>
      <p:sp>
        <p:nvSpPr>
          <p:cNvPr id="8" name="ledger-text"/>
          <p:cNvSpPr txBox="1"/>
          <p:nvPr/>
        </p:nvSpPr>
        <p:spPr>
          <a:xfrm>
            <a:off x="1874519" y="6327648"/>
            <a:ext cx="665683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3"/>
              </a:rPr>
              <a:t>BTC-USD</a:t>
            </a:r>
          </a:p>
        </p:txBody>
      </p:sp>
      <p:sp>
        <p:nvSpPr>
          <p:cNvPr id="9" name="ledger-text"/>
          <p:cNvSpPr txBox="1"/>
          <p:nvPr/>
        </p:nvSpPr>
        <p:spPr>
          <a:xfrm>
            <a:off x="2695651" y="6327648"/>
            <a:ext cx="64008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4"/>
              </a:rPr>
              <a:t>SPY</a:t>
            </a:r>
          </a:p>
        </p:txBody>
      </p:sp>
      <p:sp>
        <p:nvSpPr>
          <p:cNvPr id="10" name="ledger-text"/>
          <p:cNvSpPr txBox="1"/>
          <p:nvPr/>
        </p:nvSpPr>
        <p:spPr>
          <a:xfrm>
            <a:off x="11045952" y="6327648"/>
            <a:ext cx="50292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1539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Consolas"/>
                <a:ea typeface="Microsoft YaHei"/>
              </a:rPr>
              <a:t>18</a:t>
            </a:r>
          </a:p>
        </p:txBody>
      </p:sp>
      <p:sp>
        <p:nvSpPr>
          <p:cNvPr id="11" name="ledger-text"/>
          <p:cNvSpPr txBox="1"/>
          <p:nvPr/>
        </p:nvSpPr>
        <p:spPr>
          <a:xfrm>
            <a:off x="609904" y="2011680"/>
            <a:ext cx="21945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待回答问题</a:t>
            </a:r>
          </a:p>
        </p:txBody>
      </p:sp>
      <p:sp>
        <p:nvSpPr>
          <p:cNvPr id="12" name="ledger-text"/>
          <p:cNvSpPr txBox="1"/>
          <p:nvPr/>
        </p:nvSpPr>
        <p:spPr>
          <a:xfrm>
            <a:off x="3035808" y="2011680"/>
            <a:ext cx="822960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能否按假设成交</a:t>
            </a:r>
          </a:p>
        </p:txBody>
      </p:sp>
      <p:cxnSp>
        <p:nvCxnSpPr>
          <p:cNvPr id="13" name="ledger-rule"/>
          <p:cNvCxnSpPr/>
          <p:nvPr/>
        </p:nvCxnSpPr>
        <p:spPr>
          <a:xfrm>
            <a:off x="609904" y="2624328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14" name="ledger-text"/>
          <p:cNvSpPr txBox="1"/>
          <p:nvPr/>
        </p:nvSpPr>
        <p:spPr>
          <a:xfrm>
            <a:off x="609904" y="2743200"/>
            <a:ext cx="21945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检验指标</a:t>
            </a:r>
          </a:p>
        </p:txBody>
      </p:sp>
      <p:sp>
        <p:nvSpPr>
          <p:cNvPr id="15" name="ledger-text"/>
          <p:cNvSpPr txBox="1"/>
          <p:nvPr/>
        </p:nvSpPr>
        <p:spPr>
          <a:xfrm>
            <a:off x="3035808" y="2743200"/>
            <a:ext cx="822960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实际时间戳、下一开盘成交、现金台账</a:t>
            </a:r>
          </a:p>
        </p:txBody>
      </p:sp>
      <p:cxnSp>
        <p:nvCxnSpPr>
          <p:cNvPr id="16" name="ledger-rule"/>
          <p:cNvCxnSpPr/>
          <p:nvPr/>
        </p:nvCxnSpPr>
        <p:spPr>
          <a:xfrm>
            <a:off x="609904" y="3355848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17" name="ledger-text"/>
          <p:cNvSpPr txBox="1"/>
          <p:nvPr/>
        </p:nvSpPr>
        <p:spPr>
          <a:xfrm>
            <a:off x="609904" y="3474720"/>
            <a:ext cx="21945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接受条件</a:t>
            </a:r>
          </a:p>
        </p:txBody>
      </p:sp>
      <p:sp>
        <p:nvSpPr>
          <p:cNvPr id="18" name="ledger-text"/>
          <p:cNvSpPr txBox="1"/>
          <p:nvPr/>
        </p:nvSpPr>
        <p:spPr>
          <a:xfrm>
            <a:off x="3035808" y="3474720"/>
            <a:ext cx="822960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识别交易日差异，保留滑点、流动性与跟踪误差的敏感性</a:t>
            </a:r>
          </a:p>
        </p:txBody>
      </p:sp>
      <p:cxnSp>
        <p:nvCxnSpPr>
          <p:cNvPr id="19" name="ledger-rule"/>
          <p:cNvCxnSpPr/>
          <p:nvPr/>
        </p:nvCxnSpPr>
        <p:spPr>
          <a:xfrm>
            <a:off x="609904" y="4087368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edger-text"/>
          <p:cNvSpPr txBox="1"/>
          <p:nvPr/>
        </p:nvSpPr>
        <p:spPr>
          <a:xfrm>
            <a:off x="609904" y="457200"/>
            <a:ext cx="10972800" cy="61417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E293B"/>
                </a:solidFill>
                <a:latin typeface="Microsoft YaHei"/>
                <a:ea typeface="Microsoft YaHei"/>
              </a:rPr>
              <a:t>事件证据</a:t>
            </a:r>
          </a:p>
        </p:txBody>
      </p:sp>
      <p:sp>
        <p:nvSpPr>
          <p:cNvPr id="3" name="ledger-text"/>
          <p:cNvSpPr txBox="1"/>
          <p:nvPr/>
        </p:nvSpPr>
        <p:spPr>
          <a:xfrm>
            <a:off x="609904" y="1161288"/>
            <a:ext cx="10972800" cy="4572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959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</a:rPr>
              <a:t>日期级来源保留盘前/盘后不确定性；窗口收益不能独立证明因果。</a:t>
            </a:r>
          </a:p>
        </p:txBody>
      </p:sp>
      <p:cxnSp>
        <p:nvCxnSpPr>
          <p:cNvPr id="4" name="ledger-rule"/>
          <p:cNvCxnSpPr/>
          <p:nvPr/>
        </p:nvCxnSpPr>
        <p:spPr>
          <a:xfrm>
            <a:off x="609904" y="1737360"/>
            <a:ext cx="10972800" cy="0"/>
          </a:xfrm>
          <a:prstGeom prst="line">
            <a:avLst/>
          </a:prstGeom>
          <a:ln w="13970">
            <a:solidFill>
              <a:srgbClr val="1E293B"/>
            </a:solidFill>
          </a:ln>
          <a:effectLst/>
        </p:spPr>
      </p:cxnSp>
      <p:cxnSp>
        <p:nvCxnSpPr>
          <p:cNvPr id="5" name="ledger-rule"/>
          <p:cNvCxnSpPr/>
          <p:nvPr/>
        </p:nvCxnSpPr>
        <p:spPr>
          <a:xfrm>
            <a:off x="609904" y="6199632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6" name="ledger-text"/>
          <p:cNvSpPr txBox="1"/>
          <p:nvPr/>
        </p:nvSpPr>
        <p:spPr>
          <a:xfrm>
            <a:off x="609904" y="6345936"/>
            <a:ext cx="457200" cy="2052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Microsoft YaHei"/>
                <a:ea typeface="Microsoft YaHei"/>
              </a:rPr>
              <a:t>来源</a:t>
            </a:r>
          </a:p>
        </p:txBody>
      </p:sp>
      <p:sp>
        <p:nvSpPr>
          <p:cNvPr id="7" name="ledger-text"/>
          <p:cNvSpPr txBox="1"/>
          <p:nvPr/>
        </p:nvSpPr>
        <p:spPr>
          <a:xfrm>
            <a:off x="1078992" y="6327648"/>
            <a:ext cx="1711756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2"/>
              </a:rPr>
              <a:t>federalreserve.gov</a:t>
            </a:r>
          </a:p>
        </p:txBody>
      </p:sp>
      <p:sp>
        <p:nvSpPr>
          <p:cNvPr id="8" name="ledger-text"/>
          <p:cNvSpPr txBox="1"/>
          <p:nvPr/>
        </p:nvSpPr>
        <p:spPr>
          <a:xfrm>
            <a:off x="2946196" y="6327648"/>
            <a:ext cx="76078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3"/>
              </a:rPr>
              <a:t>cnbc.com</a:t>
            </a:r>
          </a:p>
        </p:txBody>
      </p:sp>
      <p:sp>
        <p:nvSpPr>
          <p:cNvPr id="9" name="ledger-text"/>
          <p:cNvSpPr txBox="1"/>
          <p:nvPr/>
        </p:nvSpPr>
        <p:spPr>
          <a:xfrm>
            <a:off x="11045952" y="6327648"/>
            <a:ext cx="50292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1539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Consolas"/>
                <a:ea typeface="Microsoft YaHei"/>
              </a:rPr>
              <a:t>19</a:t>
            </a:r>
          </a:p>
        </p:txBody>
      </p:sp>
      <p:sp>
        <p:nvSpPr>
          <p:cNvPr id="10" name="ledger-text"/>
          <p:cNvSpPr txBox="1"/>
          <p:nvPr/>
        </p:nvSpPr>
        <p:spPr>
          <a:xfrm>
            <a:off x="609904" y="2011680"/>
            <a:ext cx="21945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事件</a:t>
            </a:r>
          </a:p>
        </p:txBody>
      </p:sp>
      <p:sp>
        <p:nvSpPr>
          <p:cNvPr id="11" name="ledger-text"/>
          <p:cNvSpPr txBox="1"/>
          <p:nvPr/>
        </p:nvSpPr>
        <p:spPr>
          <a:xfrm>
            <a:off x="3035808" y="2011680"/>
            <a:ext cx="822960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美联储加息75个基点，为1994年以来最大单次加息</a:t>
            </a:r>
          </a:p>
        </p:txBody>
      </p:sp>
      <p:cxnSp>
        <p:nvCxnSpPr>
          <p:cNvPr id="12" name="ledger-rule"/>
          <p:cNvCxnSpPr/>
          <p:nvPr/>
        </p:nvCxnSpPr>
        <p:spPr>
          <a:xfrm>
            <a:off x="609904" y="2624328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13" name="ledger-text"/>
          <p:cNvSpPr txBox="1"/>
          <p:nvPr/>
        </p:nvSpPr>
        <p:spPr>
          <a:xfrm>
            <a:off x="609904" y="2743200"/>
            <a:ext cx="21945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事件日期</a:t>
            </a:r>
          </a:p>
        </p:txBody>
      </p:sp>
      <p:sp>
        <p:nvSpPr>
          <p:cNvPr id="14" name="ledger-text"/>
          <p:cNvSpPr txBox="1"/>
          <p:nvPr/>
        </p:nvSpPr>
        <p:spPr>
          <a:xfrm>
            <a:off x="3035808" y="2743200"/>
            <a:ext cx="822960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2022-06-15</a:t>
            </a:r>
          </a:p>
        </p:txBody>
      </p:sp>
      <p:cxnSp>
        <p:nvCxnSpPr>
          <p:cNvPr id="15" name="ledger-rule"/>
          <p:cNvCxnSpPr/>
          <p:nvPr/>
        </p:nvCxnSpPr>
        <p:spPr>
          <a:xfrm>
            <a:off x="609904" y="3355848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16" name="ledger-text"/>
          <p:cNvSpPr txBox="1"/>
          <p:nvPr/>
        </p:nvSpPr>
        <p:spPr>
          <a:xfrm>
            <a:off x="609904" y="3474720"/>
            <a:ext cx="21945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事件事实</a:t>
            </a:r>
          </a:p>
        </p:txBody>
      </p:sp>
      <p:sp>
        <p:nvSpPr>
          <p:cNvPr id="17" name="ledger-text"/>
          <p:cNvSpPr txBox="1"/>
          <p:nvPr/>
        </p:nvSpPr>
        <p:spPr>
          <a:xfrm>
            <a:off x="3035808" y="3474720"/>
            <a:ext cx="8229600" cy="106984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美联储6月15日将联邦基金利率目标区间上调至1.5%–1.75%，为1994年</a:t>
            </a:r>
          </a:p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以来最大单次加息，并称高度关注通胀风险、将继续缩表。点阵图显示年底</a:t>
            </a:r>
          </a:p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利率中值升至3.4%，2022年GDP增速预期由2.8%下调至1.7%。</a:t>
            </a:r>
          </a:p>
        </p:txBody>
      </p:sp>
      <p:cxnSp>
        <p:nvCxnSpPr>
          <p:cNvPr id="18" name="ledger-rule"/>
          <p:cNvCxnSpPr/>
          <p:nvPr/>
        </p:nvCxnSpPr>
        <p:spPr>
          <a:xfrm>
            <a:off x="609904" y="4654296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19" name="ledger-text"/>
          <p:cNvSpPr txBox="1"/>
          <p:nvPr/>
        </p:nvSpPr>
        <p:spPr>
          <a:xfrm>
            <a:off x="609904" y="4773168"/>
            <a:ext cx="21945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GLD</a:t>
            </a:r>
          </a:p>
        </p:txBody>
      </p:sp>
      <p:sp>
        <p:nvSpPr>
          <p:cNvPr id="20" name="ledger-text"/>
          <p:cNvSpPr txBox="1"/>
          <p:nvPr/>
        </p:nvSpPr>
        <p:spPr>
          <a:xfrm>
            <a:off x="3035808" y="4773168"/>
            <a:ext cx="8229600" cy="74980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1 日相对收益 -0.1%；5 日相对收益 +1.1%；20 日相对收益 -7.0%</a:t>
            </a:r>
          </a:p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。反应评级：低。</a:t>
            </a:r>
          </a:p>
        </p:txBody>
      </p:sp>
      <p:cxnSp>
        <p:nvCxnSpPr>
          <p:cNvPr id="21" name="ledger-rule"/>
          <p:cNvCxnSpPr/>
          <p:nvPr/>
        </p:nvCxnSpPr>
        <p:spPr>
          <a:xfrm>
            <a:off x="609904" y="5632703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edger-text"/>
          <p:cNvSpPr txBox="1"/>
          <p:nvPr/>
        </p:nvSpPr>
        <p:spPr>
          <a:xfrm>
            <a:off x="609904" y="457200"/>
            <a:ext cx="10972800" cy="61417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E293B"/>
                </a:solidFill>
                <a:latin typeface="Microsoft YaHei"/>
                <a:ea typeface="Microsoft YaHei"/>
              </a:rPr>
              <a:t>事件证据</a:t>
            </a:r>
          </a:p>
        </p:txBody>
      </p:sp>
      <p:sp>
        <p:nvSpPr>
          <p:cNvPr id="3" name="ledger-text"/>
          <p:cNvSpPr txBox="1"/>
          <p:nvPr/>
        </p:nvSpPr>
        <p:spPr>
          <a:xfrm>
            <a:off x="609904" y="1161288"/>
            <a:ext cx="10972800" cy="4572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959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</a:rPr>
              <a:t>日期级来源保留盘前/盘后不确定性；窗口收益不能独立证明因果。</a:t>
            </a:r>
          </a:p>
        </p:txBody>
      </p:sp>
      <p:cxnSp>
        <p:nvCxnSpPr>
          <p:cNvPr id="4" name="ledger-rule"/>
          <p:cNvCxnSpPr/>
          <p:nvPr/>
        </p:nvCxnSpPr>
        <p:spPr>
          <a:xfrm>
            <a:off x="609904" y="1737360"/>
            <a:ext cx="10972800" cy="0"/>
          </a:xfrm>
          <a:prstGeom prst="line">
            <a:avLst/>
          </a:prstGeom>
          <a:ln w="13970">
            <a:solidFill>
              <a:srgbClr val="1E293B"/>
            </a:solidFill>
          </a:ln>
          <a:effectLst/>
        </p:spPr>
      </p:cxnSp>
      <p:cxnSp>
        <p:nvCxnSpPr>
          <p:cNvPr id="5" name="ledger-rule"/>
          <p:cNvCxnSpPr/>
          <p:nvPr/>
        </p:nvCxnSpPr>
        <p:spPr>
          <a:xfrm>
            <a:off x="609904" y="6199632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6" name="ledger-text"/>
          <p:cNvSpPr txBox="1"/>
          <p:nvPr/>
        </p:nvSpPr>
        <p:spPr>
          <a:xfrm>
            <a:off x="609904" y="6345936"/>
            <a:ext cx="457200" cy="2052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Microsoft YaHei"/>
                <a:ea typeface="Microsoft YaHei"/>
              </a:rPr>
              <a:t>来源</a:t>
            </a:r>
          </a:p>
        </p:txBody>
      </p:sp>
      <p:sp>
        <p:nvSpPr>
          <p:cNvPr id="7" name="ledger-text"/>
          <p:cNvSpPr txBox="1"/>
          <p:nvPr/>
        </p:nvSpPr>
        <p:spPr>
          <a:xfrm>
            <a:off x="1078992" y="6327648"/>
            <a:ext cx="1711756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2"/>
              </a:rPr>
              <a:t>federalreserve.gov</a:t>
            </a:r>
          </a:p>
        </p:txBody>
      </p:sp>
      <p:sp>
        <p:nvSpPr>
          <p:cNvPr id="8" name="ledger-text"/>
          <p:cNvSpPr txBox="1"/>
          <p:nvPr/>
        </p:nvSpPr>
        <p:spPr>
          <a:xfrm>
            <a:off x="2946196" y="6327648"/>
            <a:ext cx="76078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3"/>
              </a:rPr>
              <a:t>cnbc.com</a:t>
            </a:r>
          </a:p>
        </p:txBody>
      </p:sp>
      <p:sp>
        <p:nvSpPr>
          <p:cNvPr id="9" name="ledger-text"/>
          <p:cNvSpPr txBox="1"/>
          <p:nvPr/>
        </p:nvSpPr>
        <p:spPr>
          <a:xfrm>
            <a:off x="11045952" y="6327648"/>
            <a:ext cx="50292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1539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Consolas"/>
                <a:ea typeface="Microsoft YaHei"/>
              </a:rPr>
              <a:t>20</a:t>
            </a:r>
          </a:p>
        </p:txBody>
      </p:sp>
      <p:sp>
        <p:nvSpPr>
          <p:cNvPr id="10" name="ledger-text"/>
          <p:cNvSpPr txBox="1"/>
          <p:nvPr/>
        </p:nvSpPr>
        <p:spPr>
          <a:xfrm>
            <a:off x="609904" y="2011680"/>
            <a:ext cx="21945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BTC-USD</a:t>
            </a:r>
          </a:p>
        </p:txBody>
      </p:sp>
      <p:sp>
        <p:nvSpPr>
          <p:cNvPr id="11" name="ledger-text"/>
          <p:cNvSpPr txBox="1"/>
          <p:nvPr/>
        </p:nvSpPr>
        <p:spPr>
          <a:xfrm>
            <a:off x="3035808" y="2011680"/>
            <a:ext cx="8229600" cy="74980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1 日相对收益 +0.2%；5 日相对收益 -5.7%；20 日相对收益 -</a:t>
            </a:r>
          </a:p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11.3%。反应评级：低。</a:t>
            </a:r>
          </a:p>
        </p:txBody>
      </p:sp>
      <p:cxnSp>
        <p:nvCxnSpPr>
          <p:cNvPr id="12" name="ledger-rule"/>
          <p:cNvCxnSpPr/>
          <p:nvPr/>
        </p:nvCxnSpPr>
        <p:spPr>
          <a:xfrm>
            <a:off x="609904" y="2871216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edger-text"/>
          <p:cNvSpPr txBox="1"/>
          <p:nvPr/>
        </p:nvSpPr>
        <p:spPr>
          <a:xfrm>
            <a:off x="609904" y="457200"/>
            <a:ext cx="10972800" cy="61417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E293B"/>
                </a:solidFill>
                <a:latin typeface="Microsoft YaHei"/>
                <a:ea typeface="Microsoft YaHei"/>
              </a:rPr>
              <a:t>事件证据</a:t>
            </a:r>
          </a:p>
        </p:txBody>
      </p:sp>
      <p:sp>
        <p:nvSpPr>
          <p:cNvPr id="3" name="ledger-text"/>
          <p:cNvSpPr txBox="1"/>
          <p:nvPr/>
        </p:nvSpPr>
        <p:spPr>
          <a:xfrm>
            <a:off x="609904" y="1161288"/>
            <a:ext cx="10972800" cy="4572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959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</a:rPr>
              <a:t>日期级来源保留盘前/盘后不确定性；窗口收益不能独立证明因果。</a:t>
            </a:r>
          </a:p>
        </p:txBody>
      </p:sp>
      <p:cxnSp>
        <p:nvCxnSpPr>
          <p:cNvPr id="4" name="ledger-rule"/>
          <p:cNvCxnSpPr/>
          <p:nvPr/>
        </p:nvCxnSpPr>
        <p:spPr>
          <a:xfrm>
            <a:off x="609904" y="1737360"/>
            <a:ext cx="10972800" cy="0"/>
          </a:xfrm>
          <a:prstGeom prst="line">
            <a:avLst/>
          </a:prstGeom>
          <a:ln w="13970">
            <a:solidFill>
              <a:srgbClr val="1E293B"/>
            </a:solidFill>
          </a:ln>
          <a:effectLst/>
        </p:spPr>
      </p:cxnSp>
      <p:cxnSp>
        <p:nvCxnSpPr>
          <p:cNvPr id="5" name="ledger-rule"/>
          <p:cNvCxnSpPr/>
          <p:nvPr/>
        </p:nvCxnSpPr>
        <p:spPr>
          <a:xfrm>
            <a:off x="609904" y="6199632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6" name="ledger-text"/>
          <p:cNvSpPr txBox="1"/>
          <p:nvPr/>
        </p:nvSpPr>
        <p:spPr>
          <a:xfrm>
            <a:off x="609904" y="6345936"/>
            <a:ext cx="457200" cy="2052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Microsoft YaHei"/>
                <a:ea typeface="Microsoft YaHei"/>
              </a:rPr>
              <a:t>来源</a:t>
            </a:r>
          </a:p>
        </p:txBody>
      </p:sp>
      <p:sp>
        <p:nvSpPr>
          <p:cNvPr id="7" name="ledger-text"/>
          <p:cNvSpPr txBox="1"/>
          <p:nvPr/>
        </p:nvSpPr>
        <p:spPr>
          <a:xfrm>
            <a:off x="1078992" y="6327648"/>
            <a:ext cx="76078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2"/>
              </a:rPr>
              <a:t>cnbc.com</a:t>
            </a:r>
          </a:p>
        </p:txBody>
      </p:sp>
      <p:sp>
        <p:nvSpPr>
          <p:cNvPr id="8" name="ledger-text"/>
          <p:cNvSpPr txBox="1"/>
          <p:nvPr/>
        </p:nvSpPr>
        <p:spPr>
          <a:xfrm>
            <a:off x="11045952" y="6327648"/>
            <a:ext cx="50292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1539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Consolas"/>
                <a:ea typeface="Microsoft YaHei"/>
              </a:rPr>
              <a:t>21</a:t>
            </a:r>
          </a:p>
        </p:txBody>
      </p:sp>
      <p:sp>
        <p:nvSpPr>
          <p:cNvPr id="9" name="ledger-text"/>
          <p:cNvSpPr txBox="1"/>
          <p:nvPr/>
        </p:nvSpPr>
        <p:spPr>
          <a:xfrm>
            <a:off x="609904" y="2011680"/>
            <a:ext cx="21945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事件</a:t>
            </a:r>
          </a:p>
        </p:txBody>
      </p:sp>
      <p:sp>
        <p:nvSpPr>
          <p:cNvPr id="10" name="ledger-text"/>
          <p:cNvSpPr txBox="1"/>
          <p:nvPr/>
        </p:nvSpPr>
        <p:spPr>
          <a:xfrm>
            <a:off x="3035808" y="2011680"/>
            <a:ext cx="822960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比特币跌破2.3万美元，Celsius暂停提款加剧加密市场抛售</a:t>
            </a:r>
          </a:p>
        </p:txBody>
      </p:sp>
      <p:cxnSp>
        <p:nvCxnSpPr>
          <p:cNvPr id="11" name="ledger-rule"/>
          <p:cNvCxnSpPr/>
          <p:nvPr/>
        </p:nvCxnSpPr>
        <p:spPr>
          <a:xfrm>
            <a:off x="609904" y="2624328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12" name="ledger-text"/>
          <p:cNvSpPr txBox="1"/>
          <p:nvPr/>
        </p:nvSpPr>
        <p:spPr>
          <a:xfrm>
            <a:off x="609904" y="2743200"/>
            <a:ext cx="21945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事件日期</a:t>
            </a:r>
          </a:p>
        </p:txBody>
      </p:sp>
      <p:sp>
        <p:nvSpPr>
          <p:cNvPr id="13" name="ledger-text"/>
          <p:cNvSpPr txBox="1"/>
          <p:nvPr/>
        </p:nvSpPr>
        <p:spPr>
          <a:xfrm>
            <a:off x="3035808" y="2743200"/>
            <a:ext cx="822960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2022-06-13</a:t>
            </a:r>
          </a:p>
        </p:txBody>
      </p:sp>
      <p:cxnSp>
        <p:nvCxnSpPr>
          <p:cNvPr id="14" name="ledger-rule"/>
          <p:cNvCxnSpPr/>
          <p:nvPr/>
        </p:nvCxnSpPr>
        <p:spPr>
          <a:xfrm>
            <a:off x="609904" y="3355848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15" name="ledger-text"/>
          <p:cNvSpPr txBox="1"/>
          <p:nvPr/>
        </p:nvSpPr>
        <p:spPr>
          <a:xfrm>
            <a:off x="609904" y="3474720"/>
            <a:ext cx="21945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事件事实</a:t>
            </a:r>
          </a:p>
        </p:txBody>
      </p:sp>
      <p:sp>
        <p:nvSpPr>
          <p:cNvPr id="16" name="ledger-text"/>
          <p:cNvSpPr txBox="1"/>
          <p:nvPr/>
        </p:nvSpPr>
        <p:spPr>
          <a:xfrm>
            <a:off x="3035808" y="3474720"/>
            <a:ext cx="8229600" cy="106984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6月13日比特币一度跌约17%至约22,764美元，为2020年12月以来最低</a:t>
            </a:r>
          </a:p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，加密总市值自2021年2月以来首次跌破1万亿美元。加密借贷平台</a:t>
            </a:r>
          </a:p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Celsius以极端市况为由暂停提款、兑换与转账，市场担忧传染风险。</a:t>
            </a:r>
          </a:p>
        </p:txBody>
      </p:sp>
      <p:cxnSp>
        <p:nvCxnSpPr>
          <p:cNvPr id="17" name="ledger-rule"/>
          <p:cNvCxnSpPr/>
          <p:nvPr/>
        </p:nvCxnSpPr>
        <p:spPr>
          <a:xfrm>
            <a:off x="609904" y="4654296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18" name="ledger-text"/>
          <p:cNvSpPr txBox="1"/>
          <p:nvPr/>
        </p:nvSpPr>
        <p:spPr>
          <a:xfrm>
            <a:off x="609904" y="4773168"/>
            <a:ext cx="21945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BTC-USD</a:t>
            </a:r>
          </a:p>
        </p:txBody>
      </p:sp>
      <p:sp>
        <p:nvSpPr>
          <p:cNvPr id="19" name="ledger-text"/>
          <p:cNvSpPr txBox="1"/>
          <p:nvPr/>
        </p:nvSpPr>
        <p:spPr>
          <a:xfrm>
            <a:off x="3035808" y="4773168"/>
            <a:ext cx="8229600" cy="74980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1 日相对收益 -12.2%；5 日相对收益 -17.8%；20 日相对收益 -</a:t>
            </a:r>
          </a:p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26.3%。反应评级：高。</a:t>
            </a:r>
          </a:p>
        </p:txBody>
      </p:sp>
      <p:cxnSp>
        <p:nvCxnSpPr>
          <p:cNvPr id="20" name="ledger-rule"/>
          <p:cNvCxnSpPr/>
          <p:nvPr/>
        </p:nvCxnSpPr>
        <p:spPr>
          <a:xfrm>
            <a:off x="609904" y="5632703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edger-text"/>
          <p:cNvSpPr txBox="1"/>
          <p:nvPr/>
        </p:nvSpPr>
        <p:spPr>
          <a:xfrm>
            <a:off x="609904" y="457200"/>
            <a:ext cx="10972800" cy="61417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E293B"/>
                </a:solidFill>
                <a:latin typeface="Microsoft YaHei"/>
                <a:ea typeface="Microsoft YaHei"/>
              </a:rPr>
              <a:t>事件证据</a:t>
            </a:r>
          </a:p>
        </p:txBody>
      </p:sp>
      <p:sp>
        <p:nvSpPr>
          <p:cNvPr id="3" name="ledger-text"/>
          <p:cNvSpPr txBox="1"/>
          <p:nvPr/>
        </p:nvSpPr>
        <p:spPr>
          <a:xfrm>
            <a:off x="609904" y="1161288"/>
            <a:ext cx="10972800" cy="4572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959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</a:rPr>
              <a:t>日期级来源保留盘前/盘后不确定性；窗口收益不能独立证明因果。</a:t>
            </a:r>
          </a:p>
        </p:txBody>
      </p:sp>
      <p:cxnSp>
        <p:nvCxnSpPr>
          <p:cNvPr id="4" name="ledger-rule"/>
          <p:cNvCxnSpPr/>
          <p:nvPr/>
        </p:nvCxnSpPr>
        <p:spPr>
          <a:xfrm>
            <a:off x="609904" y="1737360"/>
            <a:ext cx="10972800" cy="0"/>
          </a:xfrm>
          <a:prstGeom prst="line">
            <a:avLst/>
          </a:prstGeom>
          <a:ln w="13970">
            <a:solidFill>
              <a:srgbClr val="1E293B"/>
            </a:solidFill>
          </a:ln>
          <a:effectLst/>
        </p:spPr>
      </p:cxnSp>
      <p:cxnSp>
        <p:nvCxnSpPr>
          <p:cNvPr id="5" name="ledger-rule"/>
          <p:cNvCxnSpPr/>
          <p:nvPr/>
        </p:nvCxnSpPr>
        <p:spPr>
          <a:xfrm>
            <a:off x="609904" y="6199632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6" name="ledger-text"/>
          <p:cNvSpPr txBox="1"/>
          <p:nvPr/>
        </p:nvSpPr>
        <p:spPr>
          <a:xfrm>
            <a:off x="609904" y="6345936"/>
            <a:ext cx="457200" cy="2052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Microsoft YaHei"/>
                <a:ea typeface="Microsoft YaHei"/>
              </a:rPr>
              <a:t>来源</a:t>
            </a:r>
          </a:p>
        </p:txBody>
      </p:sp>
      <p:sp>
        <p:nvSpPr>
          <p:cNvPr id="7" name="ledger-text"/>
          <p:cNvSpPr txBox="1"/>
          <p:nvPr/>
        </p:nvSpPr>
        <p:spPr>
          <a:xfrm>
            <a:off x="1078992" y="6327648"/>
            <a:ext cx="76078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2"/>
              </a:rPr>
              <a:t>cnbc.com</a:t>
            </a:r>
          </a:p>
        </p:txBody>
      </p:sp>
      <p:sp>
        <p:nvSpPr>
          <p:cNvPr id="8" name="ledger-text"/>
          <p:cNvSpPr txBox="1"/>
          <p:nvPr/>
        </p:nvSpPr>
        <p:spPr>
          <a:xfrm>
            <a:off x="11045952" y="6327648"/>
            <a:ext cx="50292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1539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Consolas"/>
                <a:ea typeface="Microsoft YaHei"/>
              </a:rPr>
              <a:t>22</a:t>
            </a:r>
          </a:p>
        </p:txBody>
      </p:sp>
      <p:sp>
        <p:nvSpPr>
          <p:cNvPr id="9" name="ledger-text"/>
          <p:cNvSpPr txBox="1"/>
          <p:nvPr/>
        </p:nvSpPr>
        <p:spPr>
          <a:xfrm>
            <a:off x="609904" y="2011680"/>
            <a:ext cx="21945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事件</a:t>
            </a:r>
          </a:p>
        </p:txBody>
      </p:sp>
      <p:sp>
        <p:nvSpPr>
          <p:cNvPr id="10" name="ledger-text"/>
          <p:cNvSpPr txBox="1"/>
          <p:nvPr/>
        </p:nvSpPr>
        <p:spPr>
          <a:xfrm>
            <a:off x="3035808" y="2011680"/>
            <a:ext cx="822960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Terra的LUNA跌至0美元、UST脱锚，比特币反弹至3万美元上方</a:t>
            </a:r>
          </a:p>
        </p:txBody>
      </p:sp>
      <p:cxnSp>
        <p:nvCxnSpPr>
          <p:cNvPr id="11" name="ledger-rule"/>
          <p:cNvCxnSpPr/>
          <p:nvPr/>
        </p:nvCxnSpPr>
        <p:spPr>
          <a:xfrm>
            <a:off x="609904" y="2624328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12" name="ledger-text"/>
          <p:cNvSpPr txBox="1"/>
          <p:nvPr/>
        </p:nvSpPr>
        <p:spPr>
          <a:xfrm>
            <a:off x="609904" y="2743200"/>
            <a:ext cx="21945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事件日期</a:t>
            </a:r>
          </a:p>
        </p:txBody>
      </p:sp>
      <p:sp>
        <p:nvSpPr>
          <p:cNvPr id="13" name="ledger-text"/>
          <p:cNvSpPr txBox="1"/>
          <p:nvPr/>
        </p:nvSpPr>
        <p:spPr>
          <a:xfrm>
            <a:off x="3035808" y="2743200"/>
            <a:ext cx="822960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2022-05-13</a:t>
            </a:r>
          </a:p>
        </p:txBody>
      </p:sp>
      <p:cxnSp>
        <p:nvCxnSpPr>
          <p:cNvPr id="14" name="ledger-rule"/>
          <p:cNvCxnSpPr/>
          <p:nvPr/>
        </p:nvCxnSpPr>
        <p:spPr>
          <a:xfrm>
            <a:off x="609904" y="3355848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15" name="ledger-text"/>
          <p:cNvSpPr txBox="1"/>
          <p:nvPr/>
        </p:nvSpPr>
        <p:spPr>
          <a:xfrm>
            <a:off x="609904" y="3474720"/>
            <a:ext cx="21945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事件事实</a:t>
            </a:r>
          </a:p>
        </p:txBody>
      </p:sp>
      <p:sp>
        <p:nvSpPr>
          <p:cNvPr id="16" name="ledger-text"/>
          <p:cNvSpPr txBox="1"/>
          <p:nvPr/>
        </p:nvSpPr>
        <p:spPr>
          <a:xfrm>
            <a:off x="3035808" y="3474720"/>
            <a:ext cx="8229600" cy="106984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5月13日算法稳定币UST脱锚、跌至约12美分，姊妹代币LUNA跌至0美元，</a:t>
            </a:r>
          </a:p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Terra网络24小时内两度停止处理交易，币安一度下架两者。比特币当日</a:t>
            </a:r>
          </a:p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反弹逾5%至约30,046美元，但全周仍跌超15%。</a:t>
            </a:r>
          </a:p>
        </p:txBody>
      </p:sp>
      <p:cxnSp>
        <p:nvCxnSpPr>
          <p:cNvPr id="17" name="ledger-rule"/>
          <p:cNvCxnSpPr/>
          <p:nvPr/>
        </p:nvCxnSpPr>
        <p:spPr>
          <a:xfrm>
            <a:off x="609904" y="4654296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18" name="ledger-text"/>
          <p:cNvSpPr txBox="1"/>
          <p:nvPr/>
        </p:nvSpPr>
        <p:spPr>
          <a:xfrm>
            <a:off x="609904" y="4773168"/>
            <a:ext cx="21945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BTC-USD</a:t>
            </a:r>
          </a:p>
        </p:txBody>
      </p:sp>
      <p:sp>
        <p:nvSpPr>
          <p:cNvPr id="19" name="ledger-text"/>
          <p:cNvSpPr txBox="1"/>
          <p:nvPr/>
        </p:nvSpPr>
        <p:spPr>
          <a:xfrm>
            <a:off x="3035808" y="4773168"/>
            <a:ext cx="8229600" cy="74980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1 日相对收益 -1.6%；5 日相对收益 +0.7%；20 日相对收益 -1.8%</a:t>
            </a:r>
          </a:p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。反应评级：低。</a:t>
            </a:r>
          </a:p>
        </p:txBody>
      </p:sp>
      <p:cxnSp>
        <p:nvCxnSpPr>
          <p:cNvPr id="20" name="ledger-rule"/>
          <p:cNvCxnSpPr/>
          <p:nvPr/>
        </p:nvCxnSpPr>
        <p:spPr>
          <a:xfrm>
            <a:off x="609904" y="5632703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edger-text"/>
          <p:cNvSpPr txBox="1"/>
          <p:nvPr/>
        </p:nvSpPr>
        <p:spPr>
          <a:xfrm>
            <a:off x="609904" y="457200"/>
            <a:ext cx="10972800" cy="61417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E293B"/>
                </a:solidFill>
                <a:latin typeface="Microsoft YaHei"/>
                <a:ea typeface="Microsoft YaHei"/>
              </a:rPr>
              <a:t>事件证据</a:t>
            </a:r>
          </a:p>
        </p:txBody>
      </p:sp>
      <p:sp>
        <p:nvSpPr>
          <p:cNvPr id="3" name="ledger-text"/>
          <p:cNvSpPr txBox="1"/>
          <p:nvPr/>
        </p:nvSpPr>
        <p:spPr>
          <a:xfrm>
            <a:off x="609904" y="1161288"/>
            <a:ext cx="10972800" cy="4572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959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</a:rPr>
              <a:t>日期级来源保留盘前/盘后不确定性；窗口收益不能独立证明因果。</a:t>
            </a:r>
          </a:p>
        </p:txBody>
      </p:sp>
      <p:cxnSp>
        <p:nvCxnSpPr>
          <p:cNvPr id="4" name="ledger-rule"/>
          <p:cNvCxnSpPr/>
          <p:nvPr/>
        </p:nvCxnSpPr>
        <p:spPr>
          <a:xfrm>
            <a:off x="609904" y="1737360"/>
            <a:ext cx="10972800" cy="0"/>
          </a:xfrm>
          <a:prstGeom prst="line">
            <a:avLst/>
          </a:prstGeom>
          <a:ln w="13970">
            <a:solidFill>
              <a:srgbClr val="1E293B"/>
            </a:solidFill>
          </a:ln>
          <a:effectLst/>
        </p:spPr>
      </p:cxnSp>
      <p:cxnSp>
        <p:nvCxnSpPr>
          <p:cNvPr id="5" name="ledger-rule"/>
          <p:cNvCxnSpPr/>
          <p:nvPr/>
        </p:nvCxnSpPr>
        <p:spPr>
          <a:xfrm>
            <a:off x="609904" y="6199632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6" name="ledger-text"/>
          <p:cNvSpPr txBox="1"/>
          <p:nvPr/>
        </p:nvSpPr>
        <p:spPr>
          <a:xfrm>
            <a:off x="609904" y="6345936"/>
            <a:ext cx="457200" cy="2052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Microsoft YaHei"/>
                <a:ea typeface="Microsoft YaHei"/>
              </a:rPr>
              <a:t>来源</a:t>
            </a:r>
          </a:p>
        </p:txBody>
      </p:sp>
      <p:sp>
        <p:nvSpPr>
          <p:cNvPr id="7" name="ledger-text"/>
          <p:cNvSpPr txBox="1"/>
          <p:nvPr/>
        </p:nvSpPr>
        <p:spPr>
          <a:xfrm>
            <a:off x="1078992" y="6327648"/>
            <a:ext cx="1711756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2"/>
              </a:rPr>
              <a:t>federalreserve.gov</a:t>
            </a:r>
          </a:p>
        </p:txBody>
      </p:sp>
      <p:sp>
        <p:nvSpPr>
          <p:cNvPr id="8" name="ledger-text"/>
          <p:cNvSpPr txBox="1"/>
          <p:nvPr/>
        </p:nvSpPr>
        <p:spPr>
          <a:xfrm>
            <a:off x="11045952" y="6327648"/>
            <a:ext cx="50292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1539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Consolas"/>
                <a:ea typeface="Microsoft YaHei"/>
              </a:rPr>
              <a:t>23</a:t>
            </a:r>
          </a:p>
        </p:txBody>
      </p:sp>
      <p:sp>
        <p:nvSpPr>
          <p:cNvPr id="9" name="ledger-text"/>
          <p:cNvSpPr txBox="1"/>
          <p:nvPr/>
        </p:nvSpPr>
        <p:spPr>
          <a:xfrm>
            <a:off x="609904" y="2011680"/>
            <a:ext cx="21945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事件</a:t>
            </a:r>
          </a:p>
        </p:txBody>
      </p:sp>
      <p:sp>
        <p:nvSpPr>
          <p:cNvPr id="10" name="ledger-text"/>
          <p:cNvSpPr txBox="1"/>
          <p:nvPr/>
        </p:nvSpPr>
        <p:spPr>
          <a:xfrm>
            <a:off x="3035808" y="2011680"/>
            <a:ext cx="822960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美联储9月加息75个基点至3%–3.25%</a:t>
            </a:r>
          </a:p>
        </p:txBody>
      </p:sp>
      <p:cxnSp>
        <p:nvCxnSpPr>
          <p:cNvPr id="11" name="ledger-rule"/>
          <p:cNvCxnSpPr/>
          <p:nvPr/>
        </p:nvCxnSpPr>
        <p:spPr>
          <a:xfrm>
            <a:off x="609904" y="2624328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12" name="ledger-text"/>
          <p:cNvSpPr txBox="1"/>
          <p:nvPr/>
        </p:nvSpPr>
        <p:spPr>
          <a:xfrm>
            <a:off x="609904" y="2743200"/>
            <a:ext cx="21945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事件日期</a:t>
            </a:r>
          </a:p>
        </p:txBody>
      </p:sp>
      <p:sp>
        <p:nvSpPr>
          <p:cNvPr id="13" name="ledger-text"/>
          <p:cNvSpPr txBox="1"/>
          <p:nvPr/>
        </p:nvSpPr>
        <p:spPr>
          <a:xfrm>
            <a:off x="3035808" y="2743200"/>
            <a:ext cx="822960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2022-09-21</a:t>
            </a:r>
          </a:p>
        </p:txBody>
      </p:sp>
      <p:cxnSp>
        <p:nvCxnSpPr>
          <p:cNvPr id="14" name="ledger-rule"/>
          <p:cNvCxnSpPr/>
          <p:nvPr/>
        </p:nvCxnSpPr>
        <p:spPr>
          <a:xfrm>
            <a:off x="609904" y="3355848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15" name="ledger-text"/>
          <p:cNvSpPr txBox="1"/>
          <p:nvPr/>
        </p:nvSpPr>
        <p:spPr>
          <a:xfrm>
            <a:off x="609904" y="3474720"/>
            <a:ext cx="21945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事件事实</a:t>
            </a:r>
          </a:p>
        </p:txBody>
      </p:sp>
      <p:sp>
        <p:nvSpPr>
          <p:cNvPr id="16" name="ledger-text"/>
          <p:cNvSpPr txBox="1"/>
          <p:nvPr/>
        </p:nvSpPr>
        <p:spPr>
          <a:xfrm>
            <a:off x="3035808" y="3474720"/>
            <a:ext cx="8229600" cy="106984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美联储9月21日将联邦基金利率目标区间上调至3%–3.25%，声明称通胀仍</a:t>
            </a:r>
          </a:p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处高位，反映疫情相关的供需失衡、更高的食品与能源价格及更广泛的价格</a:t>
            </a:r>
          </a:p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压力，并重申继续按5月计划缩减国债与机构MBS持仓。</a:t>
            </a:r>
          </a:p>
        </p:txBody>
      </p:sp>
      <p:cxnSp>
        <p:nvCxnSpPr>
          <p:cNvPr id="17" name="ledger-rule"/>
          <p:cNvCxnSpPr/>
          <p:nvPr/>
        </p:nvCxnSpPr>
        <p:spPr>
          <a:xfrm>
            <a:off x="609904" y="4654296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18" name="ledger-text"/>
          <p:cNvSpPr txBox="1"/>
          <p:nvPr/>
        </p:nvSpPr>
        <p:spPr>
          <a:xfrm>
            <a:off x="609904" y="4773168"/>
            <a:ext cx="21945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GLD</a:t>
            </a:r>
          </a:p>
        </p:txBody>
      </p:sp>
      <p:sp>
        <p:nvSpPr>
          <p:cNvPr id="19" name="ledger-text"/>
          <p:cNvSpPr txBox="1"/>
          <p:nvPr/>
        </p:nvSpPr>
        <p:spPr>
          <a:xfrm>
            <a:off x="3035808" y="4773168"/>
            <a:ext cx="8229600" cy="74980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1 日相对收益 +2.2%；5 日相对收益 +3.1%；20 日相对收益 +2.5%</a:t>
            </a:r>
          </a:p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。反应评级：中。</a:t>
            </a:r>
          </a:p>
        </p:txBody>
      </p:sp>
      <p:cxnSp>
        <p:nvCxnSpPr>
          <p:cNvPr id="20" name="ledger-rule"/>
          <p:cNvCxnSpPr/>
          <p:nvPr/>
        </p:nvCxnSpPr>
        <p:spPr>
          <a:xfrm>
            <a:off x="609904" y="5632703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edger-text"/>
          <p:cNvSpPr txBox="1"/>
          <p:nvPr/>
        </p:nvSpPr>
        <p:spPr>
          <a:xfrm>
            <a:off x="609904" y="457200"/>
            <a:ext cx="10972800" cy="61417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E293B"/>
                </a:solidFill>
                <a:latin typeface="Microsoft YaHei"/>
                <a:ea typeface="Microsoft YaHei"/>
              </a:rPr>
              <a:t>事件证据</a:t>
            </a:r>
          </a:p>
        </p:txBody>
      </p:sp>
      <p:sp>
        <p:nvSpPr>
          <p:cNvPr id="3" name="ledger-text"/>
          <p:cNvSpPr txBox="1"/>
          <p:nvPr/>
        </p:nvSpPr>
        <p:spPr>
          <a:xfrm>
            <a:off x="609904" y="1161288"/>
            <a:ext cx="10972800" cy="4572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959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</a:rPr>
              <a:t>日期级来源保留盘前/盘后不确定性；窗口收益不能独立证明因果。</a:t>
            </a:r>
          </a:p>
        </p:txBody>
      </p:sp>
      <p:cxnSp>
        <p:nvCxnSpPr>
          <p:cNvPr id="4" name="ledger-rule"/>
          <p:cNvCxnSpPr/>
          <p:nvPr/>
        </p:nvCxnSpPr>
        <p:spPr>
          <a:xfrm>
            <a:off x="609904" y="1737360"/>
            <a:ext cx="10972800" cy="0"/>
          </a:xfrm>
          <a:prstGeom prst="line">
            <a:avLst/>
          </a:prstGeom>
          <a:ln w="13970">
            <a:solidFill>
              <a:srgbClr val="1E293B"/>
            </a:solidFill>
          </a:ln>
          <a:effectLst/>
        </p:spPr>
      </p:cxnSp>
      <p:cxnSp>
        <p:nvCxnSpPr>
          <p:cNvPr id="5" name="ledger-rule"/>
          <p:cNvCxnSpPr/>
          <p:nvPr/>
        </p:nvCxnSpPr>
        <p:spPr>
          <a:xfrm>
            <a:off x="609904" y="6199632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6" name="ledger-text"/>
          <p:cNvSpPr txBox="1"/>
          <p:nvPr/>
        </p:nvSpPr>
        <p:spPr>
          <a:xfrm>
            <a:off x="609904" y="6345936"/>
            <a:ext cx="457200" cy="2052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Microsoft YaHei"/>
                <a:ea typeface="Microsoft YaHei"/>
              </a:rPr>
              <a:t>来源</a:t>
            </a:r>
          </a:p>
        </p:txBody>
      </p:sp>
      <p:sp>
        <p:nvSpPr>
          <p:cNvPr id="7" name="ledger-text"/>
          <p:cNvSpPr txBox="1"/>
          <p:nvPr/>
        </p:nvSpPr>
        <p:spPr>
          <a:xfrm>
            <a:off x="1078992" y="6327648"/>
            <a:ext cx="1711756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2"/>
              </a:rPr>
              <a:t>federalreserve.gov</a:t>
            </a:r>
          </a:p>
        </p:txBody>
      </p:sp>
      <p:sp>
        <p:nvSpPr>
          <p:cNvPr id="8" name="ledger-text"/>
          <p:cNvSpPr txBox="1"/>
          <p:nvPr/>
        </p:nvSpPr>
        <p:spPr>
          <a:xfrm>
            <a:off x="11045952" y="6327648"/>
            <a:ext cx="50292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1539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Consolas"/>
                <a:ea typeface="Microsoft YaHei"/>
              </a:rPr>
              <a:t>24</a:t>
            </a:r>
          </a:p>
        </p:txBody>
      </p:sp>
      <p:sp>
        <p:nvSpPr>
          <p:cNvPr id="9" name="ledger-text"/>
          <p:cNvSpPr txBox="1"/>
          <p:nvPr/>
        </p:nvSpPr>
        <p:spPr>
          <a:xfrm>
            <a:off x="609904" y="2011680"/>
            <a:ext cx="21945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BTC-USD</a:t>
            </a:r>
          </a:p>
        </p:txBody>
      </p:sp>
      <p:sp>
        <p:nvSpPr>
          <p:cNvPr id="10" name="ledger-text"/>
          <p:cNvSpPr txBox="1"/>
          <p:nvPr/>
        </p:nvSpPr>
        <p:spPr>
          <a:xfrm>
            <a:off x="3035808" y="2011680"/>
            <a:ext cx="8229600" cy="74980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1 日相对收益 -0.1%；5 日相对收益 +3.7%；20 日相对收益 +7.6%</a:t>
            </a:r>
          </a:p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。反应评级：低。</a:t>
            </a:r>
          </a:p>
        </p:txBody>
      </p:sp>
      <p:cxnSp>
        <p:nvCxnSpPr>
          <p:cNvPr id="11" name="ledger-rule"/>
          <p:cNvCxnSpPr/>
          <p:nvPr/>
        </p:nvCxnSpPr>
        <p:spPr>
          <a:xfrm>
            <a:off x="609904" y="2871216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edger-text"/>
          <p:cNvSpPr txBox="1"/>
          <p:nvPr/>
        </p:nvSpPr>
        <p:spPr>
          <a:xfrm>
            <a:off x="609904" y="457200"/>
            <a:ext cx="10972800" cy="61417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E293B"/>
                </a:solidFill>
                <a:latin typeface="Microsoft YaHei"/>
                <a:ea typeface="Microsoft YaHei"/>
              </a:rPr>
              <a:t>事件证据</a:t>
            </a:r>
          </a:p>
        </p:txBody>
      </p:sp>
      <p:sp>
        <p:nvSpPr>
          <p:cNvPr id="3" name="ledger-text"/>
          <p:cNvSpPr txBox="1"/>
          <p:nvPr/>
        </p:nvSpPr>
        <p:spPr>
          <a:xfrm>
            <a:off x="609904" y="1161288"/>
            <a:ext cx="10972800" cy="4572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959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</a:rPr>
              <a:t>日期级来源保留盘前/盘后不确定性；窗口收益不能独立证明因果。</a:t>
            </a:r>
          </a:p>
        </p:txBody>
      </p:sp>
      <p:cxnSp>
        <p:nvCxnSpPr>
          <p:cNvPr id="4" name="ledger-rule"/>
          <p:cNvCxnSpPr/>
          <p:nvPr/>
        </p:nvCxnSpPr>
        <p:spPr>
          <a:xfrm>
            <a:off x="609904" y="1737360"/>
            <a:ext cx="10972800" cy="0"/>
          </a:xfrm>
          <a:prstGeom prst="line">
            <a:avLst/>
          </a:prstGeom>
          <a:ln w="13970">
            <a:solidFill>
              <a:srgbClr val="1E293B"/>
            </a:solidFill>
          </a:ln>
          <a:effectLst/>
        </p:spPr>
      </p:cxnSp>
      <p:cxnSp>
        <p:nvCxnSpPr>
          <p:cNvPr id="5" name="ledger-rule"/>
          <p:cNvCxnSpPr/>
          <p:nvPr/>
        </p:nvCxnSpPr>
        <p:spPr>
          <a:xfrm>
            <a:off x="609904" y="6199632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6" name="ledger-text"/>
          <p:cNvSpPr txBox="1"/>
          <p:nvPr/>
        </p:nvSpPr>
        <p:spPr>
          <a:xfrm>
            <a:off x="609904" y="6345936"/>
            <a:ext cx="457200" cy="2052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Microsoft YaHei"/>
                <a:ea typeface="Microsoft YaHei"/>
              </a:rPr>
              <a:t>来源</a:t>
            </a:r>
          </a:p>
        </p:txBody>
      </p:sp>
      <p:sp>
        <p:nvSpPr>
          <p:cNvPr id="7" name="ledger-text"/>
          <p:cNvSpPr txBox="1"/>
          <p:nvPr/>
        </p:nvSpPr>
        <p:spPr>
          <a:xfrm>
            <a:off x="1078992" y="6327648"/>
            <a:ext cx="950976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2"/>
              </a:rPr>
              <a:t>decrypt.co</a:t>
            </a:r>
          </a:p>
        </p:txBody>
      </p:sp>
      <p:sp>
        <p:nvSpPr>
          <p:cNvPr id="8" name="ledger-text"/>
          <p:cNvSpPr txBox="1"/>
          <p:nvPr/>
        </p:nvSpPr>
        <p:spPr>
          <a:xfrm>
            <a:off x="11045952" y="6327648"/>
            <a:ext cx="50292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1539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Consolas"/>
                <a:ea typeface="Microsoft YaHei"/>
              </a:rPr>
              <a:t>25</a:t>
            </a:r>
          </a:p>
        </p:txBody>
      </p:sp>
      <p:sp>
        <p:nvSpPr>
          <p:cNvPr id="9" name="ledger-text"/>
          <p:cNvSpPr txBox="1"/>
          <p:nvPr/>
        </p:nvSpPr>
        <p:spPr>
          <a:xfrm>
            <a:off x="609904" y="2011680"/>
            <a:ext cx="21945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事件</a:t>
            </a:r>
          </a:p>
        </p:txBody>
      </p:sp>
      <p:sp>
        <p:nvSpPr>
          <p:cNvPr id="10" name="ledger-text"/>
          <p:cNvSpPr txBox="1"/>
          <p:nvPr/>
        </p:nvSpPr>
        <p:spPr>
          <a:xfrm>
            <a:off x="3035808" y="2011680"/>
            <a:ext cx="822960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比特币升破3.1万美元，现货ETF乐观情绪升温</a:t>
            </a:r>
          </a:p>
        </p:txBody>
      </p:sp>
      <p:cxnSp>
        <p:nvCxnSpPr>
          <p:cNvPr id="11" name="ledger-rule"/>
          <p:cNvCxnSpPr/>
          <p:nvPr/>
        </p:nvCxnSpPr>
        <p:spPr>
          <a:xfrm>
            <a:off x="609904" y="2624328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12" name="ledger-text"/>
          <p:cNvSpPr txBox="1"/>
          <p:nvPr/>
        </p:nvSpPr>
        <p:spPr>
          <a:xfrm>
            <a:off x="609904" y="2743200"/>
            <a:ext cx="21945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事件日期</a:t>
            </a:r>
          </a:p>
        </p:txBody>
      </p:sp>
      <p:sp>
        <p:nvSpPr>
          <p:cNvPr id="13" name="ledger-text"/>
          <p:cNvSpPr txBox="1"/>
          <p:nvPr/>
        </p:nvSpPr>
        <p:spPr>
          <a:xfrm>
            <a:off x="3035808" y="2743200"/>
            <a:ext cx="822960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2023-10-23</a:t>
            </a:r>
          </a:p>
        </p:txBody>
      </p:sp>
      <p:cxnSp>
        <p:nvCxnSpPr>
          <p:cNvPr id="14" name="ledger-rule"/>
          <p:cNvCxnSpPr/>
          <p:nvPr/>
        </p:nvCxnSpPr>
        <p:spPr>
          <a:xfrm>
            <a:off x="609904" y="3355848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15" name="ledger-text"/>
          <p:cNvSpPr txBox="1"/>
          <p:nvPr/>
        </p:nvSpPr>
        <p:spPr>
          <a:xfrm>
            <a:off x="609904" y="3474720"/>
            <a:ext cx="21945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事件事实</a:t>
            </a:r>
          </a:p>
        </p:txBody>
      </p:sp>
      <p:sp>
        <p:nvSpPr>
          <p:cNvPr id="16" name="ledger-text"/>
          <p:cNvSpPr txBox="1"/>
          <p:nvPr/>
        </p:nvSpPr>
        <p:spPr>
          <a:xfrm>
            <a:off x="3035808" y="3474720"/>
            <a:ext cx="8229600" cy="106984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10月23日比特币升破31,000美元，报约31,284美元，24小时涨近5%、</a:t>
            </a:r>
          </a:p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七日涨超11%，为7月中以来最高。市场对现货比特币ETF获批的乐观情绪</a:t>
            </a:r>
          </a:p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升温，贝莱德等机构申请推进，灰度此前在诉讼中胜诉SEC。</a:t>
            </a:r>
          </a:p>
        </p:txBody>
      </p:sp>
      <p:cxnSp>
        <p:nvCxnSpPr>
          <p:cNvPr id="17" name="ledger-rule"/>
          <p:cNvCxnSpPr/>
          <p:nvPr/>
        </p:nvCxnSpPr>
        <p:spPr>
          <a:xfrm>
            <a:off x="609904" y="4654296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18" name="ledger-text"/>
          <p:cNvSpPr txBox="1"/>
          <p:nvPr/>
        </p:nvSpPr>
        <p:spPr>
          <a:xfrm>
            <a:off x="609904" y="4773168"/>
            <a:ext cx="21945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BTC-USD</a:t>
            </a:r>
          </a:p>
        </p:txBody>
      </p:sp>
      <p:sp>
        <p:nvSpPr>
          <p:cNvPr id="19" name="ledger-text"/>
          <p:cNvSpPr txBox="1"/>
          <p:nvPr/>
        </p:nvSpPr>
        <p:spPr>
          <a:xfrm>
            <a:off x="3035808" y="4773168"/>
            <a:ext cx="8229600" cy="74980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1 日相对收益 +10.5%；5 日相对收益 +15.6%；20 日相对收益 +</a:t>
            </a:r>
          </a:p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19.2%。反应评级：高。</a:t>
            </a:r>
          </a:p>
        </p:txBody>
      </p:sp>
      <p:cxnSp>
        <p:nvCxnSpPr>
          <p:cNvPr id="20" name="ledger-rule"/>
          <p:cNvCxnSpPr/>
          <p:nvPr/>
        </p:nvCxnSpPr>
        <p:spPr>
          <a:xfrm>
            <a:off x="609904" y="5632703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edger-text"/>
          <p:cNvSpPr txBox="1"/>
          <p:nvPr/>
        </p:nvSpPr>
        <p:spPr>
          <a:xfrm>
            <a:off x="609904" y="457200"/>
            <a:ext cx="10972800" cy="61417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E293B"/>
                </a:solidFill>
                <a:latin typeface="Microsoft YaHei"/>
                <a:ea typeface="Microsoft YaHei"/>
              </a:rPr>
              <a:t>事件证据</a:t>
            </a:r>
          </a:p>
        </p:txBody>
      </p:sp>
      <p:sp>
        <p:nvSpPr>
          <p:cNvPr id="3" name="ledger-text"/>
          <p:cNvSpPr txBox="1"/>
          <p:nvPr/>
        </p:nvSpPr>
        <p:spPr>
          <a:xfrm>
            <a:off x="609904" y="1161288"/>
            <a:ext cx="10972800" cy="4572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959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</a:rPr>
              <a:t>日期级来源保留盘前/盘后不确定性；窗口收益不能独立证明因果。</a:t>
            </a:r>
          </a:p>
        </p:txBody>
      </p:sp>
      <p:cxnSp>
        <p:nvCxnSpPr>
          <p:cNvPr id="4" name="ledger-rule"/>
          <p:cNvCxnSpPr/>
          <p:nvPr/>
        </p:nvCxnSpPr>
        <p:spPr>
          <a:xfrm>
            <a:off x="609904" y="1737360"/>
            <a:ext cx="10972800" cy="0"/>
          </a:xfrm>
          <a:prstGeom prst="line">
            <a:avLst/>
          </a:prstGeom>
          <a:ln w="13970">
            <a:solidFill>
              <a:srgbClr val="1E293B"/>
            </a:solidFill>
          </a:ln>
          <a:effectLst/>
        </p:spPr>
      </p:cxnSp>
      <p:cxnSp>
        <p:nvCxnSpPr>
          <p:cNvPr id="5" name="ledger-rule"/>
          <p:cNvCxnSpPr/>
          <p:nvPr/>
        </p:nvCxnSpPr>
        <p:spPr>
          <a:xfrm>
            <a:off x="609904" y="6199632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6" name="ledger-text"/>
          <p:cNvSpPr txBox="1"/>
          <p:nvPr/>
        </p:nvSpPr>
        <p:spPr>
          <a:xfrm>
            <a:off x="609904" y="6345936"/>
            <a:ext cx="457200" cy="2052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Microsoft YaHei"/>
                <a:ea typeface="Microsoft YaHei"/>
              </a:rPr>
              <a:t>来源</a:t>
            </a:r>
          </a:p>
        </p:txBody>
      </p:sp>
      <p:sp>
        <p:nvSpPr>
          <p:cNvPr id="7" name="ledger-text"/>
          <p:cNvSpPr txBox="1"/>
          <p:nvPr/>
        </p:nvSpPr>
        <p:spPr>
          <a:xfrm>
            <a:off x="1078992" y="6327648"/>
            <a:ext cx="76078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2"/>
              </a:rPr>
              <a:t>cnbc.com</a:t>
            </a:r>
          </a:p>
        </p:txBody>
      </p:sp>
      <p:sp>
        <p:nvSpPr>
          <p:cNvPr id="8" name="ledger-text"/>
          <p:cNvSpPr txBox="1"/>
          <p:nvPr/>
        </p:nvSpPr>
        <p:spPr>
          <a:xfrm>
            <a:off x="11045952" y="6327648"/>
            <a:ext cx="50292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1539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Consolas"/>
                <a:ea typeface="Microsoft YaHei"/>
              </a:rPr>
              <a:t>26</a:t>
            </a:r>
          </a:p>
        </p:txBody>
      </p:sp>
      <p:sp>
        <p:nvSpPr>
          <p:cNvPr id="9" name="ledger-text"/>
          <p:cNvSpPr txBox="1"/>
          <p:nvPr/>
        </p:nvSpPr>
        <p:spPr>
          <a:xfrm>
            <a:off x="609904" y="2011680"/>
            <a:ext cx="21945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事件</a:t>
            </a:r>
          </a:p>
        </p:txBody>
      </p:sp>
      <p:sp>
        <p:nvSpPr>
          <p:cNvPr id="10" name="ledger-text"/>
          <p:cNvSpPr txBox="1"/>
          <p:nvPr/>
        </p:nvSpPr>
        <p:spPr>
          <a:xfrm>
            <a:off x="3035808" y="2011680"/>
            <a:ext cx="822960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SEC批准比特币现货ETF相关规则变更</a:t>
            </a:r>
          </a:p>
        </p:txBody>
      </p:sp>
      <p:cxnSp>
        <p:nvCxnSpPr>
          <p:cNvPr id="11" name="ledger-rule"/>
          <p:cNvCxnSpPr/>
          <p:nvPr/>
        </p:nvCxnSpPr>
        <p:spPr>
          <a:xfrm>
            <a:off x="609904" y="2624328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12" name="ledger-text"/>
          <p:cNvSpPr txBox="1"/>
          <p:nvPr/>
        </p:nvSpPr>
        <p:spPr>
          <a:xfrm>
            <a:off x="609904" y="2743200"/>
            <a:ext cx="21945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事件日期</a:t>
            </a:r>
          </a:p>
        </p:txBody>
      </p:sp>
      <p:sp>
        <p:nvSpPr>
          <p:cNvPr id="13" name="ledger-text"/>
          <p:cNvSpPr txBox="1"/>
          <p:nvPr/>
        </p:nvSpPr>
        <p:spPr>
          <a:xfrm>
            <a:off x="3035808" y="2743200"/>
            <a:ext cx="822960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2024-01-10</a:t>
            </a:r>
          </a:p>
        </p:txBody>
      </p:sp>
      <p:cxnSp>
        <p:nvCxnSpPr>
          <p:cNvPr id="14" name="ledger-rule"/>
          <p:cNvCxnSpPr/>
          <p:nvPr/>
        </p:nvCxnSpPr>
        <p:spPr>
          <a:xfrm>
            <a:off x="609904" y="3355848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15" name="ledger-text"/>
          <p:cNvSpPr txBox="1"/>
          <p:nvPr/>
        </p:nvSpPr>
        <p:spPr>
          <a:xfrm>
            <a:off x="609904" y="3474720"/>
            <a:ext cx="21945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事件事实</a:t>
            </a:r>
          </a:p>
        </p:txBody>
      </p:sp>
      <p:sp>
        <p:nvSpPr>
          <p:cNvPr id="16" name="ledger-text"/>
          <p:cNvSpPr txBox="1"/>
          <p:nvPr/>
        </p:nvSpPr>
        <p:spPr>
          <a:xfrm>
            <a:off x="3035808" y="3474720"/>
            <a:ext cx="8229600" cy="138988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美国SEC于1月10日批准规则变更，为设立比特币现货ETF铺路，灰度比特</a:t>
            </a:r>
          </a:p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币信托有望转为ETF，贝莱德iShares、富达等也将推出产品，首批基金</a:t>
            </a:r>
          </a:p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预计次日起交易。此前一日SEC官方社交账号曾误发获批消息并称账号被入</a:t>
            </a:r>
          </a:p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侵。</a:t>
            </a:r>
          </a:p>
        </p:txBody>
      </p:sp>
      <p:cxnSp>
        <p:nvCxnSpPr>
          <p:cNvPr id="17" name="ledger-rule"/>
          <p:cNvCxnSpPr/>
          <p:nvPr/>
        </p:nvCxnSpPr>
        <p:spPr>
          <a:xfrm>
            <a:off x="609904" y="4974336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18" name="ledger-text"/>
          <p:cNvSpPr txBox="1"/>
          <p:nvPr/>
        </p:nvSpPr>
        <p:spPr>
          <a:xfrm>
            <a:off x="609904" y="5093208"/>
            <a:ext cx="21945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BTC-USD</a:t>
            </a:r>
          </a:p>
        </p:txBody>
      </p:sp>
      <p:sp>
        <p:nvSpPr>
          <p:cNvPr id="19" name="ledger-text"/>
          <p:cNvSpPr txBox="1"/>
          <p:nvPr/>
        </p:nvSpPr>
        <p:spPr>
          <a:xfrm>
            <a:off x="3035808" y="5093208"/>
            <a:ext cx="8229600" cy="74980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1 日相对收益 +0.5%；5 日相对收益 -10.0%；20 日相对收益 -</a:t>
            </a:r>
          </a:p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9.8%。反应评级：中。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edger-text"/>
          <p:cNvSpPr txBox="1"/>
          <p:nvPr/>
        </p:nvSpPr>
        <p:spPr>
          <a:xfrm>
            <a:off x="609904" y="457200"/>
            <a:ext cx="10972800" cy="61417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E293B"/>
                </a:solidFill>
                <a:latin typeface="Microsoft YaHei"/>
                <a:ea typeface="Microsoft YaHei"/>
              </a:rPr>
              <a:t>事件证据</a:t>
            </a:r>
          </a:p>
        </p:txBody>
      </p:sp>
      <p:sp>
        <p:nvSpPr>
          <p:cNvPr id="3" name="ledger-text"/>
          <p:cNvSpPr txBox="1"/>
          <p:nvPr/>
        </p:nvSpPr>
        <p:spPr>
          <a:xfrm>
            <a:off x="609904" y="1161288"/>
            <a:ext cx="10972800" cy="4572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959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</a:rPr>
              <a:t>日期级来源保留盘前/盘后不确定性；窗口收益不能独立证明因果。</a:t>
            </a:r>
          </a:p>
        </p:txBody>
      </p:sp>
      <p:cxnSp>
        <p:nvCxnSpPr>
          <p:cNvPr id="4" name="ledger-rule"/>
          <p:cNvCxnSpPr/>
          <p:nvPr/>
        </p:nvCxnSpPr>
        <p:spPr>
          <a:xfrm>
            <a:off x="609904" y="1737360"/>
            <a:ext cx="10972800" cy="0"/>
          </a:xfrm>
          <a:prstGeom prst="line">
            <a:avLst/>
          </a:prstGeom>
          <a:ln w="13970">
            <a:solidFill>
              <a:srgbClr val="1E293B"/>
            </a:solidFill>
          </a:ln>
          <a:effectLst/>
        </p:spPr>
      </p:cxnSp>
      <p:cxnSp>
        <p:nvCxnSpPr>
          <p:cNvPr id="5" name="ledger-rule"/>
          <p:cNvCxnSpPr/>
          <p:nvPr/>
        </p:nvCxnSpPr>
        <p:spPr>
          <a:xfrm>
            <a:off x="609904" y="6199632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6" name="ledger-text"/>
          <p:cNvSpPr txBox="1"/>
          <p:nvPr/>
        </p:nvSpPr>
        <p:spPr>
          <a:xfrm>
            <a:off x="609904" y="6345936"/>
            <a:ext cx="457200" cy="2052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Microsoft YaHei"/>
                <a:ea typeface="Microsoft YaHei"/>
              </a:rPr>
              <a:t>来源</a:t>
            </a:r>
          </a:p>
        </p:txBody>
      </p:sp>
      <p:sp>
        <p:nvSpPr>
          <p:cNvPr id="7" name="ledger-text"/>
          <p:cNvSpPr txBox="1"/>
          <p:nvPr/>
        </p:nvSpPr>
        <p:spPr>
          <a:xfrm>
            <a:off x="1078992" y="6327648"/>
            <a:ext cx="76078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2"/>
              </a:rPr>
              <a:t>cnbc.com</a:t>
            </a:r>
          </a:p>
        </p:txBody>
      </p:sp>
      <p:sp>
        <p:nvSpPr>
          <p:cNvPr id="8" name="ledger-text"/>
          <p:cNvSpPr txBox="1"/>
          <p:nvPr/>
        </p:nvSpPr>
        <p:spPr>
          <a:xfrm>
            <a:off x="11045952" y="6327648"/>
            <a:ext cx="50292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1539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Consolas"/>
                <a:ea typeface="Microsoft YaHei"/>
              </a:rPr>
              <a:t>27</a:t>
            </a:r>
          </a:p>
        </p:txBody>
      </p:sp>
      <p:sp>
        <p:nvSpPr>
          <p:cNvPr id="9" name="ledger-text"/>
          <p:cNvSpPr txBox="1"/>
          <p:nvPr/>
        </p:nvSpPr>
        <p:spPr>
          <a:xfrm>
            <a:off x="609904" y="2011680"/>
            <a:ext cx="21945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事件</a:t>
            </a:r>
          </a:p>
        </p:txBody>
      </p:sp>
      <p:sp>
        <p:nvSpPr>
          <p:cNvPr id="10" name="ledger-text"/>
          <p:cNvSpPr txBox="1"/>
          <p:nvPr/>
        </p:nvSpPr>
        <p:spPr>
          <a:xfrm>
            <a:off x="3035808" y="2011680"/>
            <a:ext cx="822960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黄金重挫、白银期货暴跌31.4%，沃什获提名缓解美联储独立性担忧</a:t>
            </a:r>
          </a:p>
        </p:txBody>
      </p:sp>
      <p:cxnSp>
        <p:nvCxnSpPr>
          <p:cNvPr id="11" name="ledger-rule"/>
          <p:cNvCxnSpPr/>
          <p:nvPr/>
        </p:nvCxnSpPr>
        <p:spPr>
          <a:xfrm>
            <a:off x="609904" y="2624328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12" name="ledger-text"/>
          <p:cNvSpPr txBox="1"/>
          <p:nvPr/>
        </p:nvSpPr>
        <p:spPr>
          <a:xfrm>
            <a:off x="609904" y="2743200"/>
            <a:ext cx="21945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事件日期</a:t>
            </a:r>
          </a:p>
        </p:txBody>
      </p:sp>
      <p:sp>
        <p:nvSpPr>
          <p:cNvPr id="13" name="ledger-text"/>
          <p:cNvSpPr txBox="1"/>
          <p:nvPr/>
        </p:nvSpPr>
        <p:spPr>
          <a:xfrm>
            <a:off x="3035808" y="2743200"/>
            <a:ext cx="822960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2026-01-30</a:t>
            </a:r>
          </a:p>
        </p:txBody>
      </p:sp>
      <p:cxnSp>
        <p:nvCxnSpPr>
          <p:cNvPr id="14" name="ledger-rule"/>
          <p:cNvCxnSpPr/>
          <p:nvPr/>
        </p:nvCxnSpPr>
        <p:spPr>
          <a:xfrm>
            <a:off x="609904" y="3355848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15" name="ledger-text"/>
          <p:cNvSpPr txBox="1"/>
          <p:nvPr/>
        </p:nvSpPr>
        <p:spPr>
          <a:xfrm>
            <a:off x="609904" y="3474720"/>
            <a:ext cx="21945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事件事实</a:t>
            </a:r>
          </a:p>
        </p:txBody>
      </p:sp>
      <p:sp>
        <p:nvSpPr>
          <p:cNvPr id="16" name="ledger-text"/>
          <p:cNvSpPr txBox="1"/>
          <p:nvPr/>
        </p:nvSpPr>
        <p:spPr>
          <a:xfrm>
            <a:off x="3035808" y="3474720"/>
            <a:ext cx="8229600" cy="138988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1月30日特朗普提名沃什出任下任美联储主席，缓解市场对央行独立性的担</a:t>
            </a:r>
          </a:p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忧并推升美元，贵金属大跌：现货黄金跌约9%至4,895.22美元/盎司，黄</a:t>
            </a:r>
          </a:p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金期货跌11.4%至4,745.10美元；现货白银跌28%至83.45美元，白银</a:t>
            </a:r>
          </a:p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期货跌31.4%至78.53美元，为1980年3月以来最差单日。</a:t>
            </a:r>
          </a:p>
        </p:txBody>
      </p:sp>
      <p:cxnSp>
        <p:nvCxnSpPr>
          <p:cNvPr id="17" name="ledger-rule"/>
          <p:cNvCxnSpPr/>
          <p:nvPr/>
        </p:nvCxnSpPr>
        <p:spPr>
          <a:xfrm>
            <a:off x="609904" y="4974336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18" name="ledger-text"/>
          <p:cNvSpPr txBox="1"/>
          <p:nvPr/>
        </p:nvSpPr>
        <p:spPr>
          <a:xfrm>
            <a:off x="609904" y="5093208"/>
            <a:ext cx="21945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GLD</a:t>
            </a:r>
          </a:p>
        </p:txBody>
      </p:sp>
      <p:sp>
        <p:nvSpPr>
          <p:cNvPr id="19" name="ledger-text"/>
          <p:cNvSpPr txBox="1"/>
          <p:nvPr/>
        </p:nvSpPr>
        <p:spPr>
          <a:xfrm>
            <a:off x="3035808" y="5093208"/>
            <a:ext cx="8229600" cy="74980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1 日相对收益 -10.0%；5 日相对收益 -8.5%；20 日相对收益 -</a:t>
            </a:r>
          </a:p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1.3%。反应评级：高。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edger-text"/>
          <p:cNvSpPr txBox="1"/>
          <p:nvPr/>
        </p:nvSpPr>
        <p:spPr>
          <a:xfrm>
            <a:off x="609904" y="457200"/>
            <a:ext cx="10972800" cy="61417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E293B"/>
                </a:solidFill>
                <a:latin typeface="Microsoft YaHei"/>
                <a:ea typeface="Microsoft YaHei"/>
              </a:rPr>
              <a:t>事件证据</a:t>
            </a:r>
          </a:p>
        </p:txBody>
      </p:sp>
      <p:sp>
        <p:nvSpPr>
          <p:cNvPr id="3" name="ledger-text"/>
          <p:cNvSpPr txBox="1"/>
          <p:nvPr/>
        </p:nvSpPr>
        <p:spPr>
          <a:xfrm>
            <a:off x="609904" y="1161288"/>
            <a:ext cx="10972800" cy="4572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959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</a:rPr>
              <a:t>日期级来源保留盘前/盘后不确定性；窗口收益不能独立证明因果。</a:t>
            </a:r>
          </a:p>
        </p:txBody>
      </p:sp>
      <p:cxnSp>
        <p:nvCxnSpPr>
          <p:cNvPr id="4" name="ledger-rule"/>
          <p:cNvCxnSpPr/>
          <p:nvPr/>
        </p:nvCxnSpPr>
        <p:spPr>
          <a:xfrm>
            <a:off x="609904" y="1737360"/>
            <a:ext cx="10972800" cy="0"/>
          </a:xfrm>
          <a:prstGeom prst="line">
            <a:avLst/>
          </a:prstGeom>
          <a:ln w="13970">
            <a:solidFill>
              <a:srgbClr val="1E293B"/>
            </a:solidFill>
          </a:ln>
          <a:effectLst/>
        </p:spPr>
      </p:cxnSp>
      <p:cxnSp>
        <p:nvCxnSpPr>
          <p:cNvPr id="5" name="ledger-rule"/>
          <p:cNvCxnSpPr/>
          <p:nvPr/>
        </p:nvCxnSpPr>
        <p:spPr>
          <a:xfrm>
            <a:off x="609904" y="6199632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6" name="ledger-text"/>
          <p:cNvSpPr txBox="1"/>
          <p:nvPr/>
        </p:nvSpPr>
        <p:spPr>
          <a:xfrm>
            <a:off x="609904" y="6345936"/>
            <a:ext cx="457200" cy="2052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Microsoft YaHei"/>
                <a:ea typeface="Microsoft YaHei"/>
              </a:rPr>
              <a:t>来源</a:t>
            </a:r>
          </a:p>
        </p:txBody>
      </p:sp>
      <p:sp>
        <p:nvSpPr>
          <p:cNvPr id="7" name="ledger-text"/>
          <p:cNvSpPr txBox="1"/>
          <p:nvPr/>
        </p:nvSpPr>
        <p:spPr>
          <a:xfrm>
            <a:off x="1078992" y="6327648"/>
            <a:ext cx="76078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2"/>
              </a:rPr>
              <a:t>cnbc.com</a:t>
            </a:r>
          </a:p>
        </p:txBody>
      </p:sp>
      <p:sp>
        <p:nvSpPr>
          <p:cNvPr id="8" name="ledger-text"/>
          <p:cNvSpPr txBox="1"/>
          <p:nvPr/>
        </p:nvSpPr>
        <p:spPr>
          <a:xfrm>
            <a:off x="11045952" y="6327648"/>
            <a:ext cx="50292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1539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Consolas"/>
                <a:ea typeface="Microsoft YaHei"/>
              </a:rPr>
              <a:t>28</a:t>
            </a:r>
          </a:p>
        </p:txBody>
      </p:sp>
      <p:sp>
        <p:nvSpPr>
          <p:cNvPr id="9" name="ledger-text"/>
          <p:cNvSpPr txBox="1"/>
          <p:nvPr/>
        </p:nvSpPr>
        <p:spPr>
          <a:xfrm>
            <a:off x="609904" y="2011680"/>
            <a:ext cx="21945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事件</a:t>
            </a:r>
          </a:p>
        </p:txBody>
      </p:sp>
      <p:sp>
        <p:nvSpPr>
          <p:cNvPr id="10" name="ledger-text"/>
          <p:cNvSpPr txBox="1"/>
          <p:nvPr/>
        </p:nvSpPr>
        <p:spPr>
          <a:xfrm>
            <a:off x="3035808" y="2011680"/>
            <a:ext cx="822960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比特币跌破8万美元，为2025年4月以来首次</a:t>
            </a:r>
          </a:p>
        </p:txBody>
      </p:sp>
      <p:cxnSp>
        <p:nvCxnSpPr>
          <p:cNvPr id="11" name="ledger-rule"/>
          <p:cNvCxnSpPr/>
          <p:nvPr/>
        </p:nvCxnSpPr>
        <p:spPr>
          <a:xfrm>
            <a:off x="609904" y="2624328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12" name="ledger-text"/>
          <p:cNvSpPr txBox="1"/>
          <p:nvPr/>
        </p:nvSpPr>
        <p:spPr>
          <a:xfrm>
            <a:off x="609904" y="2743200"/>
            <a:ext cx="21945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事件日期</a:t>
            </a:r>
          </a:p>
        </p:txBody>
      </p:sp>
      <p:sp>
        <p:nvSpPr>
          <p:cNvPr id="13" name="ledger-text"/>
          <p:cNvSpPr txBox="1"/>
          <p:nvPr/>
        </p:nvSpPr>
        <p:spPr>
          <a:xfrm>
            <a:off x="3035808" y="2743200"/>
            <a:ext cx="822960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2026-02-02</a:t>
            </a:r>
          </a:p>
        </p:txBody>
      </p:sp>
      <p:cxnSp>
        <p:nvCxnSpPr>
          <p:cNvPr id="14" name="ledger-rule"/>
          <p:cNvCxnSpPr/>
          <p:nvPr/>
        </p:nvCxnSpPr>
        <p:spPr>
          <a:xfrm>
            <a:off x="609904" y="3355848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15" name="ledger-text"/>
          <p:cNvSpPr txBox="1"/>
          <p:nvPr/>
        </p:nvSpPr>
        <p:spPr>
          <a:xfrm>
            <a:off x="609904" y="3474720"/>
            <a:ext cx="21945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事件事实</a:t>
            </a:r>
          </a:p>
        </p:txBody>
      </p:sp>
      <p:sp>
        <p:nvSpPr>
          <p:cNvPr id="16" name="ledger-text"/>
          <p:cNvSpPr txBox="1"/>
          <p:nvPr/>
        </p:nvSpPr>
        <p:spPr>
          <a:xfrm>
            <a:off x="3035808" y="3474720"/>
            <a:ext cx="8229600" cy="106984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2月2日比特币跌破8万美元，为2025年4月以来首次，盘中最低74,876美</a:t>
            </a:r>
          </a:p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元，七日跌约12%，市值蒸发逾2,000亿美元。此前全球股市与金银同步下</a:t>
            </a:r>
          </a:p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跌，自上周四起逾20亿美元加密多空头寸被强平。</a:t>
            </a:r>
          </a:p>
        </p:txBody>
      </p:sp>
      <p:cxnSp>
        <p:nvCxnSpPr>
          <p:cNvPr id="17" name="ledger-rule"/>
          <p:cNvCxnSpPr/>
          <p:nvPr/>
        </p:nvCxnSpPr>
        <p:spPr>
          <a:xfrm>
            <a:off x="609904" y="4654296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18" name="ledger-text"/>
          <p:cNvSpPr txBox="1"/>
          <p:nvPr/>
        </p:nvSpPr>
        <p:spPr>
          <a:xfrm>
            <a:off x="609904" y="4773168"/>
            <a:ext cx="21945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BTC-USD</a:t>
            </a:r>
          </a:p>
        </p:txBody>
      </p:sp>
      <p:sp>
        <p:nvSpPr>
          <p:cNvPr id="19" name="ledger-text"/>
          <p:cNvSpPr txBox="1"/>
          <p:nvPr/>
        </p:nvSpPr>
        <p:spPr>
          <a:xfrm>
            <a:off x="3035808" y="4773168"/>
            <a:ext cx="8229600" cy="74980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1 日相对收益 +1.7%；5 日相对收益 -8.1%；20 日相对收益 -</a:t>
            </a:r>
          </a:p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11.3%。反应评级：中。</a:t>
            </a:r>
          </a:p>
        </p:txBody>
      </p:sp>
      <p:cxnSp>
        <p:nvCxnSpPr>
          <p:cNvPr id="20" name="ledger-rule"/>
          <p:cNvCxnSpPr/>
          <p:nvPr/>
        </p:nvCxnSpPr>
        <p:spPr>
          <a:xfrm>
            <a:off x="609904" y="5632703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edger-text"/>
          <p:cNvSpPr txBox="1"/>
          <p:nvPr/>
        </p:nvSpPr>
        <p:spPr>
          <a:xfrm>
            <a:off x="609904" y="457200"/>
            <a:ext cx="10972800" cy="61417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E293B"/>
                </a:solidFill>
                <a:latin typeface="Microsoft YaHei"/>
                <a:ea typeface="Microsoft YaHei"/>
              </a:rPr>
              <a:t>事件证据</a:t>
            </a:r>
          </a:p>
        </p:txBody>
      </p:sp>
      <p:sp>
        <p:nvSpPr>
          <p:cNvPr id="3" name="ledger-text"/>
          <p:cNvSpPr txBox="1"/>
          <p:nvPr/>
        </p:nvSpPr>
        <p:spPr>
          <a:xfrm>
            <a:off x="609904" y="1161288"/>
            <a:ext cx="10972800" cy="4572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959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</a:rPr>
              <a:t>日期级来源保留盘前/盘后不确定性；窗口收益不能独立证明因果。</a:t>
            </a:r>
          </a:p>
        </p:txBody>
      </p:sp>
      <p:cxnSp>
        <p:nvCxnSpPr>
          <p:cNvPr id="4" name="ledger-rule"/>
          <p:cNvCxnSpPr/>
          <p:nvPr/>
        </p:nvCxnSpPr>
        <p:spPr>
          <a:xfrm>
            <a:off x="609904" y="1737360"/>
            <a:ext cx="10972800" cy="0"/>
          </a:xfrm>
          <a:prstGeom prst="line">
            <a:avLst/>
          </a:prstGeom>
          <a:ln w="13970">
            <a:solidFill>
              <a:srgbClr val="1E293B"/>
            </a:solidFill>
          </a:ln>
          <a:effectLst/>
        </p:spPr>
      </p:cxnSp>
      <p:cxnSp>
        <p:nvCxnSpPr>
          <p:cNvPr id="5" name="ledger-rule"/>
          <p:cNvCxnSpPr/>
          <p:nvPr/>
        </p:nvCxnSpPr>
        <p:spPr>
          <a:xfrm>
            <a:off x="609904" y="6199632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6" name="ledger-text"/>
          <p:cNvSpPr txBox="1"/>
          <p:nvPr/>
        </p:nvSpPr>
        <p:spPr>
          <a:xfrm>
            <a:off x="609904" y="6345936"/>
            <a:ext cx="457200" cy="2052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Microsoft YaHei"/>
                <a:ea typeface="Microsoft YaHei"/>
              </a:rPr>
              <a:t>来源</a:t>
            </a:r>
          </a:p>
        </p:txBody>
      </p:sp>
      <p:sp>
        <p:nvSpPr>
          <p:cNvPr id="7" name="ledger-text"/>
          <p:cNvSpPr txBox="1"/>
          <p:nvPr/>
        </p:nvSpPr>
        <p:spPr>
          <a:xfrm>
            <a:off x="1078992" y="6327648"/>
            <a:ext cx="76078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2"/>
              </a:rPr>
              <a:t>cnbc.com</a:t>
            </a:r>
          </a:p>
        </p:txBody>
      </p:sp>
      <p:sp>
        <p:nvSpPr>
          <p:cNvPr id="8" name="ledger-text"/>
          <p:cNvSpPr txBox="1"/>
          <p:nvPr/>
        </p:nvSpPr>
        <p:spPr>
          <a:xfrm>
            <a:off x="11045952" y="6327648"/>
            <a:ext cx="50292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1539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Consolas"/>
                <a:ea typeface="Microsoft YaHei"/>
              </a:rPr>
              <a:t>29</a:t>
            </a:r>
          </a:p>
        </p:txBody>
      </p:sp>
      <p:sp>
        <p:nvSpPr>
          <p:cNvPr id="9" name="ledger-text"/>
          <p:cNvSpPr txBox="1"/>
          <p:nvPr/>
        </p:nvSpPr>
        <p:spPr>
          <a:xfrm>
            <a:off x="609904" y="2011680"/>
            <a:ext cx="21945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事件</a:t>
            </a:r>
          </a:p>
        </p:txBody>
      </p:sp>
      <p:sp>
        <p:nvSpPr>
          <p:cNvPr id="10" name="ledger-text"/>
          <p:cNvSpPr txBox="1"/>
          <p:nvPr/>
        </p:nvSpPr>
        <p:spPr>
          <a:xfrm>
            <a:off x="3035808" y="2011680"/>
            <a:ext cx="822960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比特币一度跌破6.1万美元，单周跌近30%，表现远逊黄金</a:t>
            </a:r>
          </a:p>
        </p:txBody>
      </p:sp>
      <p:cxnSp>
        <p:nvCxnSpPr>
          <p:cNvPr id="11" name="ledger-rule"/>
          <p:cNvCxnSpPr/>
          <p:nvPr/>
        </p:nvCxnSpPr>
        <p:spPr>
          <a:xfrm>
            <a:off x="609904" y="2624328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12" name="ledger-text"/>
          <p:cNvSpPr txBox="1"/>
          <p:nvPr/>
        </p:nvSpPr>
        <p:spPr>
          <a:xfrm>
            <a:off x="609904" y="2743200"/>
            <a:ext cx="21945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事件日期</a:t>
            </a:r>
          </a:p>
        </p:txBody>
      </p:sp>
      <p:sp>
        <p:nvSpPr>
          <p:cNvPr id="13" name="ledger-text"/>
          <p:cNvSpPr txBox="1"/>
          <p:nvPr/>
        </p:nvSpPr>
        <p:spPr>
          <a:xfrm>
            <a:off x="3035808" y="2743200"/>
            <a:ext cx="822960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2026-02-05</a:t>
            </a:r>
          </a:p>
        </p:txBody>
      </p:sp>
      <p:cxnSp>
        <p:nvCxnSpPr>
          <p:cNvPr id="14" name="ledger-rule"/>
          <p:cNvCxnSpPr/>
          <p:nvPr/>
        </p:nvCxnSpPr>
        <p:spPr>
          <a:xfrm>
            <a:off x="609904" y="3355848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15" name="ledger-text"/>
          <p:cNvSpPr txBox="1"/>
          <p:nvPr/>
        </p:nvSpPr>
        <p:spPr>
          <a:xfrm>
            <a:off x="609904" y="3474720"/>
            <a:ext cx="21945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事件事实</a:t>
            </a:r>
          </a:p>
        </p:txBody>
      </p:sp>
      <p:sp>
        <p:nvSpPr>
          <p:cNvPr id="16" name="ledger-text"/>
          <p:cNvSpPr txBox="1"/>
          <p:nvPr/>
        </p:nvSpPr>
        <p:spPr>
          <a:xfrm>
            <a:off x="3035808" y="3474720"/>
            <a:ext cx="8229600" cy="138988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2月5日比特币一度跌至60,062美元，跌破7万美元关键位，单周跌近30%</a:t>
            </a:r>
          </a:p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，较10月逾12.6万美元高点回落超50%。报道称其过去一年跌近40%，同</a:t>
            </a:r>
          </a:p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期黄金期货涨61%，避险与抗通胀属性未兑现，机构需求逆转、美国ETF年</a:t>
            </a:r>
          </a:p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内转为净卖出。</a:t>
            </a:r>
          </a:p>
        </p:txBody>
      </p:sp>
      <p:cxnSp>
        <p:nvCxnSpPr>
          <p:cNvPr id="17" name="ledger-rule"/>
          <p:cNvCxnSpPr/>
          <p:nvPr/>
        </p:nvCxnSpPr>
        <p:spPr>
          <a:xfrm>
            <a:off x="609904" y="4974336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18" name="ledger-text"/>
          <p:cNvSpPr txBox="1"/>
          <p:nvPr/>
        </p:nvSpPr>
        <p:spPr>
          <a:xfrm>
            <a:off x="609904" y="5093208"/>
            <a:ext cx="21945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GLD</a:t>
            </a:r>
          </a:p>
        </p:txBody>
      </p:sp>
      <p:sp>
        <p:nvSpPr>
          <p:cNvPr id="19" name="ledger-text"/>
          <p:cNvSpPr txBox="1"/>
          <p:nvPr/>
        </p:nvSpPr>
        <p:spPr>
          <a:xfrm>
            <a:off x="3035808" y="5093208"/>
            <a:ext cx="8229600" cy="74980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1 日相对收益 -1.4%；5 日相对收益 +2.2%；20 日相对收益 +3.4%</a:t>
            </a:r>
          </a:p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。反应评级：低。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edger-text"/>
          <p:cNvSpPr txBox="1"/>
          <p:nvPr/>
        </p:nvSpPr>
        <p:spPr>
          <a:xfrm>
            <a:off x="609904" y="457200"/>
            <a:ext cx="10972800" cy="61417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E293B"/>
                </a:solidFill>
                <a:latin typeface="Microsoft YaHei"/>
                <a:ea typeface="Microsoft YaHei"/>
              </a:rPr>
              <a:t>事件证据</a:t>
            </a:r>
          </a:p>
        </p:txBody>
      </p:sp>
      <p:sp>
        <p:nvSpPr>
          <p:cNvPr id="3" name="ledger-text"/>
          <p:cNvSpPr txBox="1"/>
          <p:nvPr/>
        </p:nvSpPr>
        <p:spPr>
          <a:xfrm>
            <a:off x="609904" y="1161288"/>
            <a:ext cx="10972800" cy="4572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959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</a:rPr>
              <a:t>日期级来源保留盘前/盘后不确定性；窗口收益不能独立证明因果。</a:t>
            </a:r>
          </a:p>
        </p:txBody>
      </p:sp>
      <p:cxnSp>
        <p:nvCxnSpPr>
          <p:cNvPr id="4" name="ledger-rule"/>
          <p:cNvCxnSpPr/>
          <p:nvPr/>
        </p:nvCxnSpPr>
        <p:spPr>
          <a:xfrm>
            <a:off x="609904" y="1737360"/>
            <a:ext cx="10972800" cy="0"/>
          </a:xfrm>
          <a:prstGeom prst="line">
            <a:avLst/>
          </a:prstGeom>
          <a:ln w="13970">
            <a:solidFill>
              <a:srgbClr val="1E293B"/>
            </a:solidFill>
          </a:ln>
          <a:effectLst/>
        </p:spPr>
      </p:cxnSp>
      <p:cxnSp>
        <p:nvCxnSpPr>
          <p:cNvPr id="5" name="ledger-rule"/>
          <p:cNvCxnSpPr/>
          <p:nvPr/>
        </p:nvCxnSpPr>
        <p:spPr>
          <a:xfrm>
            <a:off x="609904" y="6199632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6" name="ledger-text"/>
          <p:cNvSpPr txBox="1"/>
          <p:nvPr/>
        </p:nvSpPr>
        <p:spPr>
          <a:xfrm>
            <a:off x="609904" y="6345936"/>
            <a:ext cx="457200" cy="2052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Microsoft YaHei"/>
                <a:ea typeface="Microsoft YaHei"/>
              </a:rPr>
              <a:t>来源</a:t>
            </a:r>
          </a:p>
        </p:txBody>
      </p:sp>
      <p:sp>
        <p:nvSpPr>
          <p:cNvPr id="7" name="ledger-text"/>
          <p:cNvSpPr txBox="1"/>
          <p:nvPr/>
        </p:nvSpPr>
        <p:spPr>
          <a:xfrm>
            <a:off x="1078992" y="6327648"/>
            <a:ext cx="76078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2"/>
              </a:rPr>
              <a:t>cnbc.com</a:t>
            </a:r>
          </a:p>
        </p:txBody>
      </p:sp>
      <p:sp>
        <p:nvSpPr>
          <p:cNvPr id="8" name="ledger-text"/>
          <p:cNvSpPr txBox="1"/>
          <p:nvPr/>
        </p:nvSpPr>
        <p:spPr>
          <a:xfrm>
            <a:off x="11045952" y="6327648"/>
            <a:ext cx="50292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1539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Consolas"/>
                <a:ea typeface="Microsoft YaHei"/>
              </a:rPr>
              <a:t>30</a:t>
            </a:r>
          </a:p>
        </p:txBody>
      </p:sp>
      <p:sp>
        <p:nvSpPr>
          <p:cNvPr id="9" name="ledger-text"/>
          <p:cNvSpPr txBox="1"/>
          <p:nvPr/>
        </p:nvSpPr>
        <p:spPr>
          <a:xfrm>
            <a:off x="609904" y="2011680"/>
            <a:ext cx="21945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BTC-USD</a:t>
            </a:r>
          </a:p>
        </p:txBody>
      </p:sp>
      <p:sp>
        <p:nvSpPr>
          <p:cNvPr id="10" name="ledger-text"/>
          <p:cNvSpPr txBox="1"/>
          <p:nvPr/>
        </p:nvSpPr>
        <p:spPr>
          <a:xfrm>
            <a:off x="3035808" y="2011680"/>
            <a:ext cx="8229600" cy="74980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1 日相对收益 -12.9%；5 日相对收益 -5.1%；20 日相对收益 -</a:t>
            </a:r>
          </a:p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12.4%。反应评级：中。</a:t>
            </a:r>
          </a:p>
        </p:txBody>
      </p:sp>
      <p:cxnSp>
        <p:nvCxnSpPr>
          <p:cNvPr id="11" name="ledger-rule"/>
          <p:cNvCxnSpPr/>
          <p:nvPr/>
        </p:nvCxnSpPr>
        <p:spPr>
          <a:xfrm>
            <a:off x="609904" y="2871216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edger-text"/>
          <p:cNvSpPr txBox="1"/>
          <p:nvPr/>
        </p:nvSpPr>
        <p:spPr>
          <a:xfrm>
            <a:off x="609904" y="457200"/>
            <a:ext cx="10972800" cy="61417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E293B"/>
                </a:solidFill>
                <a:latin typeface="Microsoft YaHei"/>
                <a:ea typeface="Microsoft YaHei"/>
              </a:rPr>
              <a:t>事件证据</a:t>
            </a:r>
          </a:p>
        </p:txBody>
      </p:sp>
      <p:sp>
        <p:nvSpPr>
          <p:cNvPr id="3" name="ledger-text"/>
          <p:cNvSpPr txBox="1"/>
          <p:nvPr/>
        </p:nvSpPr>
        <p:spPr>
          <a:xfrm>
            <a:off x="609904" y="1161288"/>
            <a:ext cx="10972800" cy="4572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959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</a:rPr>
              <a:t>日期级来源保留盘前/盘后不确定性；窗口收益不能独立证明因果。</a:t>
            </a:r>
          </a:p>
        </p:txBody>
      </p:sp>
      <p:cxnSp>
        <p:nvCxnSpPr>
          <p:cNvPr id="4" name="ledger-rule"/>
          <p:cNvCxnSpPr/>
          <p:nvPr/>
        </p:nvCxnSpPr>
        <p:spPr>
          <a:xfrm>
            <a:off x="609904" y="1737360"/>
            <a:ext cx="10972800" cy="0"/>
          </a:xfrm>
          <a:prstGeom prst="line">
            <a:avLst/>
          </a:prstGeom>
          <a:ln w="13970">
            <a:solidFill>
              <a:srgbClr val="1E293B"/>
            </a:solidFill>
          </a:ln>
          <a:effectLst/>
        </p:spPr>
      </p:cxnSp>
      <p:cxnSp>
        <p:nvCxnSpPr>
          <p:cNvPr id="5" name="ledger-rule"/>
          <p:cNvCxnSpPr/>
          <p:nvPr/>
        </p:nvCxnSpPr>
        <p:spPr>
          <a:xfrm>
            <a:off x="609904" y="6199632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6" name="ledger-text"/>
          <p:cNvSpPr txBox="1"/>
          <p:nvPr/>
        </p:nvSpPr>
        <p:spPr>
          <a:xfrm>
            <a:off x="609904" y="6345936"/>
            <a:ext cx="457200" cy="2052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Microsoft YaHei"/>
                <a:ea typeface="Microsoft YaHei"/>
              </a:rPr>
              <a:t>来源</a:t>
            </a:r>
          </a:p>
        </p:txBody>
      </p:sp>
      <p:sp>
        <p:nvSpPr>
          <p:cNvPr id="7" name="ledger-text"/>
          <p:cNvSpPr txBox="1"/>
          <p:nvPr/>
        </p:nvSpPr>
        <p:spPr>
          <a:xfrm>
            <a:off x="1078992" y="6327648"/>
            <a:ext cx="76078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2"/>
              </a:rPr>
              <a:t>cnbc.com</a:t>
            </a:r>
          </a:p>
        </p:txBody>
      </p:sp>
      <p:sp>
        <p:nvSpPr>
          <p:cNvPr id="8" name="ledger-text"/>
          <p:cNvSpPr txBox="1"/>
          <p:nvPr/>
        </p:nvSpPr>
        <p:spPr>
          <a:xfrm>
            <a:off x="1995220" y="6327648"/>
            <a:ext cx="665683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3"/>
              </a:rPr>
              <a:t>npr.org</a:t>
            </a:r>
          </a:p>
        </p:txBody>
      </p:sp>
      <p:sp>
        <p:nvSpPr>
          <p:cNvPr id="9" name="ledger-text"/>
          <p:cNvSpPr txBox="1"/>
          <p:nvPr/>
        </p:nvSpPr>
        <p:spPr>
          <a:xfrm>
            <a:off x="11045952" y="6327648"/>
            <a:ext cx="50292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1539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Consolas"/>
                <a:ea typeface="Microsoft YaHei"/>
              </a:rPr>
              <a:t>31</a:t>
            </a:r>
          </a:p>
        </p:txBody>
      </p:sp>
      <p:sp>
        <p:nvSpPr>
          <p:cNvPr id="10" name="ledger-text"/>
          <p:cNvSpPr txBox="1"/>
          <p:nvPr/>
        </p:nvSpPr>
        <p:spPr>
          <a:xfrm>
            <a:off x="609904" y="2011680"/>
            <a:ext cx="21945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事件</a:t>
            </a:r>
          </a:p>
        </p:txBody>
      </p:sp>
      <p:sp>
        <p:nvSpPr>
          <p:cNvPr id="11" name="ledger-text"/>
          <p:cNvSpPr txBox="1"/>
          <p:nvPr/>
        </p:nvSpPr>
        <p:spPr>
          <a:xfrm>
            <a:off x="3035808" y="2011680"/>
            <a:ext cx="822960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特朗普宣布美国“战略加密储备”将纳入比特币等五种资产</a:t>
            </a:r>
          </a:p>
        </p:txBody>
      </p:sp>
      <p:cxnSp>
        <p:nvCxnSpPr>
          <p:cNvPr id="12" name="ledger-rule"/>
          <p:cNvCxnSpPr/>
          <p:nvPr/>
        </p:nvCxnSpPr>
        <p:spPr>
          <a:xfrm>
            <a:off x="609904" y="2624328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13" name="ledger-text"/>
          <p:cNvSpPr txBox="1"/>
          <p:nvPr/>
        </p:nvSpPr>
        <p:spPr>
          <a:xfrm>
            <a:off x="609904" y="2743200"/>
            <a:ext cx="21945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事件日期</a:t>
            </a:r>
          </a:p>
        </p:txBody>
      </p:sp>
      <p:sp>
        <p:nvSpPr>
          <p:cNvPr id="14" name="ledger-text"/>
          <p:cNvSpPr txBox="1"/>
          <p:nvPr/>
        </p:nvSpPr>
        <p:spPr>
          <a:xfrm>
            <a:off x="3035808" y="2743200"/>
            <a:ext cx="822960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2025-03-02</a:t>
            </a:r>
          </a:p>
        </p:txBody>
      </p:sp>
      <p:cxnSp>
        <p:nvCxnSpPr>
          <p:cNvPr id="15" name="ledger-rule"/>
          <p:cNvCxnSpPr/>
          <p:nvPr/>
        </p:nvCxnSpPr>
        <p:spPr>
          <a:xfrm>
            <a:off x="609904" y="3355848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16" name="ledger-text"/>
          <p:cNvSpPr txBox="1"/>
          <p:nvPr/>
        </p:nvSpPr>
        <p:spPr>
          <a:xfrm>
            <a:off x="609904" y="3474720"/>
            <a:ext cx="21945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事件事实</a:t>
            </a:r>
          </a:p>
        </p:txBody>
      </p:sp>
      <p:sp>
        <p:nvSpPr>
          <p:cNvPr id="17" name="ledger-text"/>
          <p:cNvSpPr txBox="1"/>
          <p:nvPr/>
        </p:nvSpPr>
        <p:spPr>
          <a:xfrm>
            <a:off x="3035808" y="3474720"/>
            <a:ext cx="8229600" cy="138988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3月2日特朗普在Truth Social宣布设立美国“战略加密储备”，将包含比</a:t>
            </a:r>
          </a:p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特币、以太坊、XRP、Solana的SOL与Cardano的ADA，为其首次明确支</a:t>
            </a:r>
          </a:p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持“储备”而非“库存”。消息后比特币涨10%至94,343.82美元，XRP涨</a:t>
            </a:r>
          </a:p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33%、SOL涨25%、ADA涨逾60%。</a:t>
            </a:r>
          </a:p>
        </p:txBody>
      </p:sp>
      <p:cxnSp>
        <p:nvCxnSpPr>
          <p:cNvPr id="18" name="ledger-rule"/>
          <p:cNvCxnSpPr/>
          <p:nvPr/>
        </p:nvCxnSpPr>
        <p:spPr>
          <a:xfrm>
            <a:off x="609904" y="4974336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19" name="ledger-text"/>
          <p:cNvSpPr txBox="1"/>
          <p:nvPr/>
        </p:nvSpPr>
        <p:spPr>
          <a:xfrm>
            <a:off x="609904" y="5093208"/>
            <a:ext cx="21945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BTC-USD</a:t>
            </a:r>
          </a:p>
        </p:txBody>
      </p:sp>
      <p:sp>
        <p:nvSpPr>
          <p:cNvPr id="20" name="ledger-text"/>
          <p:cNvSpPr txBox="1"/>
          <p:nvPr/>
        </p:nvSpPr>
        <p:spPr>
          <a:xfrm>
            <a:off x="3035808" y="5093208"/>
            <a:ext cx="8229600" cy="74980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1 日相对收益 +9.6%；5 日相对收益 +8.2%；20 日相对收益 +2.5%</a:t>
            </a:r>
          </a:p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。反应评级：中。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edger-text"/>
          <p:cNvSpPr txBox="1"/>
          <p:nvPr/>
        </p:nvSpPr>
        <p:spPr>
          <a:xfrm>
            <a:off x="609904" y="457200"/>
            <a:ext cx="10972800" cy="61417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E293B"/>
                </a:solidFill>
                <a:latin typeface="Microsoft YaHei"/>
                <a:ea typeface="Microsoft YaHei"/>
              </a:rPr>
              <a:t>产品定义与适用边界</a:t>
            </a:r>
          </a:p>
        </p:txBody>
      </p:sp>
      <p:sp>
        <p:nvSpPr>
          <p:cNvPr id="3" name="ledger-text"/>
          <p:cNvSpPr txBox="1"/>
          <p:nvPr/>
        </p:nvSpPr>
        <p:spPr>
          <a:xfrm>
            <a:off x="609904" y="1161288"/>
            <a:ext cx="10972800" cy="4572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959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</a:rPr>
              <a:t/>
            </a:r>
          </a:p>
        </p:txBody>
      </p:sp>
      <p:cxnSp>
        <p:nvCxnSpPr>
          <p:cNvPr id="4" name="ledger-rule"/>
          <p:cNvCxnSpPr/>
          <p:nvPr/>
        </p:nvCxnSpPr>
        <p:spPr>
          <a:xfrm>
            <a:off x="609904" y="1737360"/>
            <a:ext cx="10972800" cy="0"/>
          </a:xfrm>
          <a:prstGeom prst="line">
            <a:avLst/>
          </a:prstGeom>
          <a:ln w="13970">
            <a:solidFill>
              <a:srgbClr val="1E293B"/>
            </a:solidFill>
          </a:ln>
          <a:effectLst/>
        </p:spPr>
      </p:cxnSp>
      <p:cxnSp>
        <p:nvCxnSpPr>
          <p:cNvPr id="5" name="ledger-rule"/>
          <p:cNvCxnSpPr/>
          <p:nvPr/>
        </p:nvCxnSpPr>
        <p:spPr>
          <a:xfrm>
            <a:off x="609904" y="6199632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6" name="ledger-text"/>
          <p:cNvSpPr txBox="1"/>
          <p:nvPr/>
        </p:nvSpPr>
        <p:spPr>
          <a:xfrm>
            <a:off x="609904" y="6345936"/>
            <a:ext cx="457200" cy="2052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Microsoft YaHei"/>
                <a:ea typeface="Microsoft YaHei"/>
              </a:rPr>
              <a:t>来源</a:t>
            </a:r>
          </a:p>
        </p:txBody>
      </p:sp>
      <p:sp>
        <p:nvSpPr>
          <p:cNvPr id="7" name="ledger-text"/>
          <p:cNvSpPr txBox="1"/>
          <p:nvPr/>
        </p:nvSpPr>
        <p:spPr>
          <a:xfrm>
            <a:off x="1078992" y="6327648"/>
            <a:ext cx="877824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2"/>
              </a:rPr>
              <a:t>官方产品资料</a:t>
            </a:r>
          </a:p>
        </p:txBody>
      </p:sp>
      <p:sp>
        <p:nvSpPr>
          <p:cNvPr id="8" name="ledger-text"/>
          <p:cNvSpPr txBox="1"/>
          <p:nvPr/>
        </p:nvSpPr>
        <p:spPr>
          <a:xfrm>
            <a:off x="11045952" y="6327648"/>
            <a:ext cx="50292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1539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Consolas"/>
                <a:ea typeface="Microsoft YaHei"/>
              </a:rPr>
              <a:t>32</a:t>
            </a:r>
          </a:p>
        </p:txBody>
      </p:sp>
      <p:sp>
        <p:nvSpPr>
          <p:cNvPr id="9" name="ledger-text"/>
          <p:cNvSpPr txBox="1"/>
          <p:nvPr/>
        </p:nvSpPr>
        <p:spPr>
          <a:xfrm>
            <a:off x="609904" y="2011680"/>
            <a:ext cx="21945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产品定义</a:t>
            </a:r>
          </a:p>
        </p:txBody>
      </p:sp>
      <p:sp>
        <p:nvSpPr>
          <p:cNvPr id="10" name="ledger-text"/>
          <p:cNvSpPr txBox="1"/>
          <p:nvPr/>
        </p:nvSpPr>
        <p:spPr>
          <a:xfrm>
            <a:off x="3035808" y="2011680"/>
            <a:ext cx="8229600" cy="106984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GLD（SPDR Gold Shares）由实物黄金支持，目标是反映扣除信托费用</a:t>
            </a:r>
          </a:p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后的金价表现。它于 2004 年上市，在 NYSE Arca 以美元交易，参考</a:t>
            </a:r>
          </a:p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 LBMA Gold Price PM。</a:t>
            </a:r>
          </a:p>
        </p:txBody>
      </p:sp>
      <p:cxnSp>
        <p:nvCxnSpPr>
          <p:cNvPr id="11" name="ledger-rule"/>
          <p:cNvCxnSpPr/>
          <p:nvPr/>
        </p:nvCxnSpPr>
        <p:spPr>
          <a:xfrm>
            <a:off x="609904" y="3191256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12" name="ledger-text"/>
          <p:cNvSpPr txBox="1"/>
          <p:nvPr/>
        </p:nvSpPr>
        <p:spPr>
          <a:xfrm>
            <a:off x="609904" y="3310128"/>
            <a:ext cx="21945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采用原因</a:t>
            </a:r>
          </a:p>
        </p:txBody>
      </p:sp>
      <p:sp>
        <p:nvSpPr>
          <p:cNvPr id="13" name="ledger-text"/>
          <p:cNvSpPr txBox="1"/>
          <p:nvPr/>
        </p:nvSpPr>
        <p:spPr>
          <a:xfrm>
            <a:off x="3035808" y="3310128"/>
            <a:ext cx="8229600" cy="74980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采用 GLD 是因为其黄金敞口明确、交易历史较长，并具有可复核的美元行</a:t>
            </a:r>
          </a:p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情，适合构建可投资代理的比较与回测。</a:t>
            </a:r>
          </a:p>
        </p:txBody>
      </p:sp>
      <p:cxnSp>
        <p:nvCxnSpPr>
          <p:cNvPr id="14" name="ledger-rule"/>
          <p:cNvCxnSpPr/>
          <p:nvPr/>
        </p:nvCxnSpPr>
        <p:spPr>
          <a:xfrm>
            <a:off x="609904" y="4169663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15" name="ledger-text"/>
          <p:cNvSpPr txBox="1"/>
          <p:nvPr/>
        </p:nvSpPr>
        <p:spPr>
          <a:xfrm>
            <a:off x="609904" y="4288536"/>
            <a:ext cx="21945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适用边界</a:t>
            </a:r>
          </a:p>
        </p:txBody>
      </p:sp>
      <p:sp>
        <p:nvSpPr>
          <p:cNvPr id="16" name="ledger-text"/>
          <p:cNvSpPr txBox="1"/>
          <p:nvPr/>
        </p:nvSpPr>
        <p:spPr>
          <a:xfrm>
            <a:off x="3035808" y="4288536"/>
            <a:ext cx="8229600" cy="106984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ETF 价格与现货金价存在费用、跟踪及交易时段差异。官方披露费用率为 </a:t>
            </a:r>
          </a:p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0.40%（2026-09-28 核验）；历史价格已体现基金费用，回测只另计指</a:t>
            </a:r>
          </a:p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定交易成本，避免重复扣费。</a:t>
            </a:r>
          </a:p>
        </p:txBody>
      </p:sp>
      <p:cxnSp>
        <p:nvCxnSpPr>
          <p:cNvPr id="17" name="ledger-rule"/>
          <p:cNvCxnSpPr/>
          <p:nvPr/>
        </p:nvCxnSpPr>
        <p:spPr>
          <a:xfrm>
            <a:off x="609904" y="5468112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edger-text"/>
          <p:cNvSpPr txBox="1"/>
          <p:nvPr/>
        </p:nvSpPr>
        <p:spPr>
          <a:xfrm>
            <a:off x="609904" y="457200"/>
            <a:ext cx="10972800" cy="61417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E293B"/>
                </a:solidFill>
                <a:latin typeface="Microsoft YaHei"/>
                <a:ea typeface="Microsoft YaHei"/>
              </a:rPr>
              <a:t>方法与解释边界</a:t>
            </a:r>
          </a:p>
        </p:txBody>
      </p:sp>
      <p:sp>
        <p:nvSpPr>
          <p:cNvPr id="3" name="ledger-text"/>
          <p:cNvSpPr txBox="1"/>
          <p:nvPr/>
        </p:nvSpPr>
        <p:spPr>
          <a:xfrm>
            <a:off x="609904" y="1161288"/>
            <a:ext cx="10972800" cy="4572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959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</a:rPr>
              <a:t/>
            </a:r>
          </a:p>
        </p:txBody>
      </p:sp>
      <p:cxnSp>
        <p:nvCxnSpPr>
          <p:cNvPr id="4" name="ledger-rule"/>
          <p:cNvCxnSpPr/>
          <p:nvPr/>
        </p:nvCxnSpPr>
        <p:spPr>
          <a:xfrm>
            <a:off x="609904" y="1737360"/>
            <a:ext cx="10972800" cy="0"/>
          </a:xfrm>
          <a:prstGeom prst="line">
            <a:avLst/>
          </a:prstGeom>
          <a:ln w="13970">
            <a:solidFill>
              <a:srgbClr val="1E293B"/>
            </a:solidFill>
          </a:ln>
          <a:effectLst/>
        </p:spPr>
      </p:cxnSp>
      <p:cxnSp>
        <p:nvCxnSpPr>
          <p:cNvPr id="5" name="ledger-rule"/>
          <p:cNvCxnSpPr/>
          <p:nvPr/>
        </p:nvCxnSpPr>
        <p:spPr>
          <a:xfrm>
            <a:off x="609904" y="6199632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6" name="ledger-text"/>
          <p:cNvSpPr txBox="1"/>
          <p:nvPr/>
        </p:nvSpPr>
        <p:spPr>
          <a:xfrm>
            <a:off x="609904" y="6345936"/>
            <a:ext cx="457200" cy="2052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Microsoft YaHei"/>
                <a:ea typeface="Microsoft YaHei"/>
              </a:rPr>
              <a:t>来源</a:t>
            </a:r>
          </a:p>
        </p:txBody>
      </p:sp>
      <p:sp>
        <p:nvSpPr>
          <p:cNvPr id="7" name="ledger-text"/>
          <p:cNvSpPr txBox="1"/>
          <p:nvPr/>
        </p:nvSpPr>
        <p:spPr>
          <a:xfrm>
            <a:off x="1078992" y="6327648"/>
            <a:ext cx="64008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2"/>
              </a:rPr>
              <a:t>GLD</a:t>
            </a:r>
          </a:p>
        </p:txBody>
      </p:sp>
      <p:sp>
        <p:nvSpPr>
          <p:cNvPr id="8" name="ledger-text"/>
          <p:cNvSpPr txBox="1"/>
          <p:nvPr/>
        </p:nvSpPr>
        <p:spPr>
          <a:xfrm>
            <a:off x="1874519" y="6327648"/>
            <a:ext cx="665683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3"/>
              </a:rPr>
              <a:t>BTC-USD</a:t>
            </a:r>
          </a:p>
        </p:txBody>
      </p:sp>
      <p:sp>
        <p:nvSpPr>
          <p:cNvPr id="9" name="ledger-text"/>
          <p:cNvSpPr txBox="1"/>
          <p:nvPr/>
        </p:nvSpPr>
        <p:spPr>
          <a:xfrm>
            <a:off x="2695651" y="6327648"/>
            <a:ext cx="64008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4"/>
              </a:rPr>
              <a:t>SPY</a:t>
            </a:r>
          </a:p>
        </p:txBody>
      </p:sp>
      <p:sp>
        <p:nvSpPr>
          <p:cNvPr id="10" name="ledger-text"/>
          <p:cNvSpPr txBox="1"/>
          <p:nvPr/>
        </p:nvSpPr>
        <p:spPr>
          <a:xfrm>
            <a:off x="11045952" y="6327648"/>
            <a:ext cx="50292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1539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Consolas"/>
                <a:ea typeface="Microsoft YaHei"/>
              </a:rPr>
              <a:t>33</a:t>
            </a:r>
          </a:p>
        </p:txBody>
      </p:sp>
      <p:sp>
        <p:nvSpPr>
          <p:cNvPr id="11" name="ledger-text"/>
          <p:cNvSpPr txBox="1"/>
          <p:nvPr/>
        </p:nvSpPr>
        <p:spPr>
          <a:xfrm>
            <a:off x="609904" y="2011680"/>
            <a:ext cx="21945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行情与事件</a:t>
            </a:r>
          </a:p>
        </p:txBody>
      </p:sp>
      <p:sp>
        <p:nvSpPr>
          <p:cNvPr id="12" name="ledger-text"/>
          <p:cNvSpPr txBox="1"/>
          <p:nvPr/>
        </p:nvSpPr>
        <p:spPr>
          <a:xfrm>
            <a:off x="3035808" y="2011680"/>
            <a:ext cx="8229600" cy="74980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复权日线、公司行动、来源日期与数据快照固定本次复核范围。日线无法分</a:t>
            </a:r>
          </a:p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离盘中反应。</a:t>
            </a:r>
          </a:p>
        </p:txBody>
      </p:sp>
      <p:cxnSp>
        <p:nvCxnSpPr>
          <p:cNvPr id="13" name="ledger-rule"/>
          <p:cNvCxnSpPr/>
          <p:nvPr/>
        </p:nvCxnSpPr>
        <p:spPr>
          <a:xfrm>
            <a:off x="609904" y="2871216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14" name="ledger-text"/>
          <p:cNvSpPr txBox="1"/>
          <p:nvPr/>
        </p:nvSpPr>
        <p:spPr>
          <a:xfrm>
            <a:off x="609904" y="2990088"/>
            <a:ext cx="21945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关联评级</a:t>
            </a:r>
          </a:p>
        </p:txBody>
      </p:sp>
      <p:sp>
        <p:nvSpPr>
          <p:cNvPr id="15" name="ledger-text"/>
          <p:cNvSpPr txBox="1"/>
          <p:nvPr/>
        </p:nvSpPr>
        <p:spPr>
          <a:xfrm>
            <a:off x="3035808" y="2990088"/>
            <a:ext cx="8229600" cy="74980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相对基准反应按事前波动标准化。高反应与高证据可信度不同，均不能证明</a:t>
            </a:r>
          </a:p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因果。</a:t>
            </a:r>
          </a:p>
        </p:txBody>
      </p:sp>
      <p:cxnSp>
        <p:nvCxnSpPr>
          <p:cNvPr id="16" name="ledger-rule"/>
          <p:cNvCxnSpPr/>
          <p:nvPr/>
        </p:nvCxnSpPr>
        <p:spPr>
          <a:xfrm>
            <a:off x="609904" y="3849624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17" name="ledger-text"/>
          <p:cNvSpPr txBox="1"/>
          <p:nvPr/>
        </p:nvSpPr>
        <p:spPr>
          <a:xfrm>
            <a:off x="609904" y="3968496"/>
            <a:ext cx="21945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回测与宏观</a:t>
            </a:r>
          </a:p>
        </p:txBody>
      </p:sp>
      <p:sp>
        <p:nvSpPr>
          <p:cNvPr id="18" name="ledger-text"/>
          <p:cNvSpPr txBox="1"/>
          <p:nvPr/>
        </p:nvSpPr>
        <p:spPr>
          <a:xfrm>
            <a:off x="3035808" y="3968496"/>
            <a:ext cx="8229600" cy="74980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压力月份为全样本事后选择，宏观采用当前历史版本。二者仅用于解释，不</a:t>
            </a:r>
          </a:p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进入交易信号。</a:t>
            </a:r>
          </a:p>
        </p:txBody>
      </p:sp>
      <p:cxnSp>
        <p:nvCxnSpPr>
          <p:cNvPr id="19" name="ledger-rule"/>
          <p:cNvCxnSpPr/>
          <p:nvPr/>
        </p:nvCxnSpPr>
        <p:spPr>
          <a:xfrm>
            <a:off x="609904" y="4828032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20" name="ledger-text"/>
          <p:cNvSpPr txBox="1"/>
          <p:nvPr/>
        </p:nvSpPr>
        <p:spPr>
          <a:xfrm>
            <a:off x="609904" y="4946904"/>
            <a:ext cx="21945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数据限制</a:t>
            </a:r>
          </a:p>
        </p:txBody>
      </p:sp>
      <p:sp>
        <p:nvSpPr>
          <p:cNvPr id="21" name="ledger-text"/>
          <p:cNvSpPr txBox="1"/>
          <p:nvPr/>
        </p:nvSpPr>
        <p:spPr>
          <a:xfrm>
            <a:off x="3035808" y="4946904"/>
            <a:ext cx="822960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使用六小时内行情缓存；采集时间保留为原始时间</a:t>
            </a:r>
          </a:p>
        </p:txBody>
      </p:sp>
      <p:cxnSp>
        <p:nvCxnSpPr>
          <p:cNvPr id="22" name="ledger-rule"/>
          <p:cNvCxnSpPr/>
          <p:nvPr/>
        </p:nvCxnSpPr>
        <p:spPr>
          <a:xfrm>
            <a:off x="609904" y="5559552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edger-text"/>
          <p:cNvSpPr txBox="1"/>
          <p:nvPr/>
        </p:nvSpPr>
        <p:spPr>
          <a:xfrm>
            <a:off x="609904" y="457200"/>
            <a:ext cx="10972800" cy="61417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E293B"/>
                </a:solidFill>
                <a:latin typeface="Microsoft YaHei"/>
                <a:ea typeface="Microsoft YaHei"/>
              </a:rPr>
              <a:t>方法与解释边界</a:t>
            </a:r>
          </a:p>
        </p:txBody>
      </p:sp>
      <p:sp>
        <p:nvSpPr>
          <p:cNvPr id="3" name="ledger-text"/>
          <p:cNvSpPr txBox="1"/>
          <p:nvPr/>
        </p:nvSpPr>
        <p:spPr>
          <a:xfrm>
            <a:off x="609904" y="1161288"/>
            <a:ext cx="10972800" cy="4572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959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</a:rPr>
              <a:t/>
            </a:r>
          </a:p>
        </p:txBody>
      </p:sp>
      <p:cxnSp>
        <p:nvCxnSpPr>
          <p:cNvPr id="4" name="ledger-rule"/>
          <p:cNvCxnSpPr/>
          <p:nvPr/>
        </p:nvCxnSpPr>
        <p:spPr>
          <a:xfrm>
            <a:off x="609904" y="1737360"/>
            <a:ext cx="10972800" cy="0"/>
          </a:xfrm>
          <a:prstGeom prst="line">
            <a:avLst/>
          </a:prstGeom>
          <a:ln w="13970">
            <a:solidFill>
              <a:srgbClr val="1E293B"/>
            </a:solidFill>
          </a:ln>
          <a:effectLst/>
        </p:spPr>
      </p:cxnSp>
      <p:cxnSp>
        <p:nvCxnSpPr>
          <p:cNvPr id="5" name="ledger-rule"/>
          <p:cNvCxnSpPr/>
          <p:nvPr/>
        </p:nvCxnSpPr>
        <p:spPr>
          <a:xfrm>
            <a:off x="609904" y="6199632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6" name="ledger-text"/>
          <p:cNvSpPr txBox="1"/>
          <p:nvPr/>
        </p:nvSpPr>
        <p:spPr>
          <a:xfrm>
            <a:off x="609904" y="6345936"/>
            <a:ext cx="457200" cy="2052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Microsoft YaHei"/>
                <a:ea typeface="Microsoft YaHei"/>
              </a:rPr>
              <a:t>来源</a:t>
            </a:r>
          </a:p>
        </p:txBody>
      </p:sp>
      <p:sp>
        <p:nvSpPr>
          <p:cNvPr id="7" name="ledger-text"/>
          <p:cNvSpPr txBox="1"/>
          <p:nvPr/>
        </p:nvSpPr>
        <p:spPr>
          <a:xfrm>
            <a:off x="1078992" y="6327648"/>
            <a:ext cx="64008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2"/>
              </a:rPr>
              <a:t>GLD</a:t>
            </a:r>
          </a:p>
        </p:txBody>
      </p:sp>
      <p:sp>
        <p:nvSpPr>
          <p:cNvPr id="8" name="ledger-text"/>
          <p:cNvSpPr txBox="1"/>
          <p:nvPr/>
        </p:nvSpPr>
        <p:spPr>
          <a:xfrm>
            <a:off x="1874519" y="6327648"/>
            <a:ext cx="665683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3"/>
              </a:rPr>
              <a:t>BTC-USD</a:t>
            </a:r>
          </a:p>
        </p:txBody>
      </p:sp>
      <p:sp>
        <p:nvSpPr>
          <p:cNvPr id="9" name="ledger-text"/>
          <p:cNvSpPr txBox="1"/>
          <p:nvPr/>
        </p:nvSpPr>
        <p:spPr>
          <a:xfrm>
            <a:off x="2695651" y="6327648"/>
            <a:ext cx="64008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4"/>
              </a:rPr>
              <a:t>SPY</a:t>
            </a:r>
          </a:p>
        </p:txBody>
      </p:sp>
      <p:sp>
        <p:nvSpPr>
          <p:cNvPr id="10" name="ledger-text"/>
          <p:cNvSpPr txBox="1"/>
          <p:nvPr/>
        </p:nvSpPr>
        <p:spPr>
          <a:xfrm>
            <a:off x="11045952" y="6327648"/>
            <a:ext cx="50292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1539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Consolas"/>
                <a:ea typeface="Microsoft YaHei"/>
              </a:rPr>
              <a:t>34</a:t>
            </a:r>
          </a:p>
        </p:txBody>
      </p:sp>
      <p:sp>
        <p:nvSpPr>
          <p:cNvPr id="11" name="ledger-text"/>
          <p:cNvSpPr txBox="1"/>
          <p:nvPr/>
        </p:nvSpPr>
        <p:spPr>
          <a:xfrm>
            <a:off x="609904" y="2011680"/>
            <a:ext cx="21945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数据限制</a:t>
            </a:r>
          </a:p>
        </p:txBody>
      </p:sp>
      <p:sp>
        <p:nvSpPr>
          <p:cNvPr id="12" name="ledger-text"/>
          <p:cNvSpPr txBox="1"/>
          <p:nvPr/>
        </p:nvSpPr>
        <p:spPr>
          <a:xfrm>
            <a:off x="3035808" y="2011680"/>
            <a:ext cx="822960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BTC-USD 排除 1 条缺失或无效 OHLCV，未插值补造价格</a:t>
            </a:r>
          </a:p>
        </p:txBody>
      </p:sp>
      <p:cxnSp>
        <p:nvCxnSpPr>
          <p:cNvPr id="13" name="ledger-rule"/>
          <p:cNvCxnSpPr/>
          <p:nvPr/>
        </p:nvCxnSpPr>
        <p:spPr>
          <a:xfrm>
            <a:off x="609904" y="2624328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14" name="ledger-text"/>
          <p:cNvSpPr txBox="1"/>
          <p:nvPr/>
        </p:nvSpPr>
        <p:spPr>
          <a:xfrm>
            <a:off x="609904" y="2743200"/>
            <a:ext cx="21945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数据限制</a:t>
            </a:r>
          </a:p>
        </p:txBody>
      </p:sp>
      <p:sp>
        <p:nvSpPr>
          <p:cNvPr id="15" name="ledger-text"/>
          <p:cNvSpPr txBox="1"/>
          <p:nvPr/>
        </p:nvSpPr>
        <p:spPr>
          <a:xfrm>
            <a:off x="3035808" y="2743200"/>
            <a:ext cx="822960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BTC-USD 排除 1 条未完成日线</a:t>
            </a:r>
          </a:p>
        </p:txBody>
      </p:sp>
      <p:cxnSp>
        <p:nvCxnSpPr>
          <p:cNvPr id="16" name="ledger-rule"/>
          <p:cNvCxnSpPr/>
          <p:nvPr/>
        </p:nvCxnSpPr>
        <p:spPr>
          <a:xfrm>
            <a:off x="609904" y="3355848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17" name="ledger-text"/>
          <p:cNvSpPr txBox="1"/>
          <p:nvPr/>
        </p:nvSpPr>
        <p:spPr>
          <a:xfrm>
            <a:off x="609904" y="3474720"/>
            <a:ext cx="21945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数据限制</a:t>
            </a:r>
          </a:p>
        </p:txBody>
      </p:sp>
      <p:sp>
        <p:nvSpPr>
          <p:cNvPr id="18" name="ledger-text"/>
          <p:cNvSpPr txBox="1"/>
          <p:nvPr/>
        </p:nvSpPr>
        <p:spPr>
          <a:xfrm>
            <a:off x="3035808" y="3474720"/>
            <a:ext cx="8229600" cy="74980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共同月度估值采用不晚于锚点的完整日线；各资产实际价格时间在底稿中保</a:t>
            </a:r>
          </a:p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留。</a:t>
            </a:r>
          </a:p>
        </p:txBody>
      </p:sp>
      <p:cxnSp>
        <p:nvCxnSpPr>
          <p:cNvPr id="19" name="ledger-rule"/>
          <p:cNvCxnSpPr/>
          <p:nvPr/>
        </p:nvCxnSpPr>
        <p:spPr>
          <a:xfrm>
            <a:off x="609904" y="4334255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20" name="ledger-text"/>
          <p:cNvSpPr txBox="1"/>
          <p:nvPr/>
        </p:nvSpPr>
        <p:spPr>
          <a:xfrm>
            <a:off x="609904" y="4453127"/>
            <a:ext cx="21945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数据限制</a:t>
            </a:r>
          </a:p>
        </p:txBody>
      </p:sp>
      <p:sp>
        <p:nvSpPr>
          <p:cNvPr id="21" name="ledger-text"/>
          <p:cNvSpPr txBox="1"/>
          <p:nvPr/>
        </p:nvSpPr>
        <p:spPr>
          <a:xfrm>
            <a:off x="3035808" y="4453127"/>
            <a:ext cx="822960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宏观序列采用当前历史版本，只用于事后解释；未用于交易信号。</a:t>
            </a:r>
          </a:p>
        </p:txBody>
      </p:sp>
      <p:cxnSp>
        <p:nvCxnSpPr>
          <p:cNvPr id="22" name="ledger-rule"/>
          <p:cNvCxnSpPr/>
          <p:nvPr/>
        </p:nvCxnSpPr>
        <p:spPr>
          <a:xfrm>
            <a:off x="609904" y="5065775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23" name="ledger-text"/>
          <p:cNvSpPr txBox="1"/>
          <p:nvPr/>
        </p:nvSpPr>
        <p:spPr>
          <a:xfrm>
            <a:off x="609904" y="5184647"/>
            <a:ext cx="21945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数据限制</a:t>
            </a:r>
          </a:p>
        </p:txBody>
      </p:sp>
      <p:sp>
        <p:nvSpPr>
          <p:cNvPr id="24" name="ledger-text"/>
          <p:cNvSpPr txBox="1"/>
          <p:nvPr/>
        </p:nvSpPr>
        <p:spPr>
          <a:xfrm>
            <a:off x="3035808" y="5184647"/>
            <a:ext cx="822960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spec.required_events 为空，无强制事件项可对齐；上述事件仅覆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edger-text"/>
          <p:cNvSpPr txBox="1"/>
          <p:nvPr/>
        </p:nvSpPr>
        <p:spPr>
          <a:xfrm>
            <a:off x="609904" y="457200"/>
            <a:ext cx="10972800" cy="61417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E293B"/>
                </a:solidFill>
                <a:latin typeface="Microsoft YaHei"/>
                <a:ea typeface="Microsoft YaHei"/>
              </a:rPr>
              <a:t>方法与解释边界</a:t>
            </a:r>
          </a:p>
        </p:txBody>
      </p:sp>
      <p:sp>
        <p:nvSpPr>
          <p:cNvPr id="3" name="ledger-text"/>
          <p:cNvSpPr txBox="1"/>
          <p:nvPr/>
        </p:nvSpPr>
        <p:spPr>
          <a:xfrm>
            <a:off x="609904" y="1161288"/>
            <a:ext cx="10972800" cy="4572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959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</a:rPr>
              <a:t/>
            </a:r>
          </a:p>
        </p:txBody>
      </p:sp>
      <p:cxnSp>
        <p:nvCxnSpPr>
          <p:cNvPr id="4" name="ledger-rule"/>
          <p:cNvCxnSpPr/>
          <p:nvPr/>
        </p:nvCxnSpPr>
        <p:spPr>
          <a:xfrm>
            <a:off x="609904" y="1737360"/>
            <a:ext cx="10972800" cy="0"/>
          </a:xfrm>
          <a:prstGeom prst="line">
            <a:avLst/>
          </a:prstGeom>
          <a:ln w="13970">
            <a:solidFill>
              <a:srgbClr val="1E293B"/>
            </a:solidFill>
          </a:ln>
          <a:effectLst/>
        </p:spPr>
      </p:cxnSp>
      <p:cxnSp>
        <p:nvCxnSpPr>
          <p:cNvPr id="5" name="ledger-rule"/>
          <p:cNvCxnSpPr/>
          <p:nvPr/>
        </p:nvCxnSpPr>
        <p:spPr>
          <a:xfrm>
            <a:off x="609904" y="6199632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6" name="ledger-text"/>
          <p:cNvSpPr txBox="1"/>
          <p:nvPr/>
        </p:nvSpPr>
        <p:spPr>
          <a:xfrm>
            <a:off x="609904" y="6345936"/>
            <a:ext cx="457200" cy="2052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Microsoft YaHei"/>
                <a:ea typeface="Microsoft YaHei"/>
              </a:rPr>
              <a:t>来源</a:t>
            </a:r>
          </a:p>
        </p:txBody>
      </p:sp>
      <p:sp>
        <p:nvSpPr>
          <p:cNvPr id="7" name="ledger-text"/>
          <p:cNvSpPr txBox="1"/>
          <p:nvPr/>
        </p:nvSpPr>
        <p:spPr>
          <a:xfrm>
            <a:off x="1078992" y="6327648"/>
            <a:ext cx="64008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2"/>
              </a:rPr>
              <a:t>GLD</a:t>
            </a:r>
          </a:p>
        </p:txBody>
      </p:sp>
      <p:sp>
        <p:nvSpPr>
          <p:cNvPr id="8" name="ledger-text"/>
          <p:cNvSpPr txBox="1"/>
          <p:nvPr/>
        </p:nvSpPr>
        <p:spPr>
          <a:xfrm>
            <a:off x="1874519" y="6327648"/>
            <a:ext cx="665683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3"/>
              </a:rPr>
              <a:t>BTC-USD</a:t>
            </a:r>
          </a:p>
        </p:txBody>
      </p:sp>
      <p:sp>
        <p:nvSpPr>
          <p:cNvPr id="9" name="ledger-text"/>
          <p:cNvSpPr txBox="1"/>
          <p:nvPr/>
        </p:nvSpPr>
        <p:spPr>
          <a:xfrm>
            <a:off x="2695651" y="6327648"/>
            <a:ext cx="64008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4"/>
              </a:rPr>
              <a:t>SPY</a:t>
            </a:r>
          </a:p>
        </p:txBody>
      </p:sp>
      <p:sp>
        <p:nvSpPr>
          <p:cNvPr id="10" name="ledger-text"/>
          <p:cNvSpPr txBox="1"/>
          <p:nvPr/>
        </p:nvSpPr>
        <p:spPr>
          <a:xfrm>
            <a:off x="11045952" y="6327648"/>
            <a:ext cx="50292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1539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Consolas"/>
                <a:ea typeface="Microsoft YaHei"/>
              </a:rPr>
              <a:t>35</a:t>
            </a:r>
          </a:p>
        </p:txBody>
      </p:sp>
      <p:sp>
        <p:nvSpPr>
          <p:cNvPr id="11" name="ledger-text"/>
          <p:cNvSpPr txBox="1"/>
          <p:nvPr/>
        </p:nvSpPr>
        <p:spPr>
          <a:xfrm>
            <a:off x="609904" y="2011680"/>
            <a:ext cx="21945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数据限制</a:t>
            </a:r>
          </a:p>
        </p:txBody>
      </p:sp>
      <p:sp>
        <p:nvSpPr>
          <p:cNvPr id="12" name="ledger-text"/>
          <p:cNvSpPr txBox="1"/>
          <p:nvPr/>
        </p:nvSpPr>
        <p:spPr>
          <a:xfrm>
            <a:off x="3035808" y="2011680"/>
            <a:ext cx="8229600" cy="74980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盖宏观利率、加密市场与贵金属价格节点，未直接量化 GLD 与 BTC-USD</a:t>
            </a:r>
          </a:p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 的避险/抗通胀相关性。</a:t>
            </a:r>
          </a:p>
        </p:txBody>
      </p:sp>
      <p:cxnSp>
        <p:nvCxnSpPr>
          <p:cNvPr id="13" name="ledger-rule"/>
          <p:cNvCxnSpPr/>
          <p:nvPr/>
        </p:nvCxnSpPr>
        <p:spPr>
          <a:xfrm>
            <a:off x="609904" y="2871216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14" name="ledger-text"/>
          <p:cNvSpPr txBox="1"/>
          <p:nvPr/>
        </p:nvSpPr>
        <p:spPr>
          <a:xfrm>
            <a:off x="609904" y="2990088"/>
            <a:ext cx="21945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数据限制</a:t>
            </a:r>
          </a:p>
        </p:txBody>
      </p:sp>
      <p:sp>
        <p:nvSpPr>
          <p:cNvPr id="15" name="ledger-text"/>
          <p:cNvSpPr txBox="1"/>
          <p:nvPr/>
        </p:nvSpPr>
        <p:spPr>
          <a:xfrm>
            <a:off x="3035808" y="2990088"/>
            <a:ext cx="8229600" cy="74980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FTX 崩盘（2022年11月）虽有检索命中，但本次已读来源中无对应原文</a:t>
            </a:r>
          </a:p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，无法核实具体日期与事实，故未列为事件。</a:t>
            </a:r>
          </a:p>
        </p:txBody>
      </p:sp>
      <p:cxnSp>
        <p:nvCxnSpPr>
          <p:cNvPr id="16" name="ledger-rule"/>
          <p:cNvCxnSpPr/>
          <p:nvPr/>
        </p:nvCxnSpPr>
        <p:spPr>
          <a:xfrm>
            <a:off x="609904" y="3849624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17" name="ledger-text"/>
          <p:cNvSpPr txBox="1"/>
          <p:nvPr/>
        </p:nvSpPr>
        <p:spPr>
          <a:xfrm>
            <a:off x="609904" y="3968496"/>
            <a:ext cx="21945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数据限制</a:t>
            </a:r>
          </a:p>
        </p:txBody>
      </p:sp>
      <p:sp>
        <p:nvSpPr>
          <p:cNvPr id="18" name="ledger-text"/>
          <p:cNvSpPr txBox="1"/>
          <p:nvPr/>
        </p:nvSpPr>
        <p:spPr>
          <a:xfrm>
            <a:off x="3035808" y="3968496"/>
            <a:ext cx="8229600" cy="74980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2023-10-13 GLD 异动（coverage_actions 指出的未检索窄时间</a:t>
            </a:r>
          </a:p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窗）在已读来源中无任何报道，无法确认事件与日期。</a:t>
            </a:r>
          </a:p>
        </p:txBody>
      </p:sp>
      <p:cxnSp>
        <p:nvCxnSpPr>
          <p:cNvPr id="19" name="ledger-rule"/>
          <p:cNvCxnSpPr/>
          <p:nvPr/>
        </p:nvCxnSpPr>
        <p:spPr>
          <a:xfrm>
            <a:off x="609904" y="4828032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20" name="ledger-text"/>
          <p:cNvSpPr txBox="1"/>
          <p:nvPr/>
        </p:nvSpPr>
        <p:spPr>
          <a:xfrm>
            <a:off x="609904" y="4946904"/>
            <a:ext cx="21945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数据限制</a:t>
            </a:r>
          </a:p>
        </p:txBody>
      </p:sp>
      <p:sp>
        <p:nvSpPr>
          <p:cNvPr id="21" name="ledger-text"/>
          <p:cNvSpPr txBox="1"/>
          <p:nvPr/>
        </p:nvSpPr>
        <p:spPr>
          <a:xfrm>
            <a:off x="3035808" y="4946904"/>
            <a:ext cx="8229600" cy="74980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2025年10月黄金创纪录高位与央行购金主题的检索失败（</a:t>
            </a:r>
          </a:p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ProviderError），已读来源中无该时段黄金事件证据。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edger-text"/>
          <p:cNvSpPr txBox="1"/>
          <p:nvPr/>
        </p:nvSpPr>
        <p:spPr>
          <a:xfrm>
            <a:off x="609904" y="457200"/>
            <a:ext cx="10972800" cy="61417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E293B"/>
                </a:solidFill>
                <a:latin typeface="Microsoft YaHei"/>
                <a:ea typeface="Microsoft YaHei"/>
              </a:rPr>
              <a:t>方法与解释边界</a:t>
            </a:r>
          </a:p>
        </p:txBody>
      </p:sp>
      <p:sp>
        <p:nvSpPr>
          <p:cNvPr id="3" name="ledger-text"/>
          <p:cNvSpPr txBox="1"/>
          <p:nvPr/>
        </p:nvSpPr>
        <p:spPr>
          <a:xfrm>
            <a:off x="609904" y="1161288"/>
            <a:ext cx="10972800" cy="4572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959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</a:rPr>
              <a:t/>
            </a:r>
          </a:p>
        </p:txBody>
      </p:sp>
      <p:cxnSp>
        <p:nvCxnSpPr>
          <p:cNvPr id="4" name="ledger-rule"/>
          <p:cNvCxnSpPr/>
          <p:nvPr/>
        </p:nvCxnSpPr>
        <p:spPr>
          <a:xfrm>
            <a:off x="609904" y="1737360"/>
            <a:ext cx="10972800" cy="0"/>
          </a:xfrm>
          <a:prstGeom prst="line">
            <a:avLst/>
          </a:prstGeom>
          <a:ln w="13970">
            <a:solidFill>
              <a:srgbClr val="1E293B"/>
            </a:solidFill>
          </a:ln>
          <a:effectLst/>
        </p:spPr>
      </p:cxnSp>
      <p:cxnSp>
        <p:nvCxnSpPr>
          <p:cNvPr id="5" name="ledger-rule"/>
          <p:cNvCxnSpPr/>
          <p:nvPr/>
        </p:nvCxnSpPr>
        <p:spPr>
          <a:xfrm>
            <a:off x="609904" y="6199632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6" name="ledger-text"/>
          <p:cNvSpPr txBox="1"/>
          <p:nvPr/>
        </p:nvSpPr>
        <p:spPr>
          <a:xfrm>
            <a:off x="609904" y="6345936"/>
            <a:ext cx="457200" cy="2052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Microsoft YaHei"/>
                <a:ea typeface="Microsoft YaHei"/>
              </a:rPr>
              <a:t>来源</a:t>
            </a:r>
          </a:p>
        </p:txBody>
      </p:sp>
      <p:sp>
        <p:nvSpPr>
          <p:cNvPr id="7" name="ledger-text"/>
          <p:cNvSpPr txBox="1"/>
          <p:nvPr/>
        </p:nvSpPr>
        <p:spPr>
          <a:xfrm>
            <a:off x="1078992" y="6327648"/>
            <a:ext cx="64008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2"/>
              </a:rPr>
              <a:t>GLD</a:t>
            </a:r>
          </a:p>
        </p:txBody>
      </p:sp>
      <p:sp>
        <p:nvSpPr>
          <p:cNvPr id="8" name="ledger-text"/>
          <p:cNvSpPr txBox="1"/>
          <p:nvPr/>
        </p:nvSpPr>
        <p:spPr>
          <a:xfrm>
            <a:off x="1874519" y="6327648"/>
            <a:ext cx="665683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3"/>
              </a:rPr>
              <a:t>BTC-USD</a:t>
            </a:r>
          </a:p>
        </p:txBody>
      </p:sp>
      <p:sp>
        <p:nvSpPr>
          <p:cNvPr id="9" name="ledger-text"/>
          <p:cNvSpPr txBox="1"/>
          <p:nvPr/>
        </p:nvSpPr>
        <p:spPr>
          <a:xfrm>
            <a:off x="2695651" y="6327648"/>
            <a:ext cx="64008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4"/>
              </a:rPr>
              <a:t>SPY</a:t>
            </a:r>
          </a:p>
        </p:txBody>
      </p:sp>
      <p:sp>
        <p:nvSpPr>
          <p:cNvPr id="10" name="ledger-text"/>
          <p:cNvSpPr txBox="1"/>
          <p:nvPr/>
        </p:nvSpPr>
        <p:spPr>
          <a:xfrm>
            <a:off x="11045952" y="6327648"/>
            <a:ext cx="50292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1539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Consolas"/>
                <a:ea typeface="Microsoft YaHei"/>
              </a:rPr>
              <a:t>36</a:t>
            </a:r>
          </a:p>
        </p:txBody>
      </p:sp>
      <p:sp>
        <p:nvSpPr>
          <p:cNvPr id="11" name="ledger-text"/>
          <p:cNvSpPr txBox="1"/>
          <p:nvPr/>
        </p:nvSpPr>
        <p:spPr>
          <a:xfrm>
            <a:off x="609904" y="2011680"/>
            <a:ext cx="21945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数据限制</a:t>
            </a:r>
          </a:p>
        </p:txBody>
      </p:sp>
      <p:sp>
        <p:nvSpPr>
          <p:cNvPr id="12" name="ledger-text"/>
          <p:cNvSpPr txBox="1"/>
          <p:nvPr/>
        </p:nvSpPr>
        <p:spPr>
          <a:xfrm>
            <a:off x="3035808" y="2011680"/>
            <a:ext cx="8229600" cy="74980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2024年8月全球股市波动期间比特币与黄金的相对表现，检索仅命中无关来</a:t>
            </a:r>
          </a:p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源，缺乏可引用报道。</a:t>
            </a:r>
          </a:p>
        </p:txBody>
      </p:sp>
      <p:cxnSp>
        <p:nvCxnSpPr>
          <p:cNvPr id="13" name="ledger-rule"/>
          <p:cNvCxnSpPr/>
          <p:nvPr/>
        </p:nvCxnSpPr>
        <p:spPr>
          <a:xfrm>
            <a:off x="609904" y="2871216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14" name="ledger-text"/>
          <p:cNvSpPr txBox="1"/>
          <p:nvPr/>
        </p:nvSpPr>
        <p:spPr>
          <a:xfrm>
            <a:off x="609904" y="2990088"/>
            <a:ext cx="21945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数据限制</a:t>
            </a:r>
          </a:p>
        </p:txBody>
      </p:sp>
      <p:sp>
        <p:nvSpPr>
          <p:cNvPr id="15" name="ledger-text"/>
          <p:cNvSpPr txBox="1"/>
          <p:nvPr/>
        </p:nvSpPr>
        <p:spPr>
          <a:xfrm>
            <a:off x="3035808" y="2990088"/>
            <a:ext cx="8229600" cy="74980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缺少直接比较 GLD 与 BTC-USD 在危机窗口回撤保护、与 CPI/通胀预</a:t>
            </a:r>
          </a:p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期相关性的已读来源，相关结论只能依赖行情数据计算而非新闻证据。</a:t>
            </a:r>
          </a:p>
        </p:txBody>
      </p:sp>
      <p:cxnSp>
        <p:nvCxnSpPr>
          <p:cNvPr id="16" name="ledger-rule"/>
          <p:cNvCxnSpPr/>
          <p:nvPr/>
        </p:nvCxnSpPr>
        <p:spPr>
          <a:xfrm>
            <a:off x="609904" y="3849624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edger-text"/>
          <p:cNvSpPr txBox="1"/>
          <p:nvPr/>
        </p:nvSpPr>
        <p:spPr>
          <a:xfrm>
            <a:off x="609904" y="457200"/>
            <a:ext cx="10972800" cy="61417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E293B"/>
                </a:solidFill>
                <a:latin typeface="Microsoft YaHei"/>
                <a:ea typeface="Microsoft YaHei"/>
              </a:rPr>
              <a:t>原始来源索引</a:t>
            </a:r>
          </a:p>
        </p:txBody>
      </p:sp>
      <p:sp>
        <p:nvSpPr>
          <p:cNvPr id="3" name="ledger-text"/>
          <p:cNvSpPr txBox="1"/>
          <p:nvPr/>
        </p:nvSpPr>
        <p:spPr>
          <a:xfrm>
            <a:off x="609904" y="1161288"/>
            <a:ext cx="10972800" cy="4572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959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</a:rPr>
              <a:t>点击标题打开原文；数据快照哈希保存在各页演讲者备注。</a:t>
            </a:r>
          </a:p>
        </p:txBody>
      </p:sp>
      <p:cxnSp>
        <p:nvCxnSpPr>
          <p:cNvPr id="4" name="ledger-rule"/>
          <p:cNvCxnSpPr/>
          <p:nvPr/>
        </p:nvCxnSpPr>
        <p:spPr>
          <a:xfrm>
            <a:off x="609904" y="1737360"/>
            <a:ext cx="10972800" cy="0"/>
          </a:xfrm>
          <a:prstGeom prst="line">
            <a:avLst/>
          </a:prstGeom>
          <a:ln w="13970">
            <a:solidFill>
              <a:srgbClr val="1E293B"/>
            </a:solidFill>
          </a:ln>
          <a:effectLst/>
        </p:spPr>
      </p:cxnSp>
      <p:cxnSp>
        <p:nvCxnSpPr>
          <p:cNvPr id="5" name="ledger-rule"/>
          <p:cNvCxnSpPr/>
          <p:nvPr/>
        </p:nvCxnSpPr>
        <p:spPr>
          <a:xfrm>
            <a:off x="609904" y="6199632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6" name="ledger-text"/>
          <p:cNvSpPr txBox="1"/>
          <p:nvPr/>
        </p:nvSpPr>
        <p:spPr>
          <a:xfrm>
            <a:off x="609904" y="6345936"/>
            <a:ext cx="457200" cy="2052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Microsoft YaHei"/>
                <a:ea typeface="Microsoft YaHei"/>
              </a:rPr>
              <a:t>来源</a:t>
            </a:r>
          </a:p>
        </p:txBody>
      </p:sp>
      <p:sp>
        <p:nvSpPr>
          <p:cNvPr id="7" name="ledger-text"/>
          <p:cNvSpPr txBox="1"/>
          <p:nvPr/>
        </p:nvSpPr>
        <p:spPr>
          <a:xfrm>
            <a:off x="1078992" y="6327648"/>
            <a:ext cx="219456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2"/>
              </a:rPr>
              <a:t>Federal Reserve Board - Fe…</a:t>
            </a:r>
          </a:p>
        </p:txBody>
      </p:sp>
      <p:sp>
        <p:nvSpPr>
          <p:cNvPr id="8" name="ledger-text"/>
          <p:cNvSpPr txBox="1"/>
          <p:nvPr/>
        </p:nvSpPr>
        <p:spPr>
          <a:xfrm>
            <a:off x="3429000" y="6327648"/>
            <a:ext cx="219456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3"/>
              </a:rPr>
              <a:t>Federal Reserve Board - Fe…</a:t>
            </a:r>
          </a:p>
        </p:txBody>
      </p:sp>
      <p:sp>
        <p:nvSpPr>
          <p:cNvPr id="9" name="ledger-text"/>
          <p:cNvSpPr txBox="1"/>
          <p:nvPr/>
        </p:nvSpPr>
        <p:spPr>
          <a:xfrm>
            <a:off x="5779008" y="6327648"/>
            <a:ext cx="219456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4"/>
              </a:rPr>
              <a:t>Cryptocurrency luna crashe…</a:t>
            </a:r>
          </a:p>
        </p:txBody>
      </p:sp>
      <p:sp>
        <p:nvSpPr>
          <p:cNvPr id="10" name="ledger-text"/>
          <p:cNvSpPr txBox="1"/>
          <p:nvPr/>
        </p:nvSpPr>
        <p:spPr>
          <a:xfrm>
            <a:off x="8129016" y="6327648"/>
            <a:ext cx="219456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5"/>
              </a:rPr>
              <a:t>Trump announces strategic …</a:t>
            </a:r>
          </a:p>
        </p:txBody>
      </p:sp>
      <p:sp>
        <p:nvSpPr>
          <p:cNvPr id="11" name="ledger-text"/>
          <p:cNvSpPr txBox="1"/>
          <p:nvPr/>
        </p:nvSpPr>
        <p:spPr>
          <a:xfrm>
            <a:off x="11045952" y="6327648"/>
            <a:ext cx="50292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1539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Consolas"/>
                <a:ea typeface="Microsoft YaHei"/>
              </a:rPr>
              <a:t>37</a:t>
            </a:r>
          </a:p>
        </p:txBody>
      </p:sp>
      <p:sp>
        <p:nvSpPr>
          <p:cNvPr id="12" name="ledger-text"/>
          <p:cNvSpPr txBox="1"/>
          <p:nvPr/>
        </p:nvSpPr>
        <p:spPr>
          <a:xfrm>
            <a:off x="609904" y="2029968"/>
            <a:ext cx="457200" cy="3200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4748B"/>
                </a:solidFill>
                <a:latin typeface="Consolas"/>
                <a:ea typeface="Microsoft YaHei"/>
              </a:rPr>
              <a:t>01</a:t>
            </a:r>
          </a:p>
        </p:txBody>
      </p:sp>
      <p:sp>
        <p:nvSpPr>
          <p:cNvPr id="13" name="ledger-text"/>
          <p:cNvSpPr txBox="1"/>
          <p:nvPr/>
        </p:nvSpPr>
        <p:spPr>
          <a:xfrm>
            <a:off x="1280160" y="2029968"/>
            <a:ext cx="10058400" cy="5394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B6CB0"/>
                </a:solidFill>
                <a:latin typeface="Microsoft YaHei"/>
                <a:ea typeface="Microsoft YaHei"/>
                <a:hlinkClick r:id="rId2"/>
              </a:rPr>
              <a:t>Federal Reserve Board - Federal Reserve issues FOMC statement</a:t>
            </a:r>
          </a:p>
        </p:txBody>
      </p:sp>
      <p:sp>
        <p:nvSpPr>
          <p:cNvPr id="14" name="ledger-text"/>
          <p:cNvSpPr txBox="1"/>
          <p:nvPr/>
        </p:nvSpPr>
        <p:spPr>
          <a:xfrm>
            <a:off x="609904" y="2633472"/>
            <a:ext cx="457200" cy="3200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4748B"/>
                </a:solidFill>
                <a:latin typeface="Consolas"/>
                <a:ea typeface="Microsoft YaHei"/>
              </a:rPr>
              <a:t>02</a:t>
            </a:r>
          </a:p>
        </p:txBody>
      </p:sp>
      <p:sp>
        <p:nvSpPr>
          <p:cNvPr id="15" name="ledger-text"/>
          <p:cNvSpPr txBox="1"/>
          <p:nvPr/>
        </p:nvSpPr>
        <p:spPr>
          <a:xfrm>
            <a:off x="1280160" y="2633472"/>
            <a:ext cx="10058400" cy="5394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B6CB0"/>
                </a:solidFill>
                <a:latin typeface="Microsoft YaHei"/>
                <a:ea typeface="Microsoft YaHei"/>
                <a:hlinkClick r:id="rId3"/>
              </a:rPr>
              <a:t>Federal Reserve Board - Federal Reserve issues FOMC statement</a:t>
            </a:r>
          </a:p>
        </p:txBody>
      </p:sp>
      <p:sp>
        <p:nvSpPr>
          <p:cNvPr id="16" name="ledger-text"/>
          <p:cNvSpPr txBox="1"/>
          <p:nvPr/>
        </p:nvSpPr>
        <p:spPr>
          <a:xfrm>
            <a:off x="609904" y="3236976"/>
            <a:ext cx="457200" cy="3200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4748B"/>
                </a:solidFill>
                <a:latin typeface="Consolas"/>
                <a:ea typeface="Microsoft YaHei"/>
              </a:rPr>
              <a:t>03</a:t>
            </a:r>
          </a:p>
        </p:txBody>
      </p:sp>
      <p:sp>
        <p:nvSpPr>
          <p:cNvPr id="17" name="ledger-text"/>
          <p:cNvSpPr txBox="1"/>
          <p:nvPr/>
        </p:nvSpPr>
        <p:spPr>
          <a:xfrm>
            <a:off x="1280160" y="3236976"/>
            <a:ext cx="10058400" cy="5394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B6CB0"/>
                </a:solidFill>
                <a:latin typeface="Microsoft YaHei"/>
                <a:ea typeface="Microsoft YaHei"/>
                <a:hlinkClick r:id="rId4"/>
              </a:rPr>
              <a:t>Cryptocurrency luna crashes to $0 as UST falls from peg; bitcoin rises</a:t>
            </a:r>
          </a:p>
        </p:txBody>
      </p:sp>
      <p:sp>
        <p:nvSpPr>
          <p:cNvPr id="18" name="ledger-text"/>
          <p:cNvSpPr txBox="1"/>
          <p:nvPr/>
        </p:nvSpPr>
        <p:spPr>
          <a:xfrm>
            <a:off x="609904" y="3840480"/>
            <a:ext cx="457200" cy="3200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4748B"/>
                </a:solidFill>
                <a:latin typeface="Consolas"/>
                <a:ea typeface="Microsoft YaHei"/>
              </a:rPr>
              <a:t>04</a:t>
            </a:r>
          </a:p>
        </p:txBody>
      </p:sp>
      <p:sp>
        <p:nvSpPr>
          <p:cNvPr id="19" name="ledger-text"/>
          <p:cNvSpPr txBox="1"/>
          <p:nvPr/>
        </p:nvSpPr>
        <p:spPr>
          <a:xfrm>
            <a:off x="1280160" y="3840480"/>
            <a:ext cx="10058400" cy="5608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B6CB0"/>
                </a:solidFill>
                <a:latin typeface="Microsoft YaHei"/>
                <a:ea typeface="Microsoft YaHei"/>
                <a:hlinkClick r:id="rId5"/>
              </a:rPr>
              <a:t>Trump announces strategic crypto reserve including bitcoin, Solana, XRP </a:t>
            </a:r>
          </a:p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B6CB0"/>
                </a:solidFill>
                <a:latin typeface="Microsoft YaHei"/>
                <a:ea typeface="Microsoft YaHei"/>
                <a:hlinkClick r:id="rId5"/>
              </a:rPr>
              <a:t>and more</a:t>
            </a:r>
          </a:p>
        </p:txBody>
      </p:sp>
      <p:sp>
        <p:nvSpPr>
          <p:cNvPr id="20" name="ledger-text"/>
          <p:cNvSpPr txBox="1"/>
          <p:nvPr/>
        </p:nvSpPr>
        <p:spPr>
          <a:xfrm>
            <a:off x="609904" y="4443984"/>
            <a:ext cx="457200" cy="3200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4748B"/>
                </a:solidFill>
                <a:latin typeface="Consolas"/>
                <a:ea typeface="Microsoft YaHei"/>
              </a:rPr>
              <a:t>05</a:t>
            </a:r>
          </a:p>
        </p:txBody>
      </p:sp>
      <p:sp>
        <p:nvSpPr>
          <p:cNvPr id="21" name="ledger-text"/>
          <p:cNvSpPr txBox="1"/>
          <p:nvPr/>
        </p:nvSpPr>
        <p:spPr>
          <a:xfrm>
            <a:off x="1280160" y="4443984"/>
            <a:ext cx="10058400" cy="5394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B6CB0"/>
                </a:solidFill>
                <a:latin typeface="Microsoft YaHei"/>
                <a:ea typeface="Microsoft YaHei"/>
                <a:hlinkClick r:id="rId7"/>
              </a:rPr>
              <a:t>Bitcoin Blasts Past $31,000 as Optimism for BTC Spot ETF Surges - Decrypt</a:t>
            </a:r>
          </a:p>
        </p:txBody>
      </p:sp>
      <p:sp>
        <p:nvSpPr>
          <p:cNvPr id="22" name="ledger-text"/>
          <p:cNvSpPr txBox="1"/>
          <p:nvPr/>
        </p:nvSpPr>
        <p:spPr>
          <a:xfrm>
            <a:off x="609904" y="5047488"/>
            <a:ext cx="457200" cy="3200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4748B"/>
                </a:solidFill>
                <a:latin typeface="Consolas"/>
                <a:ea typeface="Microsoft YaHei"/>
              </a:rPr>
              <a:t>06</a:t>
            </a:r>
          </a:p>
        </p:txBody>
      </p:sp>
      <p:sp>
        <p:nvSpPr>
          <p:cNvPr id="23" name="ledger-text"/>
          <p:cNvSpPr txBox="1"/>
          <p:nvPr/>
        </p:nvSpPr>
        <p:spPr>
          <a:xfrm>
            <a:off x="1280160" y="5047488"/>
            <a:ext cx="10058400" cy="5608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B6CB0"/>
                </a:solidFill>
                <a:latin typeface="Microsoft YaHei"/>
                <a:ea typeface="Microsoft YaHei"/>
                <a:hlinkClick r:id="rId8"/>
              </a:rPr>
              <a:t>SPDR® Gold Shares (Ticker: GLD, New York Stock Exchange) | Charts, data </a:t>
            </a:r>
          </a:p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B6CB0"/>
                </a:solidFill>
                <a:latin typeface="Microsoft YaHei"/>
                <a:ea typeface="Microsoft YaHei"/>
                <a:hlinkClick r:id="rId8"/>
              </a:rPr>
              <a:t>and downloads | World Gold Trust Services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edger-text"/>
          <p:cNvSpPr txBox="1"/>
          <p:nvPr/>
        </p:nvSpPr>
        <p:spPr>
          <a:xfrm>
            <a:off x="609904" y="457200"/>
            <a:ext cx="10972800" cy="61417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E293B"/>
                </a:solidFill>
                <a:latin typeface="Microsoft YaHei"/>
                <a:ea typeface="Microsoft YaHei"/>
              </a:rPr>
              <a:t>原始来源索引</a:t>
            </a:r>
          </a:p>
        </p:txBody>
      </p:sp>
      <p:sp>
        <p:nvSpPr>
          <p:cNvPr id="3" name="ledger-text"/>
          <p:cNvSpPr txBox="1"/>
          <p:nvPr/>
        </p:nvSpPr>
        <p:spPr>
          <a:xfrm>
            <a:off x="609904" y="1161288"/>
            <a:ext cx="10972800" cy="4572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959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</a:rPr>
              <a:t>点击标题打开原文；数据快照哈希保存在各页演讲者备注。</a:t>
            </a:r>
          </a:p>
        </p:txBody>
      </p:sp>
      <p:cxnSp>
        <p:nvCxnSpPr>
          <p:cNvPr id="4" name="ledger-rule"/>
          <p:cNvCxnSpPr/>
          <p:nvPr/>
        </p:nvCxnSpPr>
        <p:spPr>
          <a:xfrm>
            <a:off x="609904" y="1737360"/>
            <a:ext cx="10972800" cy="0"/>
          </a:xfrm>
          <a:prstGeom prst="line">
            <a:avLst/>
          </a:prstGeom>
          <a:ln w="13970">
            <a:solidFill>
              <a:srgbClr val="1E293B"/>
            </a:solidFill>
          </a:ln>
          <a:effectLst/>
        </p:spPr>
      </p:cxnSp>
      <p:cxnSp>
        <p:nvCxnSpPr>
          <p:cNvPr id="5" name="ledger-rule"/>
          <p:cNvCxnSpPr/>
          <p:nvPr/>
        </p:nvCxnSpPr>
        <p:spPr>
          <a:xfrm>
            <a:off x="609904" y="6199632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6" name="ledger-text"/>
          <p:cNvSpPr txBox="1"/>
          <p:nvPr/>
        </p:nvSpPr>
        <p:spPr>
          <a:xfrm>
            <a:off x="609904" y="6345936"/>
            <a:ext cx="457200" cy="2052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Microsoft YaHei"/>
                <a:ea typeface="Microsoft YaHei"/>
              </a:rPr>
              <a:t>来源</a:t>
            </a:r>
          </a:p>
        </p:txBody>
      </p:sp>
      <p:sp>
        <p:nvSpPr>
          <p:cNvPr id="7" name="ledger-text"/>
          <p:cNvSpPr txBox="1"/>
          <p:nvPr/>
        </p:nvSpPr>
        <p:spPr>
          <a:xfrm>
            <a:off x="1078992" y="6327648"/>
            <a:ext cx="219456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2"/>
              </a:rPr>
              <a:t>Bitcoin briefly breaks bel…</a:t>
            </a:r>
          </a:p>
        </p:txBody>
      </p:sp>
      <p:sp>
        <p:nvSpPr>
          <p:cNvPr id="8" name="ledger-text"/>
          <p:cNvSpPr txBox="1"/>
          <p:nvPr/>
        </p:nvSpPr>
        <p:spPr>
          <a:xfrm>
            <a:off x="3429000" y="6327648"/>
            <a:ext cx="219456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3"/>
              </a:rPr>
              <a:t>SEC approves rule changes …</a:t>
            </a:r>
          </a:p>
        </p:txBody>
      </p:sp>
      <p:sp>
        <p:nvSpPr>
          <p:cNvPr id="9" name="ledger-text"/>
          <p:cNvSpPr txBox="1"/>
          <p:nvPr/>
        </p:nvSpPr>
        <p:spPr>
          <a:xfrm>
            <a:off x="5779008" y="6327648"/>
            <a:ext cx="219456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4"/>
              </a:rPr>
              <a:t>Bitcoin price falls under …</a:t>
            </a:r>
          </a:p>
        </p:txBody>
      </p:sp>
      <p:sp>
        <p:nvSpPr>
          <p:cNvPr id="10" name="ledger-text"/>
          <p:cNvSpPr txBox="1"/>
          <p:nvPr/>
        </p:nvSpPr>
        <p:spPr>
          <a:xfrm>
            <a:off x="8129016" y="6327648"/>
            <a:ext cx="219456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5"/>
              </a:rPr>
              <a:t>What to know about Trump's…</a:t>
            </a:r>
          </a:p>
        </p:txBody>
      </p:sp>
      <p:sp>
        <p:nvSpPr>
          <p:cNvPr id="11" name="ledger-text"/>
          <p:cNvSpPr txBox="1"/>
          <p:nvPr/>
        </p:nvSpPr>
        <p:spPr>
          <a:xfrm>
            <a:off x="11045952" y="6327648"/>
            <a:ext cx="50292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1539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Consolas"/>
                <a:ea typeface="Microsoft YaHei"/>
              </a:rPr>
              <a:t>38</a:t>
            </a:r>
          </a:p>
        </p:txBody>
      </p:sp>
      <p:sp>
        <p:nvSpPr>
          <p:cNvPr id="12" name="ledger-text"/>
          <p:cNvSpPr txBox="1"/>
          <p:nvPr/>
        </p:nvSpPr>
        <p:spPr>
          <a:xfrm>
            <a:off x="609904" y="2029968"/>
            <a:ext cx="457200" cy="3200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4748B"/>
                </a:solidFill>
                <a:latin typeface="Consolas"/>
                <a:ea typeface="Microsoft YaHei"/>
              </a:rPr>
              <a:t>07</a:t>
            </a:r>
          </a:p>
        </p:txBody>
      </p:sp>
      <p:sp>
        <p:nvSpPr>
          <p:cNvPr id="13" name="ledger-text"/>
          <p:cNvSpPr txBox="1"/>
          <p:nvPr/>
        </p:nvSpPr>
        <p:spPr>
          <a:xfrm>
            <a:off x="1280160" y="2029968"/>
            <a:ext cx="10058400" cy="5394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B6CB0"/>
                </a:solidFill>
                <a:latin typeface="Microsoft YaHei"/>
                <a:ea typeface="Microsoft YaHei"/>
                <a:hlinkClick r:id="rId2"/>
              </a:rPr>
              <a:t>Bitcoin briefly breaks below $61,000 as sell-off intensifies</a:t>
            </a:r>
          </a:p>
        </p:txBody>
      </p:sp>
      <p:sp>
        <p:nvSpPr>
          <p:cNvPr id="14" name="ledger-text"/>
          <p:cNvSpPr txBox="1"/>
          <p:nvPr/>
        </p:nvSpPr>
        <p:spPr>
          <a:xfrm>
            <a:off x="609904" y="2633472"/>
            <a:ext cx="457200" cy="3200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4748B"/>
                </a:solidFill>
                <a:latin typeface="Consolas"/>
                <a:ea typeface="Microsoft YaHei"/>
              </a:rPr>
              <a:t>08</a:t>
            </a:r>
          </a:p>
        </p:txBody>
      </p:sp>
      <p:sp>
        <p:nvSpPr>
          <p:cNvPr id="15" name="ledger-text"/>
          <p:cNvSpPr txBox="1"/>
          <p:nvPr/>
        </p:nvSpPr>
        <p:spPr>
          <a:xfrm>
            <a:off x="1280160" y="2633472"/>
            <a:ext cx="10058400" cy="5394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B6CB0"/>
                </a:solidFill>
                <a:latin typeface="Microsoft YaHei"/>
                <a:ea typeface="Microsoft YaHei"/>
                <a:hlinkClick r:id="rId3"/>
              </a:rPr>
              <a:t>SEC approves rule changes that pave the way for bitcoin ETFs</a:t>
            </a:r>
          </a:p>
        </p:txBody>
      </p:sp>
      <p:sp>
        <p:nvSpPr>
          <p:cNvPr id="16" name="ledger-text"/>
          <p:cNvSpPr txBox="1"/>
          <p:nvPr/>
        </p:nvSpPr>
        <p:spPr>
          <a:xfrm>
            <a:off x="609904" y="3236976"/>
            <a:ext cx="457200" cy="3200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4748B"/>
                </a:solidFill>
                <a:latin typeface="Consolas"/>
                <a:ea typeface="Microsoft YaHei"/>
              </a:rPr>
              <a:t>09</a:t>
            </a:r>
          </a:p>
        </p:txBody>
      </p:sp>
      <p:sp>
        <p:nvSpPr>
          <p:cNvPr id="17" name="ledger-text"/>
          <p:cNvSpPr txBox="1"/>
          <p:nvPr/>
        </p:nvSpPr>
        <p:spPr>
          <a:xfrm>
            <a:off x="1280160" y="3236976"/>
            <a:ext cx="10058400" cy="5394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B6CB0"/>
                </a:solidFill>
                <a:latin typeface="Microsoft YaHei"/>
                <a:ea typeface="Microsoft YaHei"/>
                <a:hlinkClick r:id="rId4"/>
              </a:rPr>
              <a:t>Bitcoin price falls under $80,000. Here's why</a:t>
            </a:r>
          </a:p>
        </p:txBody>
      </p:sp>
      <p:sp>
        <p:nvSpPr>
          <p:cNvPr id="18" name="ledger-text"/>
          <p:cNvSpPr txBox="1"/>
          <p:nvPr/>
        </p:nvSpPr>
        <p:spPr>
          <a:xfrm>
            <a:off x="609904" y="3840480"/>
            <a:ext cx="457200" cy="3200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4748B"/>
                </a:solidFill>
                <a:latin typeface="Consolas"/>
                <a:ea typeface="Microsoft YaHei"/>
              </a:rPr>
              <a:t>10</a:t>
            </a:r>
          </a:p>
        </p:txBody>
      </p:sp>
      <p:sp>
        <p:nvSpPr>
          <p:cNvPr id="19" name="ledger-text"/>
          <p:cNvSpPr txBox="1"/>
          <p:nvPr/>
        </p:nvSpPr>
        <p:spPr>
          <a:xfrm>
            <a:off x="1280160" y="3840480"/>
            <a:ext cx="10058400" cy="5394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B6CB0"/>
                </a:solidFill>
                <a:latin typeface="Microsoft YaHei"/>
                <a:ea typeface="Microsoft YaHei"/>
                <a:hlinkClick r:id="rId5"/>
              </a:rPr>
              <a:t>What to know about Trump's 'crypto strategic reserve' plan : NPR</a:t>
            </a:r>
          </a:p>
        </p:txBody>
      </p:sp>
      <p:sp>
        <p:nvSpPr>
          <p:cNvPr id="20" name="ledger-text"/>
          <p:cNvSpPr txBox="1"/>
          <p:nvPr/>
        </p:nvSpPr>
        <p:spPr>
          <a:xfrm>
            <a:off x="609904" y="4443984"/>
            <a:ext cx="457200" cy="3200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4748B"/>
                </a:solidFill>
                <a:latin typeface="Consolas"/>
                <a:ea typeface="Microsoft YaHei"/>
              </a:rPr>
              <a:t>11</a:t>
            </a:r>
          </a:p>
        </p:txBody>
      </p:sp>
      <p:sp>
        <p:nvSpPr>
          <p:cNvPr id="21" name="ledger-text"/>
          <p:cNvSpPr txBox="1"/>
          <p:nvPr/>
        </p:nvSpPr>
        <p:spPr>
          <a:xfrm>
            <a:off x="1280160" y="4443984"/>
            <a:ext cx="10058400" cy="5394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B6CB0"/>
                </a:solidFill>
                <a:latin typeface="Microsoft YaHei"/>
                <a:ea typeface="Microsoft YaHei"/>
                <a:hlinkClick r:id="rId7"/>
              </a:rPr>
              <a:t>Silver, gold sell off as precious metals markets nosedive</a:t>
            </a:r>
          </a:p>
        </p:txBody>
      </p:sp>
      <p:sp>
        <p:nvSpPr>
          <p:cNvPr id="22" name="ledger-text"/>
          <p:cNvSpPr txBox="1"/>
          <p:nvPr/>
        </p:nvSpPr>
        <p:spPr>
          <a:xfrm>
            <a:off x="609904" y="5047488"/>
            <a:ext cx="457200" cy="3200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4748B"/>
                </a:solidFill>
                <a:latin typeface="Consolas"/>
                <a:ea typeface="Microsoft YaHei"/>
              </a:rPr>
              <a:t>12</a:t>
            </a:r>
          </a:p>
        </p:txBody>
      </p:sp>
      <p:sp>
        <p:nvSpPr>
          <p:cNvPr id="23" name="ledger-text"/>
          <p:cNvSpPr txBox="1"/>
          <p:nvPr/>
        </p:nvSpPr>
        <p:spPr>
          <a:xfrm>
            <a:off x="1280160" y="5047488"/>
            <a:ext cx="10058400" cy="5608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B6CB0"/>
                </a:solidFill>
                <a:latin typeface="Microsoft YaHei"/>
                <a:ea typeface="Microsoft YaHei"/>
                <a:hlinkClick r:id="rId8"/>
              </a:rPr>
              <a:t>Fed hikes its benchmark interest rate by 0.75 percentage point, the </a:t>
            </a:r>
          </a:p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B6CB0"/>
                </a:solidFill>
                <a:latin typeface="Microsoft YaHei"/>
                <a:ea typeface="Microsoft YaHei"/>
                <a:hlinkClick r:id="rId8"/>
              </a:rPr>
              <a:t>biggest increase since 1994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edger-text"/>
          <p:cNvSpPr txBox="1"/>
          <p:nvPr/>
        </p:nvSpPr>
        <p:spPr>
          <a:xfrm>
            <a:off x="609904" y="457200"/>
            <a:ext cx="10972800" cy="61417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E293B"/>
                </a:solidFill>
                <a:latin typeface="Microsoft YaHei"/>
                <a:ea typeface="Microsoft YaHei"/>
              </a:rPr>
              <a:t>原始来源索引</a:t>
            </a:r>
          </a:p>
        </p:txBody>
      </p:sp>
      <p:sp>
        <p:nvSpPr>
          <p:cNvPr id="3" name="ledger-text"/>
          <p:cNvSpPr txBox="1"/>
          <p:nvPr/>
        </p:nvSpPr>
        <p:spPr>
          <a:xfrm>
            <a:off x="609904" y="1161288"/>
            <a:ext cx="10972800" cy="4572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959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</a:rPr>
              <a:t>点击标题打开原文；数据快照哈希保存在各页演讲者备注。</a:t>
            </a:r>
          </a:p>
        </p:txBody>
      </p:sp>
      <p:cxnSp>
        <p:nvCxnSpPr>
          <p:cNvPr id="4" name="ledger-rule"/>
          <p:cNvCxnSpPr/>
          <p:nvPr/>
        </p:nvCxnSpPr>
        <p:spPr>
          <a:xfrm>
            <a:off x="609904" y="1737360"/>
            <a:ext cx="10972800" cy="0"/>
          </a:xfrm>
          <a:prstGeom prst="line">
            <a:avLst/>
          </a:prstGeom>
          <a:ln w="13970">
            <a:solidFill>
              <a:srgbClr val="1E293B"/>
            </a:solidFill>
          </a:ln>
          <a:effectLst/>
        </p:spPr>
      </p:cxnSp>
      <p:cxnSp>
        <p:nvCxnSpPr>
          <p:cNvPr id="5" name="ledger-rule"/>
          <p:cNvCxnSpPr/>
          <p:nvPr/>
        </p:nvCxnSpPr>
        <p:spPr>
          <a:xfrm>
            <a:off x="609904" y="6199632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6" name="ledger-text"/>
          <p:cNvSpPr txBox="1"/>
          <p:nvPr/>
        </p:nvSpPr>
        <p:spPr>
          <a:xfrm>
            <a:off x="609904" y="6345936"/>
            <a:ext cx="457200" cy="2052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Microsoft YaHei"/>
                <a:ea typeface="Microsoft YaHei"/>
              </a:rPr>
              <a:t>来源</a:t>
            </a:r>
          </a:p>
        </p:txBody>
      </p:sp>
      <p:sp>
        <p:nvSpPr>
          <p:cNvPr id="7" name="ledger-text"/>
          <p:cNvSpPr txBox="1"/>
          <p:nvPr/>
        </p:nvSpPr>
        <p:spPr>
          <a:xfrm>
            <a:off x="1078992" y="6327648"/>
            <a:ext cx="219456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2"/>
              </a:rPr>
              <a:t>Bitcoin (BTC) falls as mar…</a:t>
            </a:r>
          </a:p>
        </p:txBody>
      </p:sp>
      <p:sp>
        <p:nvSpPr>
          <p:cNvPr id="8" name="ledger-text"/>
          <p:cNvSpPr txBox="1"/>
          <p:nvPr/>
        </p:nvSpPr>
        <p:spPr>
          <a:xfrm>
            <a:off x="3429000" y="6327648"/>
            <a:ext cx="1426464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3"/>
              </a:rPr>
              <a:t>FRED · CPIAUCNS</a:t>
            </a:r>
          </a:p>
        </p:txBody>
      </p:sp>
      <p:sp>
        <p:nvSpPr>
          <p:cNvPr id="9" name="ledger-text"/>
          <p:cNvSpPr txBox="1"/>
          <p:nvPr/>
        </p:nvSpPr>
        <p:spPr>
          <a:xfrm>
            <a:off x="5010912" y="6327648"/>
            <a:ext cx="1236268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4"/>
              </a:rPr>
              <a:t>FRED · DGS3MO</a:t>
            </a:r>
          </a:p>
        </p:txBody>
      </p:sp>
      <p:sp>
        <p:nvSpPr>
          <p:cNvPr id="10" name="ledger-text"/>
          <p:cNvSpPr txBox="1"/>
          <p:nvPr/>
        </p:nvSpPr>
        <p:spPr>
          <a:xfrm>
            <a:off x="6402628" y="6327648"/>
            <a:ext cx="672998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5"/>
              </a:rPr>
              <a:t>行情 GLD</a:t>
            </a:r>
          </a:p>
        </p:txBody>
      </p:sp>
      <p:sp>
        <p:nvSpPr>
          <p:cNvPr id="11" name="ledger-text"/>
          <p:cNvSpPr txBox="1"/>
          <p:nvPr/>
        </p:nvSpPr>
        <p:spPr>
          <a:xfrm>
            <a:off x="11045952" y="6327648"/>
            <a:ext cx="50292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1539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Consolas"/>
                <a:ea typeface="Microsoft YaHei"/>
              </a:rPr>
              <a:t>39</a:t>
            </a:r>
          </a:p>
        </p:txBody>
      </p:sp>
      <p:sp>
        <p:nvSpPr>
          <p:cNvPr id="12" name="ledger-text"/>
          <p:cNvSpPr txBox="1"/>
          <p:nvPr/>
        </p:nvSpPr>
        <p:spPr>
          <a:xfrm>
            <a:off x="609904" y="2029968"/>
            <a:ext cx="457200" cy="3200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4748B"/>
                </a:solidFill>
                <a:latin typeface="Consolas"/>
                <a:ea typeface="Microsoft YaHei"/>
              </a:rPr>
              <a:t>13</a:t>
            </a:r>
          </a:p>
        </p:txBody>
      </p:sp>
      <p:sp>
        <p:nvSpPr>
          <p:cNvPr id="13" name="ledger-text"/>
          <p:cNvSpPr txBox="1"/>
          <p:nvPr/>
        </p:nvSpPr>
        <p:spPr>
          <a:xfrm>
            <a:off x="1280160" y="2029968"/>
            <a:ext cx="10058400" cy="5394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B6CB0"/>
                </a:solidFill>
                <a:latin typeface="Microsoft YaHei"/>
                <a:ea typeface="Microsoft YaHei"/>
                <a:hlinkClick r:id="rId2"/>
              </a:rPr>
              <a:t>Bitcoin (BTC) falls as market focuses on Celsius issue, Fed rate hike</a:t>
            </a:r>
          </a:p>
        </p:txBody>
      </p:sp>
      <p:sp>
        <p:nvSpPr>
          <p:cNvPr id="14" name="ledger-text"/>
          <p:cNvSpPr txBox="1"/>
          <p:nvPr/>
        </p:nvSpPr>
        <p:spPr>
          <a:xfrm>
            <a:off x="609904" y="2633472"/>
            <a:ext cx="457200" cy="3200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4748B"/>
                </a:solidFill>
                <a:latin typeface="Consolas"/>
                <a:ea typeface="Microsoft YaHei"/>
              </a:rPr>
              <a:t>14</a:t>
            </a:r>
          </a:p>
        </p:txBody>
      </p:sp>
      <p:sp>
        <p:nvSpPr>
          <p:cNvPr id="15" name="ledger-text"/>
          <p:cNvSpPr txBox="1"/>
          <p:nvPr/>
        </p:nvSpPr>
        <p:spPr>
          <a:xfrm>
            <a:off x="1280160" y="2633472"/>
            <a:ext cx="10058400" cy="5394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B6CB0"/>
                </a:solidFill>
                <a:latin typeface="Microsoft YaHei"/>
                <a:ea typeface="Microsoft YaHei"/>
                <a:hlinkClick r:id="rId3"/>
              </a:rPr>
              <a:t>FRED · CPIAUCNS</a:t>
            </a:r>
          </a:p>
        </p:txBody>
      </p:sp>
      <p:sp>
        <p:nvSpPr>
          <p:cNvPr id="16" name="ledger-text"/>
          <p:cNvSpPr txBox="1"/>
          <p:nvPr/>
        </p:nvSpPr>
        <p:spPr>
          <a:xfrm>
            <a:off x="609904" y="3236976"/>
            <a:ext cx="457200" cy="3200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4748B"/>
                </a:solidFill>
                <a:latin typeface="Consolas"/>
                <a:ea typeface="Microsoft YaHei"/>
              </a:rPr>
              <a:t>15</a:t>
            </a:r>
          </a:p>
        </p:txBody>
      </p:sp>
      <p:sp>
        <p:nvSpPr>
          <p:cNvPr id="17" name="ledger-text"/>
          <p:cNvSpPr txBox="1"/>
          <p:nvPr/>
        </p:nvSpPr>
        <p:spPr>
          <a:xfrm>
            <a:off x="1280160" y="3236976"/>
            <a:ext cx="10058400" cy="5394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B6CB0"/>
                </a:solidFill>
                <a:latin typeface="Microsoft YaHei"/>
                <a:ea typeface="Microsoft YaHei"/>
                <a:hlinkClick r:id="rId4"/>
              </a:rPr>
              <a:t>FRED · DGS3MO</a:t>
            </a:r>
          </a:p>
        </p:txBody>
      </p:sp>
      <p:sp>
        <p:nvSpPr>
          <p:cNvPr id="18" name="ledger-text"/>
          <p:cNvSpPr txBox="1"/>
          <p:nvPr/>
        </p:nvSpPr>
        <p:spPr>
          <a:xfrm>
            <a:off x="609904" y="3840480"/>
            <a:ext cx="457200" cy="3200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4748B"/>
                </a:solidFill>
                <a:latin typeface="Consolas"/>
                <a:ea typeface="Microsoft YaHei"/>
              </a:rPr>
              <a:t>16</a:t>
            </a:r>
          </a:p>
        </p:txBody>
      </p:sp>
      <p:sp>
        <p:nvSpPr>
          <p:cNvPr id="19" name="ledger-text"/>
          <p:cNvSpPr txBox="1"/>
          <p:nvPr/>
        </p:nvSpPr>
        <p:spPr>
          <a:xfrm>
            <a:off x="1280160" y="3840480"/>
            <a:ext cx="10058400" cy="5394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B6CB0"/>
                </a:solidFill>
                <a:latin typeface="Microsoft YaHei"/>
                <a:ea typeface="Microsoft YaHei"/>
                <a:hlinkClick r:id="rId5"/>
              </a:rPr>
              <a:t>行情 GLD</a:t>
            </a:r>
          </a:p>
        </p:txBody>
      </p:sp>
      <p:sp>
        <p:nvSpPr>
          <p:cNvPr id="20" name="ledger-text"/>
          <p:cNvSpPr txBox="1"/>
          <p:nvPr/>
        </p:nvSpPr>
        <p:spPr>
          <a:xfrm>
            <a:off x="609904" y="4443984"/>
            <a:ext cx="457200" cy="3200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4748B"/>
                </a:solidFill>
                <a:latin typeface="Consolas"/>
                <a:ea typeface="Microsoft YaHei"/>
              </a:rPr>
              <a:t>17</a:t>
            </a:r>
          </a:p>
        </p:txBody>
      </p:sp>
      <p:sp>
        <p:nvSpPr>
          <p:cNvPr id="21" name="ledger-text"/>
          <p:cNvSpPr txBox="1"/>
          <p:nvPr/>
        </p:nvSpPr>
        <p:spPr>
          <a:xfrm>
            <a:off x="1280160" y="4443984"/>
            <a:ext cx="10058400" cy="5394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B6CB0"/>
                </a:solidFill>
                <a:latin typeface="Microsoft YaHei"/>
                <a:ea typeface="Microsoft YaHei"/>
                <a:hlinkClick r:id="rId7"/>
              </a:rPr>
              <a:t>行情 BTC-USD</a:t>
            </a:r>
          </a:p>
        </p:txBody>
      </p:sp>
      <p:sp>
        <p:nvSpPr>
          <p:cNvPr id="22" name="ledger-text"/>
          <p:cNvSpPr txBox="1"/>
          <p:nvPr/>
        </p:nvSpPr>
        <p:spPr>
          <a:xfrm>
            <a:off x="609904" y="5047488"/>
            <a:ext cx="457200" cy="3200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4748B"/>
                </a:solidFill>
                <a:latin typeface="Consolas"/>
                <a:ea typeface="Microsoft YaHei"/>
              </a:rPr>
              <a:t>18</a:t>
            </a:r>
          </a:p>
        </p:txBody>
      </p:sp>
      <p:sp>
        <p:nvSpPr>
          <p:cNvPr id="23" name="ledger-text"/>
          <p:cNvSpPr txBox="1"/>
          <p:nvPr/>
        </p:nvSpPr>
        <p:spPr>
          <a:xfrm>
            <a:off x="1280160" y="5047488"/>
            <a:ext cx="10058400" cy="5394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B6CB0"/>
                </a:solidFill>
                <a:latin typeface="Microsoft YaHei"/>
                <a:ea typeface="Microsoft YaHei"/>
                <a:hlinkClick r:id="rId8"/>
              </a:rPr>
              <a:t>行情 SPY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黄金 ETF 代理（GLD）与比特币（BTC-USD）近五年避险与抗通胀表现比较：60/40 组合、季度再平衡</dc:title>
  <dc:subject>operating-review / 账页式研究决策稿</dc:subject>
  <dc:creator>Evidence</dc:creator>
  <cp:keywords>ppt169_apple_fy2025_review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