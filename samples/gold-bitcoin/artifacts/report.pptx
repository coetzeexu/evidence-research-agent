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GLD</c:v>
                </c:pt>
              </c:strCache>
            </c:strRef>
          </c:tx>
          <c:spPr>
            <a:ln w="27940">
              <a:solidFill>
                <a:srgbClr val="527B64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  <c:pt idx="37">
                  <c:v>2024-10</c:v>
                </c:pt>
                <c:pt idx="38">
                  <c:v>2024-11</c:v>
                </c:pt>
                <c:pt idx="39">
                  <c:v>2024-12</c:v>
                </c:pt>
                <c:pt idx="40">
                  <c:v>2025-01</c:v>
                </c:pt>
                <c:pt idx="41">
                  <c:v>2025-02</c:v>
                </c:pt>
                <c:pt idx="42">
                  <c:v>2025-03</c:v>
                </c:pt>
                <c:pt idx="43">
                  <c:v>2025-04</c:v>
                </c:pt>
                <c:pt idx="44">
                  <c:v>2025-05</c:v>
                </c:pt>
                <c:pt idx="45">
                  <c:v>2025-06</c:v>
                </c:pt>
                <c:pt idx="46">
                  <c:v>2025-07</c:v>
                </c:pt>
                <c:pt idx="47">
                  <c:v>2025-08</c:v>
                </c:pt>
                <c:pt idx="48">
                  <c:v>2025-09</c:v>
                </c:pt>
                <c:pt idx="49">
                  <c:v>2025-10</c:v>
                </c:pt>
                <c:pt idx="50">
                  <c:v>2025-11</c:v>
                </c:pt>
                <c:pt idx="51">
                  <c:v>2025-12</c:v>
                </c:pt>
                <c:pt idx="52">
                  <c:v>2026-01</c:v>
                </c:pt>
                <c:pt idx="53">
                  <c:v>2026-02</c:v>
                </c:pt>
                <c:pt idx="54">
                  <c:v>2026-03</c:v>
                </c:pt>
                <c:pt idx="55">
                  <c:v>2026-04</c:v>
                </c:pt>
                <c:pt idx="56">
                  <c:v>2026-05</c:v>
                </c:pt>
                <c:pt idx="57">
                  <c:v>2026-06</c:v>
                </c:pt>
                <c:pt idx="58">
                  <c:v>2026-07</c:v>
                </c:pt>
                <c:pt idx="59">
                  <c:v>2026-08</c:v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100.0</c:v>
                </c:pt>
                <c:pt idx="1">
                  <c:v>101.47971785270873</c:v>
                </c:pt>
                <c:pt idx="2">
                  <c:v>100.77944146253941</c:v>
                </c:pt>
                <c:pt idx="3">
                  <c:v>104.10425371030527</c:v>
                </c:pt>
                <c:pt idx="4">
                  <c:v>102.35659182098435</c:v>
                </c:pt>
                <c:pt idx="5">
                  <c:v>108.62258163247671</c:v>
                </c:pt>
                <c:pt idx="6">
                  <c:v>110.00486697944922</c:v>
                </c:pt>
                <c:pt idx="7">
                  <c:v>107.72744023083493</c:v>
                </c:pt>
                <c:pt idx="8">
                  <c:v>104.21385831050213</c:v>
                </c:pt>
                <c:pt idx="9">
                  <c:v>102.58190565195875</c:v>
                </c:pt>
                <c:pt idx="10">
                  <c:v>99.92693026653542</c:v>
                </c:pt>
                <c:pt idx="11">
                  <c:v>96.98575270280892</c:v>
                </c:pt>
                <c:pt idx="12">
                  <c:v>94.18462855878127</c:v>
                </c:pt>
                <c:pt idx="13">
                  <c:v>92.50395964736978</c:v>
                </c:pt>
                <c:pt idx="14">
                  <c:v>100.35927191176775</c:v>
                </c:pt>
                <c:pt idx="15">
                  <c:v>103.30044947549423</c:v>
                </c:pt>
                <c:pt idx="16">
                  <c:v>109.24978828918145</c:v>
                </c:pt>
                <c:pt idx="17">
                  <c:v>103.38570059509462</c:v>
                </c:pt>
                <c:pt idx="18">
                  <c:v>111.56984524343352</c:v>
                </c:pt>
                <c:pt idx="19">
                  <c:v>112.53197033130955</c:v>
                </c:pt>
                <c:pt idx="20">
                  <c:v>111.02180365909884</c:v>
                </c:pt>
                <c:pt idx="21">
                  <c:v>108.55559794624246</c:v>
                </c:pt>
                <c:pt idx="22">
                  <c:v>111.04007109246498</c:v>
                </c:pt>
                <c:pt idx="23">
                  <c:v>109.62124158708502</c:v>
                </c:pt>
                <c:pt idx="24">
                  <c:v>104.40262798306907</c:v>
                </c:pt>
                <c:pt idx="25">
                  <c:v>112.09961939440207</c:v>
                </c:pt>
                <c:pt idx="26">
                  <c:v>114.93727840516202</c:v>
                </c:pt>
                <c:pt idx="27">
                  <c:v>116.41091021064042</c:v>
                </c:pt>
                <c:pt idx="28">
                  <c:v>114.7545947798254</c:v>
                </c:pt>
                <c:pt idx="29">
                  <c:v>115.2782828835636</c:v>
                </c:pt>
                <c:pt idx="30">
                  <c:v>125.27097776855219</c:v>
                </c:pt>
                <c:pt idx="31">
                  <c:v>129.01595027541455</c:v>
                </c:pt>
                <c:pt idx="32">
                  <c:v>131.10461664313704</c:v>
                </c:pt>
                <c:pt idx="33">
                  <c:v>130.92801906503075</c:v>
                </c:pt>
                <c:pt idx="34">
                  <c:v>137.95518290569638</c:v>
                </c:pt>
                <c:pt idx="35">
                  <c:v>140.84154887764925</c:v>
                </c:pt>
                <c:pt idx="36">
                  <c:v>148.0087661380137</c:v>
                </c:pt>
                <c:pt idx="37">
                  <c:v>154.37217916356713</c:v>
                </c:pt>
                <c:pt idx="38">
                  <c:v>149.54938162972638</c:v>
                </c:pt>
                <c:pt idx="39">
                  <c:v>147.44245712031287</c:v>
                </c:pt>
                <c:pt idx="40">
                  <c:v>157.4473240997621</c:v>
                </c:pt>
                <c:pt idx="41">
                  <c:v>160.31542263834885</c:v>
                </c:pt>
                <c:pt idx="42">
                  <c:v>175.4597567327943</c:v>
                </c:pt>
                <c:pt idx="43">
                  <c:v>184.97746118356244</c:v>
                </c:pt>
                <c:pt idx="44">
                  <c:v>184.87395192227106</c:v>
                </c:pt>
                <c:pt idx="45">
                  <c:v>185.62293527363335</c:v>
                </c:pt>
                <c:pt idx="46">
                  <c:v>184.48422189932617</c:v>
                </c:pt>
                <c:pt idx="47">
                  <c:v>193.6853032273147</c:v>
                </c:pt>
                <c:pt idx="48">
                  <c:v>216.45962646350853</c:v>
                </c:pt>
                <c:pt idx="49">
                  <c:v>224.16270392207184</c:v>
                </c:pt>
                <c:pt idx="50">
                  <c:v>236.1953489219148</c:v>
                </c:pt>
                <c:pt idx="51">
                  <c:v>241.32870211465521</c:v>
                </c:pt>
                <c:pt idx="52">
                  <c:v>270.94751485785315</c:v>
                </c:pt>
                <c:pt idx="53">
                  <c:v>294.574349290051</c:v>
                </c:pt>
                <c:pt idx="54">
                  <c:v>262.0204636137072</c:v>
                </c:pt>
                <c:pt idx="55">
                  <c:v>257.98319358963613</c:v>
                </c:pt>
                <c:pt idx="56">
                  <c:v>254.00072586566358</c:v>
                </c:pt>
                <c:pt idx="57">
                  <c:v>224.321034066812</c:v>
                </c:pt>
                <c:pt idx="58">
                  <c:v>226.245284242564</c:v>
                </c:pt>
                <c:pt idx="59">
                  <c:v>248.7029657726279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BTC-USD</c:v>
                </c:pt>
              </c:strCache>
            </c:strRef>
          </c:tx>
          <c:spPr>
            <a:ln w="27940">
              <a:solidFill>
                <a:srgbClr val="C09A5B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2021-09</c:v>
                </c:pt>
                <c:pt idx="1">
                  <c:v>2021-10</c:v>
                </c:pt>
                <c:pt idx="2">
                  <c:v>2021-11</c:v>
                </c:pt>
                <c:pt idx="3">
                  <c:v>2021-12</c:v>
                </c:pt>
                <c:pt idx="4">
                  <c:v>2022-01</c:v>
                </c:pt>
                <c:pt idx="5">
                  <c:v>2022-02</c:v>
                </c:pt>
                <c:pt idx="6">
                  <c:v>2022-03</c:v>
                </c:pt>
                <c:pt idx="7">
                  <c:v>2022-04</c:v>
                </c:pt>
                <c:pt idx="8">
                  <c:v>2022-05</c:v>
                </c:pt>
                <c:pt idx="9">
                  <c:v>2022-06</c:v>
                </c:pt>
                <c:pt idx="10">
                  <c:v>2022-07</c:v>
                </c:pt>
                <c:pt idx="11">
                  <c:v>2022-08</c:v>
                </c:pt>
                <c:pt idx="12">
                  <c:v>2022-09</c:v>
                </c:pt>
                <c:pt idx="13">
                  <c:v>2022-10</c:v>
                </c:pt>
                <c:pt idx="14">
                  <c:v>2022-11</c:v>
                </c:pt>
                <c:pt idx="15">
                  <c:v>2022-12</c:v>
                </c:pt>
                <c:pt idx="16">
                  <c:v>2023-01</c:v>
                </c:pt>
                <c:pt idx="17">
                  <c:v>2023-02</c:v>
                </c:pt>
                <c:pt idx="18">
                  <c:v>2023-03</c:v>
                </c:pt>
                <c:pt idx="19">
                  <c:v>2023-04</c:v>
                </c:pt>
                <c:pt idx="20">
                  <c:v>2023-05</c:v>
                </c:pt>
                <c:pt idx="21">
                  <c:v>2023-06</c:v>
                </c:pt>
                <c:pt idx="22">
                  <c:v>2023-07</c:v>
                </c:pt>
                <c:pt idx="23">
                  <c:v>2023-08</c:v>
                </c:pt>
                <c:pt idx="24">
                  <c:v>2023-09</c:v>
                </c:pt>
                <c:pt idx="25">
                  <c:v>2023-10</c:v>
                </c:pt>
                <c:pt idx="26">
                  <c:v>2023-11</c:v>
                </c:pt>
                <c:pt idx="27">
                  <c:v>2023-12</c:v>
                </c:pt>
                <c:pt idx="28">
                  <c:v>2024-01</c:v>
                </c:pt>
                <c:pt idx="29">
                  <c:v>2024-02</c:v>
                </c:pt>
                <c:pt idx="30">
                  <c:v>2024-03</c:v>
                </c:pt>
                <c:pt idx="31">
                  <c:v>2024-04</c:v>
                </c:pt>
                <c:pt idx="32">
                  <c:v>2024-05</c:v>
                </c:pt>
                <c:pt idx="33">
                  <c:v>2024-06</c:v>
                </c:pt>
                <c:pt idx="34">
                  <c:v>2024-07</c:v>
                </c:pt>
                <c:pt idx="35">
                  <c:v>2024-08</c:v>
                </c:pt>
                <c:pt idx="36">
                  <c:v>2024-09</c:v>
                </c:pt>
                <c:pt idx="37">
                  <c:v>2024-10</c:v>
                </c:pt>
                <c:pt idx="38">
                  <c:v>2024-11</c:v>
                </c:pt>
                <c:pt idx="39">
                  <c:v>2024-12</c:v>
                </c:pt>
                <c:pt idx="40">
                  <c:v>2025-01</c:v>
                </c:pt>
                <c:pt idx="41">
                  <c:v>2025-02</c:v>
                </c:pt>
                <c:pt idx="42">
                  <c:v>2025-03</c:v>
                </c:pt>
                <c:pt idx="43">
                  <c:v>2025-04</c:v>
                </c:pt>
                <c:pt idx="44">
                  <c:v>2025-05</c:v>
                </c:pt>
                <c:pt idx="45">
                  <c:v>2025-06</c:v>
                </c:pt>
                <c:pt idx="46">
                  <c:v>2025-07</c:v>
                </c:pt>
                <c:pt idx="47">
                  <c:v>2025-08</c:v>
                </c:pt>
                <c:pt idx="48">
                  <c:v>2025-09</c:v>
                </c:pt>
                <c:pt idx="49">
                  <c:v>2025-10</c:v>
                </c:pt>
                <c:pt idx="50">
                  <c:v>2025-11</c:v>
                </c:pt>
                <c:pt idx="51">
                  <c:v>2025-12</c:v>
                </c:pt>
                <c:pt idx="52">
                  <c:v>2026-01</c:v>
                </c:pt>
                <c:pt idx="53">
                  <c:v>2026-02</c:v>
                </c:pt>
                <c:pt idx="54">
                  <c:v>2026-03</c:v>
                </c:pt>
                <c:pt idx="55">
                  <c:v>2026-04</c:v>
                </c:pt>
                <c:pt idx="56">
                  <c:v>2026-05</c:v>
                </c:pt>
                <c:pt idx="57">
                  <c:v>2026-06</c:v>
                </c:pt>
                <c:pt idx="58">
                  <c:v>2026-07</c:v>
                </c:pt>
                <c:pt idx="59">
                  <c:v>2026-08</c:v>
                </c:pt>
              </c:strCache>
            </c:strRef>
          </c:cat>
          <c:val>
            <c:numRef>
              <c:f>Sheet1!$C$2:$C$61</c:f>
              <c:numCache>
                <c:formatCode>General</c:formatCode>
                <c:ptCount val="60"/>
                <c:pt idx="0">
                  <c:v>100.0</c:v>
                </c:pt>
                <c:pt idx="1">
                  <c:v>145.8512339249453</c:v>
                </c:pt>
                <c:pt idx="2">
                  <c:v>139.07723309772672</c:v>
                </c:pt>
                <c:pt idx="3">
                  <c:v>113.5061896191308</c:v>
                </c:pt>
                <c:pt idx="4">
                  <c:v>91.22622980153992</c:v>
                </c:pt>
                <c:pt idx="5">
                  <c:v>90.72624281787367</c:v>
                </c:pt>
                <c:pt idx="6">
                  <c:v>113.22840132073027</c:v>
                </c:pt>
                <c:pt idx="7">
                  <c:v>95.69213861371064</c:v>
                </c:pt>
                <c:pt idx="8">
                  <c:v>76.33075096163452</c:v>
                </c:pt>
                <c:pt idx="9">
                  <c:v>48.368414310749415</c:v>
                </c:pt>
                <c:pt idx="10">
                  <c:v>57.366178226784385</c:v>
                </c:pt>
                <c:pt idx="11">
                  <c:v>47.62928391274188</c:v>
                </c:pt>
                <c:pt idx="12">
                  <c:v>47.09094338533883</c:v>
                </c:pt>
                <c:pt idx="13">
                  <c:v>49.64734663680961</c:v>
                </c:pt>
                <c:pt idx="14">
                  <c:v>39.56510126378733</c:v>
                </c:pt>
                <c:pt idx="15">
                  <c:v>40.03992960090041</c:v>
                </c:pt>
                <c:pt idx="16">
                  <c:v>54.95125359511608</c:v>
                </c:pt>
                <c:pt idx="17">
                  <c:v>56.593844430094634</c:v>
                </c:pt>
                <c:pt idx="18">
                  <c:v>67.44614926567671</c:v>
                </c:pt>
                <c:pt idx="19">
                  <c:v>70.91119599243531</c:v>
                </c:pt>
                <c:pt idx="20">
                  <c:v>66.6492817944158</c:v>
                </c:pt>
                <c:pt idx="21">
                  <c:v>73.24868988486136</c:v>
                </c:pt>
                <c:pt idx="22">
                  <c:v>70.43367510685846</c:v>
                </c:pt>
                <c:pt idx="23">
                  <c:v>65.67468732839703</c:v>
                </c:pt>
                <c:pt idx="24">
                  <c:v>65.01133360844631</c:v>
                </c:pt>
                <c:pt idx="25">
                  <c:v>83.00948350341812</c:v>
                </c:pt>
                <c:pt idx="26">
                  <c:v>91.0840181318939</c:v>
                </c:pt>
                <c:pt idx="27">
                  <c:v>102.55866348848835</c:v>
                </c:pt>
                <c:pt idx="28">
                  <c:v>103.33999124287378</c:v>
                </c:pt>
                <c:pt idx="29">
                  <c:v>150.3807207139304</c:v>
                </c:pt>
                <c:pt idx="30">
                  <c:v>167.10311013312656</c:v>
                </c:pt>
                <c:pt idx="31">
                  <c:v>153.59581154115554</c:v>
                </c:pt>
                <c:pt idx="32">
                  <c:v>164.47982548150802</c:v>
                </c:pt>
                <c:pt idx="33">
                  <c:v>148.21543244724836</c:v>
                </c:pt>
                <c:pt idx="34">
                  <c:v>159.2734987350661</c:v>
                </c:pt>
                <c:pt idx="35">
                  <c:v>142.8824478451483</c:v>
                </c:pt>
                <c:pt idx="36">
                  <c:v>157.9124507294175</c:v>
                </c:pt>
                <c:pt idx="37">
                  <c:v>174.04221634048923</c:v>
                </c:pt>
                <c:pt idx="38">
                  <c:v>230.1309612341627</c:v>
                </c:pt>
                <c:pt idx="39">
                  <c:v>222.89096626025318</c:v>
                </c:pt>
                <c:pt idx="40">
                  <c:v>251.98342141992322</c:v>
                </c:pt>
                <c:pt idx="41">
                  <c:v>203.79050676017627</c:v>
                </c:pt>
                <c:pt idx="42">
                  <c:v>198.08922100014877</c:v>
                </c:pt>
                <c:pt idx="43">
                  <c:v>226.84045085572762</c:v>
                </c:pt>
                <c:pt idx="44">
                  <c:v>254.16426350059305</c:v>
                </c:pt>
                <c:pt idx="45">
                  <c:v>260.76562169158393</c:v>
                </c:pt>
                <c:pt idx="46">
                  <c:v>283.4908998910481</c:v>
                </c:pt>
                <c:pt idx="47">
                  <c:v>270.77235353264706</c:v>
                </c:pt>
                <c:pt idx="48">
                  <c:v>275.23670226438156</c:v>
                </c:pt>
                <c:pt idx="49">
                  <c:v>260.5730927288316</c:v>
                </c:pt>
                <c:pt idx="50">
                  <c:v>219.62413903060926</c:v>
                </c:pt>
                <c:pt idx="51">
                  <c:v>212.7546913545323</c:v>
                </c:pt>
                <c:pt idx="52">
                  <c:v>203.44732665650233</c:v>
                </c:pt>
                <c:pt idx="53">
                  <c:v>162.28751774943925</c:v>
                </c:pt>
                <c:pt idx="54">
                  <c:v>160.45342704091178</c:v>
                </c:pt>
                <c:pt idx="55">
                  <c:v>182.31034191418297</c:v>
                </c:pt>
                <c:pt idx="56">
                  <c:v>176.92212482579492</c:v>
                </c:pt>
                <c:pt idx="57">
                  <c:v>144.68735753105807</c:v>
                </c:pt>
                <c:pt idx="58">
                  <c:v>155.72308459479777</c:v>
                </c:pt>
                <c:pt idx="59">
                  <c:v>186.8609649736567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研究版本 3302715305fc4dac</a:t>
            </a:r>
          </a:p>
          <a:p>
            <a:r>
              <a:t>已读全部 15 条来源原文（含 Fed 声明、CNBC、Decrypt、NPR 等高影响来源），逐项核对 10 个事件的日期、事实与来源支持度。核心事实均获原文支持：ev-1 的 1.5%–1.75% 区间、1994 年以来最大、点阵图 3.4%、GDP 由 2.8% 下调至 1.7%；ev-4 的 3%–3.25% 区间与缩表措辞；ev-2 的盘中跌约17%至约22,764美元、市值首破1万亿；ev-3 的 LUNA 归零、UST 约12美分、BTC 反弹至约30,046美元；ev-5 的 $31,284 与 ETF 乐观情绪；ev-6 的 SEC 批准规则变更与账号误发；ev-7 的现货黄金约-9%、期货-11.4%、现货白银-28%、期货-31.4%；ev-8 的跌破8万美元、盘中低74,876美元；ev-9 的60,062美元低点、单周近30%、较10月高点回落超50%、过去一年跌近40%对黄金期货涨61%；ev-10 的五种资产与 BTC 涨10%至94,343.82美元。未发现伪造引用、日期错误或来源不支持主要事实的 critical 问题。spec.required_events 为空，satisfies 均为空数组，无错误满足声明。数值口径经 compare_numbers 核对，未发现量级或百分数换算错误；盘中值与收盘值口径差异（如 ev-2 的 -15.97% 收盘窗口 vs 来源盘中约17%）不构成矛盾。仍未核验范围限于 warnings 已披露的检索缺口（FTX 崩盘、2023-10-13 GLD 异动、2025年10月黄金高位、2024年8月波动）及 GLD 与 BTC-USD 避险/抗通胀相关性的新闻证据，相关结论只能依赖行情计算。通过仅表示给定证据支持所呈现表述，不代表因果成立或数据完备。</a:t>
            </a:r>
          </a:p>
          <a:p>
            <a:r>
              <a:t>来源：</a:t>
            </a:r>
          </a:p>
          <a:p>
            <a:r>
              <a:t>src-4f517df5f22832: https://www.federalreserve.gov/newsevents/pressreleases/monetary20220615a.htm</a:t>
            </a:r>
          </a:p>
          <a:p>
            <a:r>
              <a:t>src-d39adf303e613c: https://www.federalreserve.gov/newsevents/pressreleases/monetary20220921a.htm</a:t>
            </a:r>
          </a:p>
          <a:p>
            <a:r>
              <a:t>src-a50be069675b1c: https://www.cnbc.com/2022/05/13/cryptocurrency-luna-crashes-to-0-as-ust-falls-from-peg-bitcoin-rises.html</a:t>
            </a:r>
          </a:p>
          <a:p>
            <a:r>
              <a:t>src-65b6657762695e: https://www.cnbc.com/2025/03/02/trump-announces-strategic-crypto-reserve-including-bitcoin-solana-xrp-and-more.html</a:t>
            </a:r>
          </a:p>
          <a:p>
            <a:r>
              <a:t>src-1607273d2324e2: https://decrypt.co/202840/bitcoin-31000-spot-btc-etf-optimism</a:t>
            </a:r>
          </a:p>
          <a:p>
            <a:r>
              <a:t>src-b38ac08d0bba86: https://www.spdrgoldshares.com/usa/gld/</a:t>
            </a:r>
          </a:p>
          <a:p>
            <a:r>
              <a:t>src-6e0021d495f65b: https://www.cnbc.com/2026/02/05/bitcoin-price-today-70000-in-focus.html</a:t>
            </a:r>
          </a:p>
          <a:p>
            <a:r>
              <a:t>src-c1c0f360de49ce: https://www.cnbc.com/2024/01/10/sec-approves-rule-changes-that-pave-the-way-for-bitcoin-etfs.html</a:t>
            </a:r>
          </a:p>
          <a:p>
            <a:r>
              <a:t>src-cb000c43e683b8: https://www.cnbc.com/2026/02/02/bitcoin-btc-price-today-cryptocurrency.html</a:t>
            </a:r>
          </a:p>
          <a:p>
            <a:r>
              <a:t>src-836ed4c0a4973f: https://www.npr.org/2025/03/04/g-s1-51748/trump-crypto-reserve-bitcoin-stockpile-ether</a:t>
            </a:r>
          </a:p>
          <a:p>
            <a:r>
              <a:t>src-52290fdbe0be60: https://www.cnbc.com/2026/01/30/silver-gold-fall-price-usd-dollar-fed-warsh-chair-trump-metals.html</a:t>
            </a:r>
          </a:p>
          <a:p>
            <a:r>
              <a:t>src-eefffabc38a184: https://www.cnbc.com/2022/06/15/fed-hikes-its-benchmark-interest-rate-by-three-quarters-of-a-point-the-biggest-increase-since-1994.html</a:t>
            </a:r>
          </a:p>
          <a:p>
            <a:r>
              <a:t>src-84d4aa2b0397b9: https://www.cnbc.com/2022/06/13/bitcoin-btc-falls-as-market-focuses-on-celsius-issue-fed-rate-hike.html</a:t>
            </a:r>
          </a:p>
          <a:p>
            <a:r>
              <a:t>fred-CPIAUCNS: https://fred.stlouisfed.org/series/CPIAUCNS</a:t>
            </a:r>
          </a:p>
          <a:p>
            <a:r>
              <a:t>fred-DGS3MO: https://fred.stlouisfed.org/series/DGS3MO</a:t>
            </a:r>
          </a:p>
          <a:p>
            <a:r>
              <a:t>prices-GLD-1a8f833cf4e3: https://query1.finance.yahoo.com/v8/finance/chart/GLD?period1=1598227200&amp;period2=1790726400&amp;interval=1d&amp;events=div%2Csplits&amp;includeAdjustedClose=true</a:t>
            </a:r>
          </a:p>
          <a:p>
            <a:r>
              <a:t>prices-BTC-USD-f3226c91d62b: https://query1.finance.yahoo.com/v8/finance/chart/BTC-USD?period1=1598227200&amp;period2=1790726400&amp;interval=1d&amp;events=div%2Csplits&amp;includeAdjustedClose=true</a:t>
            </a:r>
          </a:p>
          <a:p>
            <a:r>
              <a:t>prices-SPY-ba0266b147e1: https://query1.finance.yahoo.com/v8/finance/chart/SPY?period1=1598227200&amp;period2=1790726400&amp;interval=1d&amp;events=div%2Csplits&amp;includeAdjustedClose=true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federalreserve.gov/newsevents/pressreleases/monetary20220615a.htm" TargetMode="External"/><Relationship Id="rId4" Type="http://schemas.openxmlformats.org/officeDocument/2006/relationships/hyperlink" Target="https://www.cnbc.com/2022/06/13/bitcoin-btc-falls-as-market-focuses-on-celsius-issue-fed-rate-hike.html" TargetMode="External"/><Relationship Id="rId5" Type="http://schemas.openxmlformats.org/officeDocument/2006/relationships/hyperlink" Target="https://www.cnbc.com/2022/05/13/cryptocurrency-luna-crashes-to-0-as-ust-falls-from-peg-bitcoin-rises.html" TargetMode="External"/><Relationship Id="rId6" Type="http://schemas.openxmlformats.org/officeDocument/2006/relationships/hyperlink" Target="https://www.federalreserve.gov/newsevents/pressreleases/monetary20220921a.ht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crypt.co/202840/bitcoin-31000-spot-btc-etf-optimism" TargetMode="External"/><Relationship Id="rId4" Type="http://schemas.openxmlformats.org/officeDocument/2006/relationships/hyperlink" Target="https://www.cnbc.com/2024/01/10/sec-approves-rule-changes-that-pave-the-way-for-bitcoin-etfs.html" TargetMode="External"/><Relationship Id="rId5" Type="http://schemas.openxmlformats.org/officeDocument/2006/relationships/hyperlink" Target="https://www.cnbc.com/2026/01/30/silver-gold-fall-price-usd-dollar-fed-warsh-chair-trump-metals.html" TargetMode="External"/><Relationship Id="rId6" Type="http://schemas.openxmlformats.org/officeDocument/2006/relationships/hyperlink" Target="https://www.cnbc.com/2026/02/02/bitcoin-btc-price-today-cryptocurrency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nbc.com/2026/02/05/bitcoin-price-today-70000-in-focus.html" TargetMode="External"/><Relationship Id="rId4" Type="http://schemas.openxmlformats.org/officeDocument/2006/relationships/hyperlink" Target="https://www.cnbc.com/2025/03/02/trump-announces-strategic-crypto-reserve-including-bitcoin-solana-xrp-and-more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spdrgoldshares.com/usa/gld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federalreserve.gov/newsevents/pressreleases/monetary20220615a.htm" TargetMode="External"/><Relationship Id="rId4" Type="http://schemas.openxmlformats.org/officeDocument/2006/relationships/hyperlink" Target="https://www.federalreserve.gov/newsevents/pressreleases/monetary20220921a.htm" TargetMode="External"/><Relationship Id="rId5" Type="http://schemas.openxmlformats.org/officeDocument/2006/relationships/hyperlink" Target="https://www.cnbc.com/2022/05/13/cryptocurrency-luna-crashes-to-0-as-ust-falls-from-peg-bitcoin-rises.html" TargetMode="External"/><Relationship Id="rId6" Type="http://schemas.openxmlformats.org/officeDocument/2006/relationships/hyperlink" Target="https://www.cnbc.com/2025/03/02/trump-announces-strategic-crypto-reserve-including-bitcoin-solana-xrp-and-more.html" TargetMode="External"/><Relationship Id="rId7" Type="http://schemas.openxmlformats.org/officeDocument/2006/relationships/hyperlink" Target="https://decrypt.co/202840/bitcoin-31000-spot-btc-etf-optimism" TargetMode="External"/><Relationship Id="rId8" Type="http://schemas.openxmlformats.org/officeDocument/2006/relationships/hyperlink" Target="https://www.spdrgoldshares.com/usa/gld/" TargetMode="External"/><Relationship Id="rId9" Type="http://schemas.openxmlformats.org/officeDocument/2006/relationships/hyperlink" Target="https://www.cnbc.com/2026/02/05/bitcoin-price-today-70000-in-focus.html" TargetMode="External"/><Relationship Id="rId10" Type="http://schemas.openxmlformats.org/officeDocument/2006/relationships/hyperlink" Target="https://www.cnbc.com/2024/01/10/sec-approves-rule-changes-that-pave-the-way-for-bitcoin-etfs.html" TargetMode="External"/><Relationship Id="rId11" Type="http://schemas.openxmlformats.org/officeDocument/2006/relationships/hyperlink" Target="https://www.cnbc.com/2026/02/02/bitcoin-btc-price-today-cryptocurrency.html" TargetMode="External"/><Relationship Id="rId12" Type="http://schemas.openxmlformats.org/officeDocument/2006/relationships/hyperlink" Target="https://www.npr.org/2025/03/04/g-s1-51748/trump-crypto-reserve-bitcoin-stockpile-ether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cnbc.com/2026/01/30/silver-gold-fall-price-usd-dollar-fed-warsh-chair-trump-metals.html" TargetMode="External"/><Relationship Id="rId4" Type="http://schemas.openxmlformats.org/officeDocument/2006/relationships/hyperlink" Target="https://www.cnbc.com/2022/06/15/fed-hikes-its-benchmark-interest-rate-by-three-quarters-of-a-point-the-biggest-increase-since-1994.html" TargetMode="External"/><Relationship Id="rId5" Type="http://schemas.openxmlformats.org/officeDocument/2006/relationships/hyperlink" Target="https://www.cnbc.com/2022/06/13/bitcoin-btc-falls-as-market-focuses-on-celsius-issue-fed-rate-hike.html" TargetMode="External"/><Relationship Id="rId6" Type="http://schemas.openxmlformats.org/officeDocument/2006/relationships/hyperlink" Target="https://fred.stlouisfed.org/series/CPIAUCNS" TargetMode="External"/><Relationship Id="rId7" Type="http://schemas.openxmlformats.org/officeDocument/2006/relationships/hyperlink" Target="https://fred.stlouisfed.org/series/DGS3MO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研究判断与证据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GLD / BTC-USD    2021-09-28 至 2026-09-29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1069848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900" b="1">
                <a:solidFill>
                  <a:srgbClr val="48603D"/>
                </a:solidFill>
                <a:latin typeface="Heiti SC"/>
              </a:rPr>
              <a:t>黄金 ETF 代理（GLD）与比特币（BTC-USD）近五年避险与抗通胀表现比较：60/40 组合、季度再平衡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617B65"/>
                </a:solidFill>
                <a:latin typeface="Heiti SC"/>
              </a:rPr>
              <a:t>GLD：共同月末区间 2021-09-30 至 2026-08-31，累计收益 +148.7%，月末估值最大回撤 -23.8%。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617B65"/>
                </a:solidFill>
                <a:latin typeface="Heiti SC"/>
              </a:rPr>
              <a:t>BTC-USD：共同月末区间 2021-09-30 至 2026-08-31，累计收益 +86.9%，月末估值最大回撤 -72.9%。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617B65"/>
                </a:solidFill>
                <a:latin typeface="Heiti SC"/>
              </a:rPr>
              <a:t>点击来源回链复核，原始数据和公式保留在随附 Excel，交互图表保留在 HTML。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价格表现与共同估值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原生可编辑图表。初始净值 100，所有资产采用同一估值锚点。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108813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收益与风险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共同月度观测。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5943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资产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累计收益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年化收益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年化波动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FFFFFF"/>
                          </a:solidFill>
                          <a:latin typeface="Heiti SC"/>
                        </a:rPr>
                        <a:t>最大回撤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GLD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+148.7%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+20.4%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+16.9%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-23.8%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BTC-USD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+86.9%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+13.6%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+57.1%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607853"/>
                          </a:solidFill>
                          <a:latin typeface="Heiti SC"/>
                        </a:rPr>
                        <a:t>-72.9%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3794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>
                <a:solidFill>
                  <a:srgbClr val="5C784D"/>
                </a:solidFill>
                <a:latin typeface="Heiti SC"/>
              </a:rPr>
              <a:t>固定权重配置，下一开盘执行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617B65"/>
                </a:solidFill>
                <a:latin typeface="Heiti SC"/>
              </a:rPr>
              <a:t>累计收益 +162.2%      最大回撤 -36.7%      成本 20 bps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Excel 月度近似可修改参数。下一开盘执行保留独立成交台账，两个结果不能混用。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研究要求覆盖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覆盖检查与事实核验分开；候选关联不构成因果证明。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400" b="0">
                <a:solidFill>
                  <a:srgbClr val="334A3D"/>
                </a:solidFill>
                <a:latin typeface="Heiti SC"/>
              </a:rPr>
              <a:t>覆盖检查通过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10 个来源事件；5 个异动存在时间候选关联。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配置敏感性分析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固定网格逐项改变一个参数，采用下一开盘执行；不选择全样本最优配置。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840480"/>
                <a:gridCol w="2286000"/>
                <a:gridCol w="2286000"/>
              </a:tblGrid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情景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区间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年化收益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最大回撤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原始配置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+21.7%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-36.7%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成本 0 bps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+21.8%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-36.6%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成本 10 bps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+21.7%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-36.7%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成本 25 bps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+21.6%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-36.8%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成本 50 bps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+21.4%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-36.9%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买入持有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+17.2%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-37.3%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分段是历史稳健性检查，不是样本外检验。Excel 敏感性表为快照。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配置敏感性分析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固定网格逐项改变一个参数，采用下一开盘执行；不选择全样本最优配置。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840480"/>
                <a:gridCol w="2286000"/>
                <a:gridCol w="2286000"/>
              </a:tblGrid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情景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区间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年化收益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最大回撤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每 1 月再平衡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-36.3%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每 12 月再平衡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+18.7%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-37.4%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GLD 20%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+17.4%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-62.8%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GLD 50%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+21.2%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-44.0%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GLD 80%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+21.6%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-22.5%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前半区间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2021-09-30 / 2024-03-28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+18.9%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-36.7%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分段是历史稳健性检查，不是样本外检验。Excel 敏感性表为快照。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配置敏感性分析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固定网格逐项改变一个参数，采用下一开盘执行；不选择全样本最优配置。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840480"/>
                <a:gridCol w="2286000"/>
                <a:gridCol w="2286000"/>
              </a:tblGrid>
              <a:tr h="1737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情景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区间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年化收益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最大回撤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后半区间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2024-03-28 / 2026-08-31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+23.6%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-19.2%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334A3D"/>
                </a:solidFill>
                <a:latin typeface="Heiti SC"/>
              </a:rPr>
              <a:t>分段是历史稳健性检查，不是样本外检验。Excel 敏感性表为快照。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决策框架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研究目标决定检验方法，历史结果需要放回适用情景。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194560"/>
                <a:gridCol w="3200400"/>
                <a:gridCol w="4663440"/>
              </a:tblGrid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目标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待回答问题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检验指标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  <a:latin typeface="Heiti SC"/>
                        </a:rPr>
                        <a:t>适用条件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避险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基准下跌期间是否保值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压力月份收益、最大回撤、滚动相关性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仅在已检验情景成立时接受，避免用长期涨幅代替危机表现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抗通胀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能否维持实际购买力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CPI 调整净值、高通胀月份收益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区分多年购买力与短期 CPI 波动，月度相关性不代表因果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资产配置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分散化是否改善风险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组合回撤、波动、交易成本与漂移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先设权重和再平衡规则，再检验结果；不在全样本寻找最优权重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795531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执行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能否按假设成交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实际时间戳、下一开盘成交、现金台账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07853"/>
                          </a:solidFill>
                          <a:latin typeface="Heiti SC"/>
                        </a:rPr>
                        <a:t>识别交易日差异，保留滑点、流动性与跟踪误差的敏感性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压力情景与实际购买力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全样本事后选取 SPY 最差月份，CPI 为当前历史版本。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FFFFFF"/>
                          </a:solidFill>
                          <a:latin typeface="Heiti SC"/>
                        </a:rPr>
                        <a:t>月份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FFFFFF"/>
                          </a:solidFill>
                          <a:latin typeface="Heiti SC"/>
                        </a:rPr>
                        <a:t>SPY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FFFFFF"/>
                          </a:solidFill>
                          <a:latin typeface="Heiti SC"/>
                        </a:rPr>
                        <a:t>GLD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FFFFFF"/>
                          </a:solidFill>
                          <a:latin typeface="Heiti SC"/>
                        </a:rPr>
                        <a:t>BTC-USD</a:t>
                      </a:r>
                    </a:p>
                  </a:txBody>
                  <a:tcPr marL="128016" marR="128016" marT="109728" marB="91440">
                    <a:solidFill>
                      <a:srgbClr val="415E4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2022-09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-9.2%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-2.9%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-1.1%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2022-04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-8.8%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-2.1%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-15.5%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2022-06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-8.2%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-1.6%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-36.6%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2022-12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-5.8%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+2.9%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+1.2%</a:t>
                      </a:r>
                    </a:p>
                  </a:txBody>
                  <a:tcPr marL="128016" marR="128016" marT="109728" marB="9144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2025-03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-5.6%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+9.4%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607853"/>
                          </a:solidFill>
                          <a:latin typeface="Heiti SC"/>
                        </a:rPr>
                        <a:t>-2.8%</a:t>
                      </a:r>
                    </a:p>
                  </a:txBody>
                  <a:tcPr marL="128016" marR="128016" marT="109728" marB="91440">
                    <a:solidFill>
                      <a:srgbClr val="EEF2E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166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0">
                <a:solidFill>
                  <a:srgbClr val="617B65"/>
                </a:solidFill>
                <a:latin typeface="Heiti SC"/>
              </a:rPr>
              <a:t>避险表现依赖压力类型。通胀检验应同时观察 CPI 调整净值、高通胀时期和持有期限。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关键事件与证据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日期为来源支持的事件日；日线反应窗口保留时间精度限制。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2022-06-15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7393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3"/>
              </a:rPr>
              <a:t>美联储加息75个基点，为1994年以来最大单次加息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915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GLD +1.1%（低） · BTC-USD -5.7%（低）    来源 www.federalreserve.gov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2022-06-13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82549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4"/>
              </a:rPr>
              <a:t>比特币跌破2.3万美元，Celsius暂停提款加剧加密市场抛售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-17.8%（高）    来源 www.cnbc.com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770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2022-05-13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7705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5"/>
              </a:rPr>
              <a:t>Terra的LUNA跌至0美元、UST脱锚，比特币反弹至3万美元上方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46227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+0.7%（低）    来源 www.cnbc.com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92861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2022-09-21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92861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6"/>
              </a:rPr>
              <a:t>美联储9月加息75个基点至3%–3.25%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513831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GLD +3.1%（中） · BTC-USD +3.7%（低）    来源 www.federalreserve.gov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关键事件与证据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日期为来源支持的事件日；日线反应窗口保留时间精度限制。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2023-10-23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7393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3"/>
              </a:rPr>
              <a:t>比特币升破3.1万美元，现货ETF乐观情绪升温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915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+15.6%（高）    来源 decrypt.co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2024-01-10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82549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4"/>
              </a:rPr>
              <a:t>SEC批准比特币现货ETF相关规则变更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-10.0%（中）    来源 www.cnbc.com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87705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2026-01-30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387705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5"/>
              </a:rPr>
              <a:t>黄金重挫、白银期货暴跌31.4%，沃什获提名缓解美联储独立性担忧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446227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GLD -8.5%（高）    来源 www.cnbc.com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92861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2026-02-02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92861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6"/>
              </a:rPr>
              <a:t>比特币跌破8万美元，为2025年4月以来首次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513831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-8.1%（中）    来源 www.cnbc.com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关键事件与证据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日期为来源支持的事件日；日线反应窗口保留时间精度限制。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2026-02-05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7393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3"/>
              </a:rPr>
              <a:t>比特币一度跌破6.1万美元，单周跌近30%，表现远逊黄金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5915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GLD +2.2%（低） · BTC-USD -5.1%（中）    来源 www.cnbc.com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25496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617B65"/>
                </a:solidFill>
                <a:latin typeface="Heiti SC"/>
              </a:rPr>
              <a:t>2025-03-02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825496"/>
            <a:ext cx="877824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567148"/>
                </a:solidFill>
                <a:latin typeface="Heiti SC"/>
                <a:hlinkClick r:id="rId4"/>
              </a:rPr>
              <a:t>特朗普宣布美国“战略加密储备”将纳入比特币等五种资产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3410712"/>
            <a:ext cx="8778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617B65"/>
                </a:solidFill>
                <a:latin typeface="Heiti SC"/>
              </a:rPr>
              <a:t>5 日相对收益 BTC-USD +8.2%（中）    来源 www.cnbc.com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黄金的可投资代理：GLD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产品定义、采用原因与回测口径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759654"/>
                </a:solidFill>
                <a:latin typeface="Heiti SC"/>
              </a:rPr>
              <a:t>产品定义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828800"/>
            <a:ext cx="8869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617B65"/>
                </a:solidFill>
                <a:latin typeface="Heiti SC"/>
              </a:rPr>
              <a:t>GLD（SPDR Gold Shares）由实物黄金支持，目标是反映扣除信托费用后的金价表现。它于 2004 年上市，在 NYSE Arca 以美元交易，参考 LBMA Gold Price PM。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759654"/>
                </a:solidFill>
                <a:latin typeface="Heiti SC"/>
              </a:rPr>
              <a:t>采用原因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063240"/>
            <a:ext cx="8869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617B65"/>
                </a:solidFill>
                <a:latin typeface="Heiti SC"/>
              </a:rPr>
              <a:t>采用 GLD 是因为其黄金敞口明确、交易历史较长，并具有可复核的美元行情，适合构建可投资代理的比较与回测。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759654"/>
                </a:solidFill>
                <a:latin typeface="Heiti SC"/>
              </a:rPr>
              <a:t>适用边界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4297680"/>
            <a:ext cx="8869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617B65"/>
                </a:solidFill>
                <a:latin typeface="Heiti SC"/>
              </a:rPr>
              <a:t>ETF 价格与现货金价存在费用、跟踪及交易时段差异。官方披露费用率为 0.40%（2026-09-28 核验）；历史价格已体现基金费用，回测只另计指定交易成本，避免重复扣费。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6F9950"/>
                </a:solidFill>
                <a:latin typeface="Heiti SC"/>
                <a:hlinkClick r:id="rId3"/>
              </a:rPr>
              <a:t>SPDR Gold Shares 官方产品资料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方法与复核边界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核验通过；完整问题与来源保留在 Word、HTML 和演讲者备注。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行情与事件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83080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保存完整日线、公司行动、发布日与数据快照哈希。日期级资料无法分离盘中反应。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关联评级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816352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相对基准反应按事前波动标准化。高反应与高证据可信度是不同维度，均不证明因果。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9624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回测边界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49624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参数事先固定。宏观数据采用当前历史版本，只用于解释。跨市场日线时间和费用分别保留。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82896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6E8F50"/>
                </a:solidFill>
                <a:latin typeface="Heiti SC"/>
              </a:rPr>
              <a:t>可复核交付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882896"/>
            <a:ext cx="868680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600" b="0">
                <a:solidFill>
                  <a:srgbClr val="617B65"/>
                </a:solidFill>
                <a:latin typeface="Heiti SC"/>
              </a:rPr>
              <a:t>Excel 保留公式与台账，Word 保留方法与完整来源，HTML 支持缩放、事件筛选与来源跳转。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原始来源索引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点击名称可进入原文。所有页面的演讲者备注也保留来源 URL。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3"/>
              </a:rPr>
              <a:t>01  Federal Reserve Board - Federal Reserve issues FOMC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4"/>
              </a:rPr>
              <a:t>02  Federal Reserve Board - Federal Reserve issues FOMC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5"/>
              </a:rPr>
              <a:t>03  Cryptocurrency luna crashes to $0 as UST falls from peg; bitcoin 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8094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6"/>
              </a:rPr>
              <a:t>04  Trump announces strategic crypto reserve including bitcoin, Solana, XRP and more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7"/>
              </a:rPr>
              <a:t>05  Bitcoin Blasts Past $31,000 as Optimism for BTC Spot ETF Surges - Decrypt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22191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8"/>
              </a:rPr>
              <a:t>06  SPDR® Gold Shares (Ticker: GLD, New York Stock Exchange) | Charts, data and downloads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4281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9"/>
              </a:rPr>
              <a:t>07  Bitcoin briefly breaks below $61,000 as sell-off intensifies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0"/>
              </a:rPr>
              <a:t>08  SEC approves rule changes that pave the way for bitcoin ETFs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840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1"/>
              </a:rPr>
              <a:t>09  Bitcoin price falls under $80,000. Here's why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0468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12"/>
              </a:rPr>
              <a:t>10  What to know about Trump's 'crypto strategic reserve' plan : NPR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75488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2800" b="1">
                <a:solidFill>
                  <a:srgbClr val="334A3D"/>
                </a:solidFill>
                <a:latin typeface="Heiti SC"/>
              </a:rPr>
              <a:t>原始来源索引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88136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00" b="0">
                <a:solidFill>
                  <a:srgbClr val="788876"/>
                </a:solidFill>
                <a:latin typeface="Heiti SC"/>
              </a:rPr>
              <a:t>点击名称可进入原文。所有页面的演讲者备注也保留来源 URL。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55664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900" b="0">
                <a:solidFill>
                  <a:srgbClr val="B0B9A4"/>
                </a:solidFill>
                <a:latin typeface="Heiti SC"/>
              </a:rPr>
              <a:t>Evidence  /  3302715305fc4dac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43737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000" b="0">
                <a:solidFill>
                  <a:srgbClr val="9BA88C"/>
                </a:solidFill>
                <a:latin typeface="Heiti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190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3"/>
              </a:rPr>
              <a:t>11  Silver, gold sell off as precious metals markets nosedive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39696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4"/>
              </a:rPr>
              <a:t>12  Fed hikes its benchmark interest rate by 0.75 percentage point, the biggest increase 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5"/>
              </a:rPr>
              <a:t>13  Bitcoin (BTC) falls as market focuses on Celsius issue, Fed rate hike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8094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6"/>
              </a:rPr>
              <a:t>14  FRED · CPIAUCNS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01568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617B65"/>
                </a:solidFill>
                <a:latin typeface="Heiti SC"/>
                <a:hlinkClick r:id="rId7"/>
              </a:rPr>
              <a:t>15  FRED · DGS3MO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黄金 ETF 代理（GLD）与比特币（BTC-USD）近五年避险与抗通胀表现比较：60/40 组合、季度再平衡</dc:title>
  <dc:subject/>
  <dc:creator>Evidence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